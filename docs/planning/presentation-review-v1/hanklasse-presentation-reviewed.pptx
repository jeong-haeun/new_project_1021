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1 / 오프닝</a:t>
            </a:r>
          </a:p>
          <a:p>
            <a:r>
              <a:t>[검토 후 제목] 지금 필요한 실무, 한 강씩.</a:t>
            </a:r>
          </a:p>
          <a:p>
            <a:r>
              <a:t>[발표/검토 메모]</a:t>
            </a:r>
          </a:p>
          <a:p>
            <a:r>
              <a:t>발표자 이름은 최종본에서 직접 입력하세요. 어도비 그로스 마케터 과정 개인 과제. 현재 실제 강의 판매·결제는 하지 않는 데모입니다.</a:t>
            </a:r>
          </a:p>
          <a:p/>
          <a:p>
            <a:r>
              <a:t>[수정 이유]</a:t>
            </a:r>
          </a:p>
          <a:p>
            <a:r>
              <a:t>500원부터 삭제. 데이터 기준 1,000~2,000원으로 통일.</a:t>
            </a:r>
          </a:p>
          <a:p/>
          <a:p>
            <a:r>
              <a:t>[근거]</a:t>
            </a:r>
          </a:p>
          <a:p>
            <a:r>
              <a:t>I01 | 제품 원칙·범위</a:t>
            </a:r>
          </a:p>
          <a:p>
            <a:r>
              <a:t>상태: 코드 원문 확인</a:t>
            </a:r>
          </a:p>
          <a:p>
            <a:r>
              <a:t>URL: https://github.com/Jeong-HaEun/new_project_1021/blob/ba055b92a147b579859adee3a9ef24f47d4b0d54/CLAUDE.md</a:t>
            </a:r>
          </a:p>
          <a:p>
            <a:r>
              <a:t>범위: 코드 스냅샷만 확인. 실서버 상태·사업 성과 입증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2 / 오프닝</a:t>
            </a:r>
          </a:p>
          <a:p>
            <a:r>
              <a:t>[검토 후 제목] 작은 실무 결과물 하나를 만드는 경험을 설계했습니다</a:t>
            </a:r>
          </a:p>
          <a:p>
            <a:r>
              <a:t>[발표/검토 메모]</a:t>
            </a:r>
          </a:p>
          <a:p>
            <a:r>
              <a:t>기업과 청년을 하나의 대비 문장으로 일반화하지 않습니다. 기획 의도와 검증 범위를 먼저 말합니다.</a:t>
            </a:r>
          </a:p>
          <a:p/>
          <a:p>
            <a:r>
              <a:t>[수정 이유]</a:t>
            </a:r>
          </a:p>
          <a:p>
            <a:r>
              <a:t>“취준생은 자격증에 돈을 쓴다” 일반화와 1,000원 단일가격 표현 수정.</a:t>
            </a:r>
          </a:p>
          <a:p/>
          <a:p>
            <a:r>
              <a:t>[근거]</a:t>
            </a:r>
          </a:p>
          <a:p>
            <a:r>
              <a:t>I01 | 제품 원칙·범위</a:t>
            </a:r>
          </a:p>
          <a:p>
            <a:r>
              <a:t>상태: 코드 원문 확인</a:t>
            </a:r>
          </a:p>
          <a:p>
            <a:r>
              <a:t>URL: https://github.com/Jeong-HaEun/new_project_1021/blob/ba055b92a147b579859adee3a9ef24f47d4b0d54/CLAUDE.md</a:t>
            </a:r>
          </a:p>
          <a:p>
            <a:r>
              <a:t>범위: 코드 스냅샷만 확인. 실서버 상태·사업 성과 입증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3 / 문제</a:t>
            </a:r>
          </a:p>
          <a:p>
            <a:r>
              <a:t>[검토 후 제목] 무료 자료를 찾는 것과 내 결과물을 만드는 것은 다릅니다</a:t>
            </a:r>
          </a:p>
          <a:p>
            <a:r>
              <a:t>[발표/검토 메모]</a:t>
            </a:r>
          </a:p>
          <a:p>
            <a:r>
              <a:t>본인 경험 2문장을 직접 추가하세요: 언제 어떤 작업을 하다가, 무엇을 찾지 못했는지. 인터뷰나 경험이 없는 상황을 실제로 있었던 일처럼 말하지 않습니다.</a:t>
            </a:r>
          </a:p>
          <a:p/>
          <a:p>
            <a:r>
              <a:t>[수정 이유]</a:t>
            </a:r>
          </a:p>
          <a:p>
            <a:r>
              <a:t>“무료 강의가 넘친다”를 수량 주장 대신 사용자 흐름 가설로 전환. 개인경험은 미작성으로 유지.</a:t>
            </a:r>
          </a:p>
          <a:p/>
          <a:p>
            <a:r>
              <a:t>[근거]</a:t>
            </a:r>
          </a:p>
          <a:p>
            <a:r>
              <a:t>L12 | 12강 전략 프레임·시장 분석</a:t>
            </a:r>
          </a:p>
          <a:p>
            <a:r>
              <a:t>상태: 사용자 첨부 강의자료의 개념</a:t>
            </a:r>
          </a:p>
          <a:p>
            <a:r>
              <a:t>URL: </a:t>
            </a:r>
          </a:p>
          <a:p>
            <a:r>
              <a:t>범위: 설계 프레임만 지지. 고객 행동·시장효과 실증 근거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4 / 문제</a:t>
            </a:r>
          </a:p>
          <a:p>
            <a:r>
              <a:t>[검토 후 제목] 채용 기준과 준비 방식의 간극은 같은 질문으로 확인해야 합니다</a:t>
            </a:r>
          </a:p>
          <a:p>
            <a:r>
              <a:t>[발표/검토 메모]</a:t>
            </a:r>
          </a:p>
          <a:p>
            <a:r>
              <a:t>제시된 숫자는 서로 다른 조사·질문·모집단일 가능성이 있습니다. 원문 설문 문항과 표본을 확인하기 전 비율 차이를 계산하거나 청년의 오판으로 단정하지 않습니다. 이 환경에서 원문 기사에 접근하지 못했습니다.</a:t>
            </a:r>
          </a:p>
          <a:p/>
          <a:p>
            <a:r>
              <a:t>[수정 이유]</a:t>
            </a:r>
          </a:p>
          <a:p>
            <a:r>
              <a:t>상이한 조사 비율의 직접 비교 삭제. 74.6/16.6/12.7/58.9/42.6은 검증표에 보류.</a:t>
            </a:r>
          </a:p>
          <a:p/>
          <a:p>
            <a:r>
              <a:t>[근거]</a:t>
            </a:r>
          </a:p>
          <a:p>
            <a:r>
              <a:t>S01 | 채용기준·청년 준비방식</a:t>
            </a:r>
          </a:p>
          <a:p>
            <a:r>
              <a:t>상태: 원문 미검증 / 접근 차단</a:t>
            </a:r>
          </a:p>
          <a:p>
            <a:r>
              <a:t>URL: https://www.newsis.com/view/NISX20250521_0003184016</a:t>
            </a:r>
          </a:p>
          <a:p>
            <a:r>
              <a:t>범위: 원고 제시 또는 확인 후보. 현재 수치를 재검증하지 못함.</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5 / 문제</a:t>
            </a:r>
          </a:p>
          <a:p>
            <a:r>
              <a:t>[검토 후 제목] 신입 지원자에게도 경험을 설명할 자료가 필요할 수 있습니다</a:t>
            </a:r>
          </a:p>
          <a:p>
            <a:r>
              <a:t>[발표/검토 메모]</a:t>
            </a:r>
          </a:p>
          <a:p>
            <a:r>
              <a:t>원고의 경력 우대 33.1%와 중고 신입 28.1%는 원문 확인 전 본문에서 제외합니다. 33.1÷11.5는 약2.88배이나 산술 계산이 맞아도 조사 정의 확인이 우선입니다. 2026년 수치라고 자동 부정하지 않고, 확인되지 않았다고 구분합니다.</a:t>
            </a:r>
          </a:p>
          <a:p/>
          <a:p>
            <a:r>
              <a:t>[수정 이유]</a:t>
            </a:r>
          </a:p>
          <a:p>
            <a:r>
              <a:t>미검증 비율·약3배 그래프 삭제. 실습이 실무 경력을 대체한다는 인상 차단.</a:t>
            </a:r>
          </a:p>
          <a:p/>
          <a:p>
            <a:r>
              <a:t>[근거]</a:t>
            </a:r>
          </a:p>
          <a:p>
            <a:r>
              <a:t>S02 | 신입 경력우대</a:t>
            </a:r>
          </a:p>
          <a:p>
            <a:r>
              <a:t>상태: 원문 미검증 / 접근 차단</a:t>
            </a:r>
          </a:p>
          <a:p>
            <a:r>
              <a:t>URL: https://www.kukinews.com/article/view/kuk202606280022</a:t>
            </a:r>
          </a:p>
          <a:p>
            <a:r>
              <a:t>범위: 원고 제시 또는 확인 후보. 현재 수치를 재검증하지 못함.</a:t>
            </a:r>
          </a:p>
          <a:p>
            <a:r>
              <a:t>S03 | 중고 신입</a:t>
            </a:r>
          </a:p>
          <a:p>
            <a:r>
              <a:t>상태: 원문 미검증 / 접근 차단</a:t>
            </a:r>
          </a:p>
          <a:p>
            <a:r>
              <a:t>URL: https://www.segye.com/newsView/20250921508532</a:t>
            </a:r>
          </a:p>
          <a:p>
            <a:r>
              <a:t>범위: 원고 제시 또는 확인 후보. 현재 수치를 재검증하지 못함.</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6 / 문제</a:t>
            </a:r>
          </a:p>
          <a:p>
            <a:r>
              <a:t>[검토 후 제목] 기획·정리·분석·전달을 초기 학습 범위로 골랐습니다</a:t>
            </a:r>
          </a:p>
          <a:p>
            <a:r>
              <a:t>[발표/검토 메모]</a:t>
            </a:r>
          </a:p>
          <a:p>
            <a:r>
              <a:t>직무 전문역량64.7%, AI데이터24.2%를 강의 선정의 직접 인과로 사용하지 않습니다. 강의 분야 선정은 제작자 적합도와 사용자 가설에 따른 기획 결정입니다.</a:t>
            </a:r>
          </a:p>
          <a:p/>
          <a:p>
            <a:r>
              <a:t>[수정 이유]</a:t>
            </a:r>
          </a:p>
          <a:p>
            <a:r>
              <a:t>원티드랩 표본153명 설문 수치를 현재 미검증으로 보류.</a:t>
            </a:r>
          </a:p>
          <a:p/>
          <a:p>
            <a:r>
              <a:t>[근거]</a:t>
            </a:r>
          </a:p>
          <a:p>
            <a:r>
              <a:t>I02 | 6개 강의 데이터·가격</a:t>
            </a:r>
          </a:p>
          <a:p>
            <a:r>
              <a:t>상태: 코드 원문 확인</a:t>
            </a:r>
          </a:p>
          <a:p>
            <a:r>
              <a:t>URL: https://github.com/Jeong-HaEun/new_project_1021/blob/ba055b92a147b579859adee3a9ef24f47d4b0d54/src/data/courses/index.js</a:t>
            </a:r>
          </a:p>
          <a:p>
            <a:r>
              <a:t>범위: 코드 스냅샷만 확인. 실서버 상태·사업 성과 입증 아님.</a:t>
            </a:r>
          </a:p>
          <a:p>
            <a:r>
              <a:t>S04 | 채용 역량 설문</a:t>
            </a:r>
          </a:p>
          <a:p>
            <a:r>
              <a:t>상태: 원문 미검증 / 접근 차단</a:t>
            </a:r>
          </a:p>
          <a:p>
            <a:r>
              <a:t>URL: https://v.daum.net/v/20251208161412362</a:t>
            </a:r>
          </a:p>
          <a:p>
            <a:r>
              <a:t>범위: 원고 제시 또는 확인 후보. 현재 수치를 재검증하지 못함.</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7 / 문제</a:t>
            </a:r>
          </a:p>
          <a:p>
            <a:r>
              <a:t>[검토 후 제목] 소액 단건 가격은 부담을 낮추려는 가설입니다</a:t>
            </a:r>
          </a:p>
          <a:p>
            <a:r>
              <a:t>[발표/검토 메모]</a:t>
            </a:r>
          </a:p>
          <a:p>
            <a:r>
              <a:t>455만원의 기간이 연간인지 총준비기간인지 원문 확인이 필요합니다. 사교육 경험자와 전체구직자의 평균을 섞지 않습니다. 무료 자료보다 저렴하다는 표현은 성립하지 않습니다.</a:t>
            </a:r>
          </a:p>
          <a:p/>
          <a:p>
            <a:r>
              <a:t>[수정 이유]</a:t>
            </a:r>
          </a:p>
          <a:p>
            <a:r>
              <a:t>연455만원·월38만원·2배·71.1% 등 미검증 수치 제외. 가격결정의 근거 비약 수정.</a:t>
            </a:r>
          </a:p>
          <a:p/>
          <a:p>
            <a:r>
              <a:t>[근거]</a:t>
            </a:r>
          </a:p>
          <a:p>
            <a:r>
              <a:t>I02 | 6개 강의 데이터·가격</a:t>
            </a:r>
          </a:p>
          <a:p>
            <a:r>
              <a:t>상태: 코드 원문 확인</a:t>
            </a:r>
          </a:p>
          <a:p>
            <a:r>
              <a:t>URL: https://github.com/Jeong-HaEun/new_project_1021/blob/ba055b92a147b579859adee3a9ef24f47d4b0d54/src/data/courses/index.js</a:t>
            </a:r>
          </a:p>
          <a:p>
            <a:r>
              <a:t>범위: 코드 스냅샷만 확인. 실서버 상태·사업 성과 입증 아님.</a:t>
            </a:r>
          </a:p>
          <a:p>
            <a:r>
              <a:t>S05 | 취업 사교육비</a:t>
            </a:r>
          </a:p>
          <a:p>
            <a:r>
              <a:t>상태: 원문 미검증 / 접근 차단</a:t>
            </a:r>
          </a:p>
          <a:p>
            <a:r>
              <a:t>URL: https://www.newsis.com/view/NISX20260609_0003661665</a:t>
            </a:r>
          </a:p>
          <a:p>
            <a:r>
              <a:t>범위: 원고 제시 또는 확인 후보. 현재 수치를 재검증하지 못함.</a:t>
            </a:r>
          </a:p>
          <a:p>
            <a:r>
              <a:t>S06 | 월 취업 준비비</a:t>
            </a:r>
          </a:p>
          <a:p>
            <a:r>
              <a:t>상태: 원문 미검증 / 접근 차단</a:t>
            </a:r>
          </a:p>
          <a:p>
            <a:r>
              <a:t>URL: https://www.newsis.com/view/NISX20251018_0003367696</a:t>
            </a:r>
          </a:p>
          <a:p>
            <a:r>
              <a:t>범위: 원고 제시 또는 확인 후보. 현재 수치를 재검증하지 못함.</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8 / 문제</a:t>
            </a:r>
          </a:p>
          <a:p>
            <a:r>
              <a:t>[검토 후 제목] 고객이 원하는 것은 공부보다 보여줄 결과물일 수 있습니다</a:t>
            </a:r>
          </a:p>
          <a:p>
            <a:r>
              <a:t>[발표/검토 메모]</a:t>
            </a:r>
          </a:p>
          <a:p>
            <a:r>
              <a:t>취준생이 엉뚱한 곳에 돈을 쓴다는 가치판단을 제거합니다. 고객의 대안을 업종 밖까지 보되 무료교육을 모두 비효율적으로 규정하지 않습니다.</a:t>
            </a:r>
          </a:p>
          <a:p/>
          <a:p>
            <a:r>
              <a:t>[수정 이유]</a:t>
            </a:r>
          </a:p>
          <a:p>
            <a:r>
              <a:t>“돈과 시간을 엉뚱한 곳에” 삭제. 실습니즈를 확정 사실 대신 JTBD 가설로 표시.</a:t>
            </a:r>
          </a:p>
          <a:p/>
          <a:p>
            <a:r>
              <a:t>[근거]</a:t>
            </a:r>
          </a:p>
          <a:p>
            <a:r>
              <a:t>L12 | 12강 전략 프레임·시장 분석</a:t>
            </a:r>
          </a:p>
          <a:p>
            <a:r>
              <a:t>상태: 사용자 첨부 강의자료의 개념</a:t>
            </a:r>
          </a:p>
          <a:p>
            <a:r>
              <a:t>URL: </a:t>
            </a:r>
          </a:p>
          <a:p>
            <a:r>
              <a:t>범위: 설계 프레임만 지지. 고객 행동·시장효과 실증 근거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9 / 시장·타겟</a:t>
            </a:r>
          </a:p>
          <a:p>
            <a:r>
              <a:t>[검토 후 제목] 시장 규모보다 먼저 도달 가능한 고객 범위를 정합니다</a:t>
            </a:r>
          </a:p>
          <a:p>
            <a:r>
              <a:t>[발표/검토 메모]</a:t>
            </a:r>
          </a:p>
          <a:p>
            <a:r>
              <a:t>124만3천·60만5천·48.6%·60만·34.0%·11.2개월 모두 원표 미확인입니다. 미취업·실업·취업시험준비자는 정의가 다릅니다. 사람수 기반 대상범위와 원화매출 시장을 구분하고 수치를 지어내지 않습니다.</a:t>
            </a:r>
          </a:p>
          <a:p/>
          <a:p>
            <a:r>
              <a:t>[수정 이유]</a:t>
            </a:r>
          </a:p>
          <a:p>
            <a:r>
              <a:t>검증 안 된 총량을 TAM 확정값으로 쓰지 않음. SAM/SOM 가정과 계산식만 제시.</a:t>
            </a:r>
          </a:p>
          <a:p/>
          <a:p>
            <a:r>
              <a:t>[근거]</a:t>
            </a:r>
          </a:p>
          <a:p>
            <a:r>
              <a:t>S07 | 청년층 부가조사</a:t>
            </a:r>
          </a:p>
          <a:p>
            <a:r>
              <a:t>상태: 원문 미검증 / 접근 차단</a:t>
            </a:r>
          </a:p>
          <a:p>
            <a:r>
              <a:t>URL: https://www.newsis.com/view/NISX20260723_0003720080</a:t>
            </a:r>
          </a:p>
          <a:p>
            <a:r>
              <a:t>범위: 원고 제시 또는 확인 후보. 현재 수치를 재검증하지 못함.</a:t>
            </a:r>
          </a:p>
          <a:p>
            <a:r>
              <a:t>L12 | 12강 전략 프레임·시장 분석</a:t>
            </a:r>
          </a:p>
          <a:p>
            <a:r>
              <a:t>상태: 사용자 첨부 강의자료의 개념</a:t>
            </a:r>
          </a:p>
          <a:p>
            <a:r>
              <a:t>URL: </a:t>
            </a:r>
          </a:p>
          <a:p>
            <a:r>
              <a:t>범위: 설계 프레임만 지지. 고객 행동·시장효과 실증 근거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10 / 시장·타겟</a:t>
            </a:r>
          </a:p>
          <a:p>
            <a:r>
              <a:t>[검토 후 제목] 마케터 취업준비생부터 집중합니다</a:t>
            </a:r>
          </a:p>
          <a:p>
            <a:r>
              <a:t>[발표/검토 메모]</a:t>
            </a:r>
          </a:p>
          <a:p>
            <a:r>
              <a:t>과정 수강 중이라는 사실만으로 강의 전문성이 확보됐다고 주장하지 않습니다. 제작자 경력과 수강 이력은 발표자가 확인한 사실만 추가합니다.</a:t>
            </a:r>
          </a:p>
          <a:p/>
          <a:p>
            <a:r>
              <a:t>[수정 이유]</a:t>
            </a:r>
          </a:p>
          <a:p>
            <a:r>
              <a:t>“한 조각에서 1등” 성과표현 대신 초기집중 방침. 운영자 전문성 과대 추론 제거.</a:t>
            </a:r>
          </a:p>
          <a:p/>
          <a:p>
            <a:r>
              <a:t>[근거]</a:t>
            </a:r>
          </a:p>
          <a:p>
            <a:r>
              <a:t>I01 | 제품 원칙·범위</a:t>
            </a:r>
          </a:p>
          <a:p>
            <a:r>
              <a:t>상태: 코드 원문 확인</a:t>
            </a:r>
          </a:p>
          <a:p>
            <a:r>
              <a:t>URL: https://github.com/Jeong-HaEun/new_project_1021/blob/ba055b92a147b579859adee3a9ef24f47d4b0d54/CLAUDE.md</a:t>
            </a:r>
          </a:p>
          <a:p>
            <a:r>
              <a:t>범위: 코드 스냅샷만 확인. 실서버 상태·사업 성과 입증 아님.</a:t>
            </a:r>
          </a:p>
          <a:p>
            <a:r>
              <a:t>L13 | 13강 세분화·타겟팅</a:t>
            </a:r>
          </a:p>
          <a:p>
            <a:r>
              <a:t>상태: 사용자 첨부 강의자료의 개념</a:t>
            </a:r>
          </a:p>
          <a:p>
            <a:r>
              <a:t>URL: </a:t>
            </a:r>
          </a:p>
          <a:p>
            <a:r>
              <a:t>범위: 설계 프레임만 지지. 고객 행동·시장효과 실증 근거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11 / 시장·타겟</a:t>
            </a:r>
          </a:p>
          <a:p>
            <a:r>
              <a:t>[검토 후 제목] 가설 페르소나는 ‘보여줄 파일이 없는 마케팅 지원자’입니다</a:t>
            </a:r>
          </a:p>
          <a:p>
            <a:r>
              <a:t>[발표/검토 메모]</a:t>
            </a:r>
          </a:p>
          <a:p>
            <a:r>
              <a:t>이는 조사 기반 페르소나가 아닙니다. 취업정보채널 전체 설문에서 이 인물의 실제 행동을 추정해 사실로 말하지 않습니다. 지인 인터뷰가 있으면 표본과 문항을 추가하세요.</a:t>
            </a:r>
          </a:p>
          <a:p/>
          <a:p>
            <a:r>
              <a:t>[수정 이유]</a:t>
            </a:r>
          </a:p>
          <a:p>
            <a:r>
              <a:t>정보채널·하루일과를 조사사실로 쓰지 않음. 모든 세부 속성을 가설로 명시.</a:t>
            </a:r>
          </a:p>
          <a:p/>
          <a:p>
            <a:r>
              <a:t>[근거]</a:t>
            </a:r>
          </a:p>
          <a:p>
            <a:r>
              <a:t>L13 | 13강 세분화·타겟팅</a:t>
            </a:r>
          </a:p>
          <a:p>
            <a:r>
              <a:t>상태: 사용자 첨부 강의자료의 개념</a:t>
            </a:r>
          </a:p>
          <a:p>
            <a:r>
              <a:t>URL: </a:t>
            </a:r>
          </a:p>
          <a:p>
            <a:r>
              <a:t>범위: 설계 프레임만 지지. 고객 행동·시장효과 실증 근거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12 / 시장·타겟</a:t>
            </a:r>
          </a:p>
          <a:p>
            <a:r>
              <a:t>[검토 후 제목] 자격증 합격이나 고급 실무 교육은 초기 범위에서 제외합니다</a:t>
            </a:r>
          </a:p>
          <a:p>
            <a:r>
              <a:t>[발표/검토 메모]</a:t>
            </a:r>
          </a:p>
          <a:p>
            <a:r>
              <a:t>안티페르소나는 이용 거절이 아닌 제작·메시지 우선순위입니다. 확장 가능성을 닫는 표현을 피합니다.</a:t>
            </a:r>
          </a:p>
          <a:p/>
          <a:p>
            <a:r>
              <a:t>[수정 이유]</a:t>
            </a:r>
          </a:p>
          <a:p>
            <a:r>
              <a:t>선택과 집중을 전략 범위로 명확화.</a:t>
            </a:r>
          </a:p>
          <a:p/>
          <a:p>
            <a:r>
              <a:t>[근거]</a:t>
            </a:r>
          </a:p>
          <a:p>
            <a:r>
              <a:t>L13 | 13강 세분화·타겟팅</a:t>
            </a:r>
          </a:p>
          <a:p>
            <a:r>
              <a:t>상태: 사용자 첨부 강의자료의 개념</a:t>
            </a:r>
          </a:p>
          <a:p>
            <a:r>
              <a:t>URL: </a:t>
            </a:r>
          </a:p>
          <a:p>
            <a:r>
              <a:t>범위: 설계 프레임만 지지. 고객 행동·시장효과 실증 근거 아님.</a:t>
            </a:r>
          </a:p>
          <a:p>
            <a:r>
              <a:t>I01 | 제품 원칙·범위</a:t>
            </a:r>
          </a:p>
          <a:p>
            <a:r>
              <a:t>상태: 코드 원문 확인</a:t>
            </a:r>
          </a:p>
          <a:p>
            <a:r>
              <a:t>URL: https://github.com/Jeong-HaEun/new_project_1021/blob/ba055b92a147b579859adee3a9ef24f47d4b0d54/CLAUDE.md</a:t>
            </a:r>
          </a:p>
          <a:p>
            <a:r>
              <a:t>범위: 코드 스냅샷만 확인. 실서버 상태·사업 성과 입증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13 / 전략</a:t>
            </a:r>
          </a:p>
          <a:p>
            <a:r>
              <a:t>[검토 후 제목] 단건 구매와 명확한 결과물을 함께 제안합니다</a:t>
            </a:r>
          </a:p>
          <a:p>
            <a:r>
              <a:t>[발표/검토 메모]</a:t>
            </a:r>
          </a:p>
          <a:p>
            <a:r>
              <a:t>무료영상도 결과물을 제공할 수 있고 다른 플랫폼도 단건을 판매할 수 있습니다. 실제 경쟁상품 URL·조사일·동일기준 조사 없이 경쟁유형을 임의로 열등하게 배치하지 않습니다.</a:t>
            </a:r>
          </a:p>
          <a:p/>
          <a:p>
            <a:r>
              <a:t>[수정 이유]</a:t>
            </a:r>
          </a:p>
          <a:p>
            <a:r>
              <a:t>빈 사다리·경쟁서비스 위치를 확정한 포지셔닝맵 대신 비교축과 제안만 표시.</a:t>
            </a:r>
          </a:p>
          <a:p/>
          <a:p>
            <a:r>
              <a:t>[근거]</a:t>
            </a:r>
          </a:p>
          <a:p>
            <a:r>
              <a:t>L14 | 14강 포지셔닝·가치제안</a:t>
            </a:r>
          </a:p>
          <a:p>
            <a:r>
              <a:t>상태: 사용자 첨부 강의자료의 개념</a:t>
            </a:r>
          </a:p>
          <a:p>
            <a:r>
              <a:t>URL: </a:t>
            </a:r>
          </a:p>
          <a:p>
            <a:r>
              <a:t>범위: 설계 프레임만 지지. 고객 행동·시장효과 실증 근거 아님.</a:t>
            </a:r>
          </a:p>
          <a:p>
            <a:r>
              <a:t>I02 | 6개 강의 데이터·가격</a:t>
            </a:r>
          </a:p>
          <a:p>
            <a:r>
              <a:t>상태: 코드 원문 확인</a:t>
            </a:r>
          </a:p>
          <a:p>
            <a:r>
              <a:t>URL: https://github.com/Jeong-HaEun/new_project_1021/blob/ba055b92a147b579859adee3a9ef24f47d4b0d54/src/data/courses/index.js</a:t>
            </a:r>
          </a:p>
          <a:p>
            <a:r>
              <a:t>범위: 코드 스냅샷만 확인. 실서버 상태·사업 성과 입증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14 / 전략</a:t>
            </a:r>
          </a:p>
          <a:p>
            <a:r>
              <a:t>[검토 후 제목] 한 강의에 결과물 하나, 필요한 만큼만 선택합니다</a:t>
            </a:r>
          </a:p>
          <a:p>
            <a:r>
              <a:t>[발표/검토 메모]</a:t>
            </a:r>
          </a:p>
          <a:p>
            <a:r>
              <a:t>현재 실제판매나 완성된강의를 보장하지 않습니다. 기획상의 가치제안과 실제 제작 현황을 분리합니다.</a:t>
            </a:r>
          </a:p>
          <a:p/>
          <a:p>
            <a:r>
              <a:t>[수정 이유]</a:t>
            </a:r>
          </a:p>
          <a:p>
            <a:r>
              <a:t>500원 문구 폐기. 경쟁대비 우위와 가격 단일화를 수정.</a:t>
            </a:r>
          </a:p>
          <a:p/>
          <a:p>
            <a:r>
              <a:t>[근거]</a:t>
            </a:r>
          </a:p>
          <a:p>
            <a:r>
              <a:t>I02 | 6개 강의 데이터·가격</a:t>
            </a:r>
          </a:p>
          <a:p>
            <a:r>
              <a:t>상태: 코드 원문 확인</a:t>
            </a:r>
          </a:p>
          <a:p>
            <a:r>
              <a:t>URL: https://github.com/Jeong-HaEun/new_project_1021/blob/ba055b92a147b579859adee3a9ef24f47d4b0d54/src/data/courses/index.js</a:t>
            </a:r>
          </a:p>
          <a:p>
            <a:r>
              <a:t>범위: 코드 스냅샷만 확인. 실서버 상태·사업 성과 입증 아님.</a:t>
            </a:r>
          </a:p>
          <a:p>
            <a:r>
              <a:t>I01 | 제품 원칙·범위</a:t>
            </a:r>
          </a:p>
          <a:p>
            <a:r>
              <a:t>상태: 코드 원문 확인</a:t>
            </a:r>
          </a:p>
          <a:p>
            <a:r>
              <a:t>URL: https://github.com/Jeong-HaEun/new_project_1021/blob/ba055b92a147b579859adee3a9ef24f47d4b0d54/CLAUDE.md</a:t>
            </a:r>
          </a:p>
          <a:p>
            <a:r>
              <a:t>범위: 코드 스냅샷만 확인. 실서버 상태·사업 성과 입증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15 / 전략</a:t>
            </a:r>
          </a:p>
          <a:p>
            <a:r>
              <a:t>[검토 후 제목] 학습 목표와 차시를 작게 나누어 설계했습니다</a:t>
            </a:r>
          </a:p>
          <a:p>
            <a:r>
              <a:t>[발표/검토 메모]</a:t>
            </a:r>
          </a:p>
          <a:p>
            <a:r>
              <a:t>Monib 외 원고 서지에 2024와 Heliyon11(2)가 혼재합니다. 논문 원문·출판연도·표본·성과범위를 재확인하기 전 “40편에서 효과 확인”이나 최적영상길이를 확정하지 않습니다.</a:t>
            </a:r>
          </a:p>
          <a:p/>
          <a:p>
            <a:r>
              <a:t>[수정 이유]</a:t>
            </a:r>
          </a:p>
          <a:p>
            <a:r>
              <a:t>연구 효과·최적길이 주장 보류. 데이터에서 확인한 차시 설계만 남김.</a:t>
            </a:r>
          </a:p>
          <a:p/>
          <a:p>
            <a:r>
              <a:t>[근거]</a:t>
            </a:r>
          </a:p>
          <a:p>
            <a:r>
              <a:t>I02 | 6개 강의 데이터·가격</a:t>
            </a:r>
          </a:p>
          <a:p>
            <a:r>
              <a:t>상태: 코드 원문 확인</a:t>
            </a:r>
          </a:p>
          <a:p>
            <a:r>
              <a:t>URL: https://github.com/Jeong-HaEun/new_project_1021/blob/ba055b92a147b579859adee3a9ef24f47d4b0d54/src/data/courses/index.js</a:t>
            </a:r>
          </a:p>
          <a:p>
            <a:r>
              <a:t>범위: 코드 스냅샷만 확인. 실서버 상태·사업 성과 입증 아님.</a:t>
            </a:r>
          </a:p>
          <a:p>
            <a:r>
              <a:t>S11 | 마이크로러닝 논문</a:t>
            </a:r>
          </a:p>
          <a:p>
            <a:r>
              <a:t>상태: 원문 미검증 / 접근 차단</a:t>
            </a:r>
          </a:p>
          <a:p>
            <a:r>
              <a:t>URL: https://pmc.ncbi.nlm.nih.gov/articles/PMC11774797/</a:t>
            </a:r>
          </a:p>
          <a:p>
            <a:r>
              <a:t>범위: 원고 제시 또는 확인 후보. 현재 수치를 재검증하지 못함.</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16 / 전략</a:t>
            </a:r>
          </a:p>
          <a:p>
            <a:r>
              <a:t>[검토 후 제목] 작은 선택·명확한 범위·완성 결과물로 메시지를 통일합니다</a:t>
            </a:r>
          </a:p>
          <a:p>
            <a:r>
              <a:t>[발표/검토 메모]</a:t>
            </a:r>
          </a:p>
          <a:p>
            <a:r>
              <a:t>무료교육과 비교해 싼가격이라고 하지 않습니다. 탐색시간 절약도 실측이 아닌 의도입니다. 톤은 제안으로 발표자가 선택할 수 있습니다.</a:t>
            </a:r>
          </a:p>
          <a:p/>
          <a:p>
            <a:r>
              <a:t>[수정 이유]</a:t>
            </a:r>
          </a:p>
          <a:p>
            <a:r>
              <a:t>무료교육보다 싼가격이라는 모순 수정. 실증되지 않은 편익은 약속·의도로 제한.</a:t>
            </a:r>
          </a:p>
          <a:p/>
          <a:p>
            <a:r>
              <a:t>[근거]</a:t>
            </a:r>
          </a:p>
          <a:p>
            <a:r>
              <a:t>L17 | 17강 캠페인 컨셉</a:t>
            </a:r>
          </a:p>
          <a:p>
            <a:r>
              <a:t>상태: 사용자 첨부 강의자료의 개념</a:t>
            </a:r>
          </a:p>
          <a:p>
            <a:r>
              <a:t>URL: </a:t>
            </a:r>
          </a:p>
          <a:p>
            <a:r>
              <a:t>범위: 설계 프레임만 지지. 고객 행동·시장효과 실증 근거 아님.</a:t>
            </a:r>
          </a:p>
          <a:p>
            <a:r>
              <a:t>I02 | 6개 강의 데이터·가격</a:t>
            </a:r>
          </a:p>
          <a:p>
            <a:r>
              <a:t>상태: 코드 원문 확인</a:t>
            </a:r>
          </a:p>
          <a:p>
            <a:r>
              <a:t>URL: https://github.com/Jeong-HaEun/new_project_1021/blob/ba055b92a147b579859adee3a9ef24f47d4b0d54/src/data/courses/index.js</a:t>
            </a:r>
          </a:p>
          <a:p>
            <a:r>
              <a:t>범위: 코드 스냅샷만 확인. 실서버 상태·사업 성과 입증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17 / 전략</a:t>
            </a:r>
          </a:p>
          <a:p>
            <a:r>
              <a:t>[검토 후 제목] 확인할 수 없는 신뢰 신호는 넣지 않았습니다</a:t>
            </a:r>
          </a:p>
          <a:p>
            <a:r>
              <a:t>[발표/검토 메모]</a:t>
            </a:r>
          </a:p>
          <a:p>
            <a:r>
              <a:t>DESIGN.md의 삭제 지침은 확인했으나 모든 과거 시안과의 시각 비교를 독립 검증한 것은 아닙니다. noindex는 검색 노출 지시이지 비공개나 접근제어 수단이 아닙니다.</a:t>
            </a:r>
          </a:p>
          <a:p/>
          <a:p>
            <a:r>
              <a:t>[수정 이유]</a:t>
            </a:r>
          </a:p>
          <a:p>
            <a:r>
              <a:t>가장 싼 신뢰라는 인과·최상급 제거. noindex를 정보보호수단처럼 설명하지 않음.</a:t>
            </a:r>
          </a:p>
          <a:p/>
          <a:p>
            <a:r>
              <a:t>[근거]</a:t>
            </a:r>
          </a:p>
          <a:p>
            <a:r>
              <a:t>I03 | 디자인·삭제 원칙</a:t>
            </a:r>
          </a:p>
          <a:p>
            <a:r>
              <a:t>상태: 코드 원문 확인</a:t>
            </a:r>
          </a:p>
          <a:p>
            <a:r>
              <a:t>URL: https://github.com/Jeong-HaEun/new_project_1021/blob/ba055b92a147b579859adee3a9ef24f47d4b0d54/DESIGN.md</a:t>
            </a:r>
          </a:p>
          <a:p>
            <a:r>
              <a:t>범위: 코드 스냅샷만 확인. 실서버 상태·사업 성과 입증 아님.</a:t>
            </a:r>
          </a:p>
          <a:p>
            <a:r>
              <a:t>I01 | 제품 원칙·범위</a:t>
            </a:r>
          </a:p>
          <a:p>
            <a:r>
              <a:t>상태: 코드 원문 확인</a:t>
            </a:r>
          </a:p>
          <a:p>
            <a:r>
              <a:t>URL: https://github.com/Jeong-HaEun/new_project_1021/blob/ba055b92a147b579859adee3a9ef24f47d4b0d54/CLAUDE.md</a:t>
            </a:r>
          </a:p>
          <a:p>
            <a:r>
              <a:t>범위: 코드 스냅샷만 확인. 실서버 상태·사업 성과 입증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18 / 경험·시연</a:t>
            </a:r>
          </a:p>
          <a:p>
            <a:r>
              <a:t>[검토 후 제목] 선택 전의 불확실성과 학습 후의 중단을 줄이려 합니다</a:t>
            </a:r>
          </a:p>
          <a:p>
            <a:r>
              <a:t>[발표/검토 메모]</a:t>
            </a:r>
          </a:p>
          <a:p>
            <a:r>
              <a:t>구매 직전이 가장 큰 골짜기라는 실제 조사결과는 없습니다. 감정은 사용자관찰로 확인하고 현재는 개선 후보를 제시합니다.</a:t>
            </a:r>
          </a:p>
          <a:p/>
          <a:p>
            <a:r>
              <a:t>[수정 이유]</a:t>
            </a:r>
          </a:p>
          <a:p>
            <a:r>
              <a:t>가설 감정곡선을 확정된 고객 행동으로 설명하는 제목 수정.</a:t>
            </a:r>
          </a:p>
          <a:p/>
          <a:p>
            <a:r>
              <a:t>[근거]</a:t>
            </a:r>
          </a:p>
          <a:p>
            <a:r>
              <a:t>L16 | 16강 고객여정맵</a:t>
            </a:r>
          </a:p>
          <a:p>
            <a:r>
              <a:t>상태: 사용자 첨부 강의자료의 개념</a:t>
            </a:r>
          </a:p>
          <a:p>
            <a:r>
              <a:t>URL: </a:t>
            </a:r>
          </a:p>
          <a:p>
            <a:r>
              <a:t>범위: 설계 프레임만 지지. 고객 행동·시장효과 실증 근거 아님.</a:t>
            </a:r>
          </a:p>
          <a:p>
            <a:r>
              <a:t>I01 | 제품 원칙·범위</a:t>
            </a:r>
          </a:p>
          <a:p>
            <a:r>
              <a:t>상태: 코드 원문 확인</a:t>
            </a:r>
          </a:p>
          <a:p>
            <a:r>
              <a:t>URL: https://github.com/Jeong-HaEun/new_project_1021/blob/ba055b92a147b579859adee3a9ef24f47d4b0d54/CLAUDE.md</a:t>
            </a:r>
          </a:p>
          <a:p>
            <a:r>
              <a:t>범위: 코드 스냅샷만 확인. 실서버 상태·사업 성과 입증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19 / 경험·시연</a:t>
            </a:r>
          </a:p>
          <a:p>
            <a:r>
              <a:t>[검토 후 제목] 상세에서 배울 내용과 구매 전 확인 정보를 보여줍니다</a:t>
            </a:r>
          </a:p>
          <a:p>
            <a:r>
              <a:t>[발표/검토 메모]</a:t>
            </a:r>
          </a:p>
          <a:p>
            <a:r>
              <a:t>모든 정보가 구매버튼 위에 있다는 보장은 코드와 모바일고정바 구조상 성립하지 않습니다. 실제상세 정보와 주문확인 내용을 구분해 캡처했습니다. 환불·수강기간은 현행초안이며 적법성확인을 뜻하지 않습니다.</a:t>
            </a:r>
          </a:p>
          <a:p/>
          <a:p>
            <a:r>
              <a:t>[수정 이유]</a:t>
            </a:r>
          </a:p>
          <a:p>
            <a:r>
              <a:t>구매버튼 위라는 위치 보장 제거. 수강기간/환불 문구는 운영전 검토 대상으로 표시.</a:t>
            </a:r>
          </a:p>
          <a:p/>
          <a:p>
            <a:r>
              <a:t>[근거]</a:t>
            </a:r>
          </a:p>
          <a:p>
            <a:r>
              <a:t>I04 | 상세 구매전 안내</a:t>
            </a:r>
          </a:p>
          <a:p>
            <a:r>
              <a:t>상태: 코드 원문 확인</a:t>
            </a:r>
          </a:p>
          <a:p>
            <a:r>
              <a:t>URL: https://github.com/Jeong-HaEun/new_project_1021/blob/ba055b92a147b579859adee3a9ef24f47d4b0d54/src/components/CourseDetail.js</a:t>
            </a:r>
          </a:p>
          <a:p>
            <a:r>
              <a:t>범위: 코드 스냅샷만 확인. 실서버 상태·사업 성과 입증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20 / 경험·시연</a:t>
            </a:r>
          </a:p>
          <a:p>
            <a:r>
              <a:t>[검토 후 제목] 맛보기와 환불 안내는 구매 판단을 돕는 별개의 장치입니다</a:t>
            </a:r>
          </a:p>
          <a:p>
            <a:r>
              <a:t>[발표/검토 메모]</a:t>
            </a:r>
          </a:p>
          <a:p>
            <a:r>
              <a:t>제17조2항5호와6항은 현행원문·시행일·시행령 및분할콘텐츠 적용관계를 확인해야 합니다. 예외·사전조치·미제공부분 등을 함께 검토해야 하며 “결제후7일+재생전” 정책이 자동적법하다는 의미가 아닙니다. 본 발표는 법률자문이 아닙니다.</a:t>
            </a:r>
          </a:p>
          <a:p/>
          <a:p>
            <a:r>
              <a:t>[수정 이유]</a:t>
            </a:r>
          </a:p>
          <a:p>
            <a:r>
              <a:t>무료 맛보기 법적필수라는 단정 삭제. 체험수단/철회제한/분할콘텐츠를 분리.</a:t>
            </a:r>
          </a:p>
          <a:p/>
          <a:p>
            <a:r>
              <a:t>[근거]</a:t>
            </a:r>
          </a:p>
          <a:p>
            <a:r>
              <a:t>S10 | 전자상거래법 제17조</a:t>
            </a:r>
          </a:p>
          <a:p>
            <a:r>
              <a:t>상태: 원문 미검증 / 접근 차단</a:t>
            </a:r>
          </a:p>
          <a:p>
            <a:r>
              <a:t>URL: https://www.law.go.kr/법령/전자상거래등에서의소비자보호에관한법률/제17조</a:t>
            </a:r>
          </a:p>
          <a:p>
            <a:r>
              <a:t>범위: 원고 제시 또는 확인 후보. 현재 수치를 재검증하지 못함.</a:t>
            </a:r>
          </a:p>
          <a:p>
            <a:r>
              <a:t>I05 | 수강·재생 준비중 표시</a:t>
            </a:r>
          </a:p>
          <a:p>
            <a:r>
              <a:t>상태: 코드 원문 확인</a:t>
            </a:r>
          </a:p>
          <a:p>
            <a:r>
              <a:t>URL: https://github.com/Jeong-HaEun/new_project_1021/blob/ba055b92a147b579859adee3a9ef24f47d4b0d54/src/components/LearnParts.js</a:t>
            </a:r>
          </a:p>
          <a:p>
            <a:r>
              <a:t>범위: 코드 스냅샷만 확인. 실서버 상태·사업 성과 입증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21 / 경험·시연</a:t>
            </a:r>
          </a:p>
          <a:p>
            <a:r>
              <a:t>[검토 후 제목] 완성 체크는 성취 경험을 확인하려는 자기보고 기능입니다</a:t>
            </a:r>
          </a:p>
          <a:p>
            <a:r>
              <a:t>[발표/검토 메모]</a:t>
            </a:r>
          </a:p>
          <a:p>
            <a:r>
              <a:t>화면 구조·저장모듈을 확인했고 서버연결확인은 CHANGELOG 기록입니다. 이 세션에서 실제로그인·다른기기검증을 다시 한 것은 아닙니다. 영상·실습파일은 준비중이라 완주율·학습효과실적이 없습니다.</a:t>
            </a:r>
          </a:p>
          <a:p/>
          <a:p>
            <a:r>
              <a:t>[수정 이유]</a:t>
            </a:r>
          </a:p>
          <a:p>
            <a:r>
              <a:t>완성 체크를 실제완성/재구매 효과와 등치하지 않음.</a:t>
            </a:r>
          </a:p>
          <a:p/>
          <a:p>
            <a:r>
              <a:t>[근거]</a:t>
            </a:r>
          </a:p>
          <a:p>
            <a:r>
              <a:t>I05 | 수강·재생 준비중 표시</a:t>
            </a:r>
          </a:p>
          <a:p>
            <a:r>
              <a:t>상태: 코드 원문 확인</a:t>
            </a:r>
          </a:p>
          <a:p>
            <a:r>
              <a:t>URL: https://github.com/Jeong-HaEun/new_project_1021/blob/ba055b92a147b579859adee3a9ef24f47d4b0d54/src/components/LearnParts.js</a:t>
            </a:r>
          </a:p>
          <a:p>
            <a:r>
              <a:t>범위: 코드 스냅샷만 확인. 실서버 상태·사업 성과 입증 아님.</a:t>
            </a:r>
          </a:p>
          <a:p>
            <a:r>
              <a:t>I06 | 서버 연결 완료 기록</a:t>
            </a:r>
          </a:p>
          <a:p>
            <a:r>
              <a:t>상태: 코드 원문 확인</a:t>
            </a:r>
          </a:p>
          <a:p>
            <a:r>
              <a:t>URL: https://github.com/Jeong-HaEun/new_project_1021/blob/ba055b92a147b579859adee3a9ef24f47d4b0d54/CHANGELOG.md</a:t>
            </a:r>
          </a:p>
          <a:p>
            <a:r>
              <a:t>범위: 코드 스냅샷만 확인. 실서버 상태·사업 성과 입증 아님.</a:t>
            </a:r>
          </a:p>
          <a:p>
            <a:r>
              <a:t>L16 | 16강 고객여정맵</a:t>
            </a:r>
          </a:p>
          <a:p>
            <a:r>
              <a:t>상태: 사용자 첨부 강의자료의 개념</a:t>
            </a:r>
          </a:p>
          <a:p>
            <a:r>
              <a:t>URL: </a:t>
            </a:r>
          </a:p>
          <a:p>
            <a:r>
              <a:t>범위: 설계 프레임만 지지. 고객 행동·시장효과 실증 근거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22 / 경험·시연</a:t>
            </a:r>
          </a:p>
          <a:p>
            <a:r>
              <a:t>[검토 후 제목] 탐색부터 내 강의실까지 데모 동선을 연결했습니다</a:t>
            </a:r>
          </a:p>
          <a:p>
            <a:r>
              <a:t>[발표/검토 메모]</a:t>
            </a:r>
          </a:p>
          <a:p>
            <a:r>
              <a:t>발표 시 c002처럼 실제 데모신청 가능한 강의를 사용하세요. 계정은 본인계정만, 로그인화면·개인정보 노출을 피하세요. 최신 CHANGELOG는 서버연결완료를 기록하며 전용프로젝트대기라는 기존원고는 오래된상태입니다. 현장실기기에서 별도시연점검·녹화가 필요합니다.</a:t>
            </a:r>
          </a:p>
          <a:p/>
          <a:p>
            <a:r>
              <a:t>[수정 이유]</a:t>
            </a:r>
          </a:p>
          <a:p>
            <a:r>
              <a:t>서버 연결대기/한클래스 전용 프로젝트라는 오래된 상태 수정. 코드·로그·직접검증 구분.</a:t>
            </a:r>
          </a:p>
          <a:p/>
          <a:p>
            <a:r>
              <a:t>[근거]</a:t>
            </a:r>
          </a:p>
          <a:p>
            <a:r>
              <a:t>I07 | 7개 페이지·동선</a:t>
            </a:r>
          </a:p>
          <a:p>
            <a:r>
              <a:t>상태: 코드 원문 확인</a:t>
            </a:r>
          </a:p>
          <a:p>
            <a:r>
              <a:t>URL: https://github.com/Jeong-HaEun/new_project_1021/blob/ba055b92a147b579859adee3a9ef24f47d4b0d54/SPEC.md</a:t>
            </a:r>
          </a:p>
          <a:p>
            <a:r>
              <a:t>범위: 코드 스냅샷만 확인. 실서버 상태·사업 성과 입증 아님.</a:t>
            </a:r>
          </a:p>
          <a:p>
            <a:r>
              <a:t>I06 | 서버 연결 완료 기록</a:t>
            </a:r>
          </a:p>
          <a:p>
            <a:r>
              <a:t>상태: 코드 원문 확인</a:t>
            </a:r>
          </a:p>
          <a:p>
            <a:r>
              <a:t>URL: https://github.com/Jeong-HaEun/new_project_1021/blob/ba055b92a147b579859adee3a9ef24f47d4b0d54/CHANGELOG.md</a:t>
            </a:r>
          </a:p>
          <a:p>
            <a:r>
              <a:t>범위: 코드 스냅샷만 확인. 실서버 상태·사업 성과 입증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23 / 경험·시연</a:t>
            </a:r>
          </a:p>
          <a:p>
            <a:r>
              <a:t>[검토 후 제목] 추천 순서와 광고 보고서 예시로 실습의 쓰임을 연결합니다</a:t>
            </a:r>
          </a:p>
          <a:p>
            <a:r>
              <a:t>[발표/검토 메모]</a:t>
            </a:r>
          </a:p>
          <a:p>
            <a:r>
              <a:t>추천은 필수과정·묶음상품이 아닙니다. 가상 ROAS300%를 실제판매성과처럼 소개하지 않습니다. 한클래스와보고서계정이 자동연동되는것도 아닙니다.</a:t>
            </a:r>
          </a:p>
          <a:p/>
          <a:p>
            <a:r>
              <a:t>[수정 이유]</a:t>
            </a:r>
          </a:p>
          <a:p>
            <a:r>
              <a:t>가상 성과·독립 로그인 범위를 강조.</a:t>
            </a:r>
          </a:p>
          <a:p/>
          <a:p>
            <a:r>
              <a:t>[근거]</a:t>
            </a:r>
          </a:p>
          <a:p>
            <a:r>
              <a:t>I08 | 추천·외부 보고서 연결</a:t>
            </a:r>
          </a:p>
          <a:p>
            <a:r>
              <a:t>상태: 코드 원문 확인</a:t>
            </a:r>
          </a:p>
          <a:p>
            <a:r>
              <a:t>URL: https://github.com/Jeong-HaEun/new_project_1021/blob/ba055b92a147b579859adee3a9ef24f47d4b0d54/src/data/learningPath.js</a:t>
            </a:r>
          </a:p>
          <a:p>
            <a:r>
              <a:t>범위: 코드 스냅샷만 확인. 실서버 상태·사업 성과 입증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24 / 경험·시연</a:t>
            </a:r>
          </a:p>
          <a:p>
            <a:r>
              <a:t>[검토 후 제목] 모집 상태는 색과 문구를 함께 써서 구분합니다</a:t>
            </a:r>
          </a:p>
          <a:p>
            <a:r>
              <a:t>[발표/검토 메모]</a:t>
            </a:r>
          </a:p>
          <a:p>
            <a:r>
              <a:t>초록/노랑/빨강 상태는 코드에 있고 review결과6개명료는규칙검사결과입니다. 사용자이해도나전환효과를검증한것은아닙니다.</a:t>
            </a:r>
          </a:p>
          <a:p/>
          <a:p>
            <a:r>
              <a:t>[수정 이유]</a:t>
            </a:r>
          </a:p>
          <a:p>
            <a:r>
              <a:t>신호등·검토 스크립트가 사용성효과를 입증한 것처럼 표현하지 않음.</a:t>
            </a:r>
          </a:p>
          <a:p/>
          <a:p>
            <a:r>
              <a:t>[근거]</a:t>
            </a:r>
          </a:p>
          <a:p>
            <a:r>
              <a:t>I09 | 모집상태·제한</a:t>
            </a:r>
          </a:p>
          <a:p>
            <a:r>
              <a:t>상태: 코드 원문 확인</a:t>
            </a:r>
          </a:p>
          <a:p>
            <a:r>
              <a:t>URL: https://github.com/Jeong-HaEun/new_project_1021/blob/ba055b92a147b579859adee3a9ef24f47d4b0d54/src/lib/enrollment.js</a:t>
            </a:r>
          </a:p>
          <a:p>
            <a:r>
              <a:t>범위: 코드 스냅샷만 확인. 실서버 상태·사업 성과 입증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25 / 실행 계획</a:t>
            </a:r>
          </a:p>
          <a:p>
            <a:r>
              <a:t>[검토 후 제목] 채널은 타겟의 실제 정보 탐색 행동으로 고르겠습니다</a:t>
            </a:r>
          </a:p>
          <a:p>
            <a:r>
              <a:t>[발표/검토 메모]</a:t>
            </a:r>
          </a:p>
          <a:p>
            <a:r>
              <a:t>Z세대구직자 설문과전체국민숏폼이용률은다른모집단입니다.복수응답채널순위는채널별구매전환효과를뜻하지않습니다.</a:t>
            </a:r>
          </a:p>
          <a:p/>
          <a:p>
            <a:r>
              <a:t>[수정 이유]</a:t>
            </a:r>
          </a:p>
          <a:p>
            <a:r>
              <a:t>설문채널순위→우리서비스성과의 일반화 차단. 미검증 비율 삭제.</a:t>
            </a:r>
          </a:p>
          <a:p/>
          <a:p>
            <a:r>
              <a:t>[근거]</a:t>
            </a:r>
          </a:p>
          <a:p>
            <a:r>
              <a:t>S08 | 취업 정보 채널</a:t>
            </a:r>
          </a:p>
          <a:p>
            <a:r>
              <a:t>상태: 원문 미검증 / 접근 차단</a:t>
            </a:r>
          </a:p>
          <a:p>
            <a:r>
              <a:t>URL: https://www.wikitree.co.kr/articles/1134478</a:t>
            </a:r>
          </a:p>
          <a:p>
            <a:r>
              <a:t>범위: 원고 제시 또는 확인 후보. 현재 수치를 재검증하지 못함.</a:t>
            </a:r>
          </a:p>
          <a:p>
            <a:r>
              <a:t>S09 | 숏폼 이용률</a:t>
            </a:r>
          </a:p>
          <a:p>
            <a:r>
              <a:t>상태: 원문 미검증 / 접근 차단</a:t>
            </a:r>
          </a:p>
          <a:p>
            <a:r>
              <a:t>URL: https://www.newsis.com/view/NISX20251215_0003440687</a:t>
            </a:r>
          </a:p>
          <a:p>
            <a:r>
              <a:t>범위: 원고 제시 또는 확인 후보. 현재 수치를 재검증하지 못함.</a:t>
            </a:r>
          </a:p>
          <a:p>
            <a:r>
              <a:t>L18 | 18강 캠페인·채널</a:t>
            </a:r>
          </a:p>
          <a:p>
            <a:r>
              <a:t>상태: 사용자 첨부 강의자료의 개념</a:t>
            </a:r>
          </a:p>
          <a:p>
            <a:r>
              <a:t>URL: </a:t>
            </a:r>
          </a:p>
          <a:p>
            <a:r>
              <a:t>범위: 설계 프레임만 지지. 고객 행동·시장효과 실증 근거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26 / 실행 계획</a:t>
            </a:r>
          </a:p>
          <a:p>
            <a:r>
              <a:t>[검토 후 제목] 인지·고려·신청·사용을 하나의 동선으로 연결합니다</a:t>
            </a:r>
          </a:p>
          <a:p>
            <a:r>
              <a:t>[발표/검토 메모]</a:t>
            </a:r>
          </a:p>
          <a:p>
            <a:r>
              <a:t>아직없는커뮤니티후기를확보한채널처럼쓰지않습니다.실제맛보기영상도미제작입니다.유료광고·리타겟팅 집행실적을주장하지않습니다.</a:t>
            </a:r>
          </a:p>
          <a:p/>
          <a:p>
            <a:r>
              <a:t>[수정 이유]</a:t>
            </a:r>
          </a:p>
          <a:p>
            <a:r>
              <a:t>후기/리타겟팅/영상이 이미운영중인것처럼표현하지않고 계획으로분리.</a:t>
            </a:r>
          </a:p>
          <a:p/>
          <a:p>
            <a:r>
              <a:t>[근거]</a:t>
            </a:r>
          </a:p>
          <a:p>
            <a:r>
              <a:t>L18 | 18강 캠페인·채널</a:t>
            </a:r>
          </a:p>
          <a:p>
            <a:r>
              <a:t>상태: 사용자 첨부 강의자료의 개념</a:t>
            </a:r>
          </a:p>
          <a:p>
            <a:r>
              <a:t>URL: </a:t>
            </a:r>
          </a:p>
          <a:p>
            <a:r>
              <a:t>범위: 설계 프레임만 지지. 고객 행동·시장효과 실증 근거 아님.</a:t>
            </a:r>
          </a:p>
          <a:p>
            <a:r>
              <a:t>I10 | GA4 계획·미수집</a:t>
            </a:r>
          </a:p>
          <a:p>
            <a:r>
              <a:t>상태: 코드 원문 확인</a:t>
            </a:r>
          </a:p>
          <a:p>
            <a:r>
              <a:t>URL: https://github.com/Jeong-HaEun/new_project_1021/blob/ba055b92a147b579859adee3a9ef24f47d4b0d54/docs/analytics-plan.md</a:t>
            </a:r>
          </a:p>
          <a:p>
            <a:r>
              <a:t>범위: 코드 스냅샷만 확인. 실서버 상태·사업 성과 입증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27 / 실행 계획</a:t>
            </a:r>
          </a:p>
          <a:p>
            <a:r>
              <a:t>[검토 후 제목] 광고 소재는 문제 하나와 결과물 하나로 설명합니다</a:t>
            </a:r>
          </a:p>
          <a:p>
            <a:r>
              <a:t>[발표/검토 메모]</a:t>
            </a:r>
          </a:p>
          <a:p>
            <a:r>
              <a:t>경력우대33.1%가엑셀가능자공고나이문구의효과를뒷받침하지않습니다.광고카피는설계가설이며검증한채용공고인용이아닙니다.</a:t>
            </a:r>
          </a:p>
          <a:p/>
          <a:p>
            <a:r>
              <a:t>[수정 이유]</a:t>
            </a:r>
          </a:p>
          <a:p>
            <a:r>
              <a:t>공고따옴표사실인용처럼보이는표현수정.미제작맛보기CTA 교체.</a:t>
            </a:r>
          </a:p>
          <a:p/>
          <a:p>
            <a:r>
              <a:t>[근거]</a:t>
            </a:r>
          </a:p>
          <a:p>
            <a:r>
              <a:t>I02 | 6개 강의 데이터·가격</a:t>
            </a:r>
          </a:p>
          <a:p>
            <a:r>
              <a:t>상태: 코드 원문 확인</a:t>
            </a:r>
          </a:p>
          <a:p>
            <a:r>
              <a:t>URL: https://github.com/Jeong-HaEun/new_project_1021/blob/ba055b92a147b579859adee3a9ef24f47d4b0d54/src/data/courses/index.js</a:t>
            </a:r>
          </a:p>
          <a:p>
            <a:r>
              <a:t>범위: 코드 스냅샷만 확인. 실서버 상태·사업 성과 입증 아님.</a:t>
            </a:r>
          </a:p>
          <a:p>
            <a:r>
              <a:t>L18 | 18강 캠페인·채널</a:t>
            </a:r>
          </a:p>
          <a:p>
            <a:r>
              <a:t>상태: 사용자 첨부 강의자료의 개념</a:t>
            </a:r>
          </a:p>
          <a:p>
            <a:r>
              <a:t>URL: </a:t>
            </a:r>
          </a:p>
          <a:p>
            <a:r>
              <a:t>범위: 설계 프레임만 지지. 고객 행동·시장효과 실증 근거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28 / 측정 계획</a:t>
            </a:r>
          </a:p>
          <a:p>
            <a:r>
              <a:t>[검토 후 제목] 주간 완성 체크는 가치 경험을 추정하는 후보 지표입니다</a:t>
            </a:r>
          </a:p>
          <a:p>
            <a:r>
              <a:t>[발표/검토 메모]</a:t>
            </a:r>
          </a:p>
          <a:p>
            <a:r>
              <a:t>체크취소·재체크를반복해성과가늘지않게사용자-강의쌍을중복제거합니다.특정주신규완성건수를보려면취소로삭제되지않는이벤트이력이별도로필요합니다.구매한모든사람이가치를못받았다는일반화도피합니다.</a:t>
            </a:r>
          </a:p>
          <a:p/>
          <a:p>
            <a:r>
              <a:t>[수정 이유]</a:t>
            </a:r>
          </a:p>
          <a:p>
            <a:r>
              <a:t>결과물완성수와체크횟수혼용수정.노스스타는후보·프록시로명시.</a:t>
            </a:r>
          </a:p>
          <a:p/>
          <a:p>
            <a:r>
              <a:t>[근거]</a:t>
            </a:r>
          </a:p>
          <a:p>
            <a:r>
              <a:t>L19 | 19강 KPI·측정</a:t>
            </a:r>
          </a:p>
          <a:p>
            <a:r>
              <a:t>상태: 사용자 첨부 강의자료의 개념</a:t>
            </a:r>
          </a:p>
          <a:p>
            <a:r>
              <a:t>URL: </a:t>
            </a:r>
          </a:p>
          <a:p>
            <a:r>
              <a:t>범위: 설계 프레임만 지지. 고객 행동·시장효과 실증 근거 아님.</a:t>
            </a:r>
          </a:p>
          <a:p>
            <a:r>
              <a:t>I06 | 서버 연결 완료 기록</a:t>
            </a:r>
          </a:p>
          <a:p>
            <a:r>
              <a:t>상태: 코드 원문 확인</a:t>
            </a:r>
          </a:p>
          <a:p>
            <a:r>
              <a:t>URL: https://github.com/Jeong-HaEun/new_project_1021/blob/ba055b92a147b579859adee3a9ef24f47d4b0d54/CHANGELOG.md</a:t>
            </a:r>
          </a:p>
          <a:p>
            <a:r>
              <a:t>범위: 코드 스냅샷만 확인. 실서버 상태·사업 성과 입증 아님.</a:t>
            </a:r>
          </a:p>
          <a:p>
            <a:r>
              <a:t>I10 | GA4 계획·미수집</a:t>
            </a:r>
          </a:p>
          <a:p>
            <a:r>
              <a:t>상태: 코드 원문 확인</a:t>
            </a:r>
          </a:p>
          <a:p>
            <a:r>
              <a:t>URL: https://github.com/Jeong-HaEun/new_project_1021/blob/ba055b92a147b579859adee3a9ef24f47d4b0d54/docs/analytics-plan.md</a:t>
            </a:r>
          </a:p>
          <a:p>
            <a:r>
              <a:t>범위: 코드 스냅샷만 확인. 실서버 상태·사업 성과 입증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29 / 측정 계획</a:t>
            </a:r>
          </a:p>
          <a:p>
            <a:r>
              <a:t>[검토 후 제목] 같은 단위와 기간으로 KPI 트리를 분해합니다</a:t>
            </a:r>
          </a:p>
          <a:p>
            <a:r>
              <a:t>[발표/검토 메모]</a:t>
            </a:r>
          </a:p>
          <a:p>
            <a:r>
              <a:t>신청한수강생수×강의완성률은사람과사람-강의쌍의단위가달라성립하지않을수있습니다.두인자는같은모집단·기간으로정의합니다.현재차시재생데이터가없으므로완주율은미측정입니다.</a:t>
            </a:r>
          </a:p>
          <a:p/>
          <a:p>
            <a:r>
              <a:t>[수정 이유]</a:t>
            </a:r>
          </a:p>
          <a:p>
            <a:r>
              <a:t>곱셈식의집계단위불일치수정.완주율이이미측정된것처럼표현하지않음.</a:t>
            </a:r>
          </a:p>
          <a:p/>
          <a:p>
            <a:r>
              <a:t>[근거]</a:t>
            </a:r>
          </a:p>
          <a:p>
            <a:r>
              <a:t>L19 | 19강 KPI·측정</a:t>
            </a:r>
          </a:p>
          <a:p>
            <a:r>
              <a:t>상태: 사용자 첨부 강의자료의 개념</a:t>
            </a:r>
          </a:p>
          <a:p>
            <a:r>
              <a:t>URL: </a:t>
            </a:r>
          </a:p>
          <a:p>
            <a:r>
              <a:t>범위: 설계 프레임만 지지. 고객 행동·시장효과 실증 근거 아님.</a:t>
            </a:r>
          </a:p>
          <a:p>
            <a:r>
              <a:t>I06 | 서버 연결 완료 기록</a:t>
            </a:r>
          </a:p>
          <a:p>
            <a:r>
              <a:t>상태: 코드 원문 확인</a:t>
            </a:r>
          </a:p>
          <a:p>
            <a:r>
              <a:t>URL: https://github.com/Jeong-HaEun/new_project_1021/blob/ba055b92a147b579859adee3a9ef24f47d4b0d54/CHANGELOG.md</a:t>
            </a:r>
          </a:p>
          <a:p>
            <a:r>
              <a:t>범위: 코드 스냅샷만 확인. 실서버 상태·사업 성과 입증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30 / 측정 계획</a:t>
            </a:r>
          </a:p>
          <a:p>
            <a:r>
              <a:t>[검토 후 제목] 이벤트는 구현 상태와 수집 상태를 구분합니다</a:t>
            </a:r>
          </a:p>
          <a:p>
            <a:r>
              <a:t>[발표/검토 메모]</a:t>
            </a:r>
          </a:p>
          <a:p>
            <a:r>
              <a:t>현재analytics-plan은상세까지만구현됐다는옛상태를포함합니다.장바구니/주문은코드에있지만실결제없으므로purchase수익실적으로보내지않습니다.완성체크취소이벤트도정의해야상태를해석할수있습니다.</a:t>
            </a:r>
          </a:p>
          <a:p/>
          <a:p>
            <a:r>
              <a:t>[수정 이유]</a:t>
            </a:r>
          </a:p>
          <a:p>
            <a:r>
              <a:t>현재문서의오래된범위지적.체크/취소와수집활성상태분리.</a:t>
            </a:r>
          </a:p>
          <a:p/>
          <a:p>
            <a:r>
              <a:t>[근거]</a:t>
            </a:r>
          </a:p>
          <a:p>
            <a:r>
              <a:t>I10 | GA4 계획·미수집</a:t>
            </a:r>
          </a:p>
          <a:p>
            <a:r>
              <a:t>상태: 코드 원문 확인</a:t>
            </a:r>
          </a:p>
          <a:p>
            <a:r>
              <a:t>URL: https://github.com/Jeong-HaEun/new_project_1021/blob/ba055b92a147b579859adee3a9ef24f47d4b0d54/docs/analytics-plan.md</a:t>
            </a:r>
          </a:p>
          <a:p>
            <a:r>
              <a:t>범위: 코드 스냅샷만 확인. 실서버 상태·사업 성과 입증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31 / 바이브 코딩</a:t>
            </a:r>
          </a:p>
          <a:p>
            <a:r>
              <a:t>[검토 후 제목] 구현량보다 재현 가능한 검증을 남겼습니다</a:t>
            </a:r>
          </a:p>
          <a:p>
            <a:r>
              <a:t>[발표/검토 메모]</a:t>
            </a:r>
          </a:p>
          <a:p>
            <a:r>
              <a:t>09:35~15:19는커밋시각범위이며실제투입시간이아닙니다.원고17개는과거기준입니다.Adporter 원본HEAD189707e의90커밋은확인했으나PR40개는API원격기록미확인입니다.커밋/테스트개수는제품가치나무결성의증거가아닙니다.</a:t>
            </a:r>
          </a:p>
          <a:p/>
          <a:p>
            <a:r>
              <a:t>[수정 이유]</a:t>
            </a:r>
          </a:p>
          <a:p>
            <a:r>
              <a:t>19개로시점갱신.실제노동시간오인방지.PR40개등미확인성과숫자보류.</a:t>
            </a:r>
          </a:p>
          <a:p/>
          <a:p>
            <a:r>
              <a:t>[근거]</a:t>
            </a:r>
          </a:p>
          <a:p>
            <a:r>
              <a:t>I11 | 테스트·빌드·검토 실행</a:t>
            </a:r>
          </a:p>
          <a:p>
            <a:r>
              <a:t>상태: 코드 원문 확인 / 테스트·빌드 직접 실행</a:t>
            </a:r>
          </a:p>
          <a:p>
            <a:r>
              <a:t>URL: https://github.com/Jeong-HaEun/new_project_1021/blob/ba055b92a147b579859adee3a9ef24f47d4b0d54/package.json</a:t>
            </a:r>
          </a:p>
          <a:p>
            <a:r>
              <a:t>범위: 코드 스냅샷만 확인. 실서버 상태·사업 성과 입증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32 / 바이브 코딩</a:t>
            </a:r>
          </a:p>
          <a:p>
            <a:r>
              <a:t>[검토 후 제목] AI 작업 지시도 목적과 제약이 있는 브리프였습니다</a:t>
            </a:r>
          </a:p>
          <a:p>
            <a:r>
              <a:t>[발표/검토 메모]</a:t>
            </a:r>
          </a:p>
          <a:p>
            <a:r>
              <a:t>규칙문서존재는확인했습니다.문서작성전후품질이나작업시간차이는측정하지않았으므로개선율을주장하지않습니다.개인느낀점은본인표현으로추가하세요.</a:t>
            </a:r>
          </a:p>
          <a:p/>
          <a:p>
            <a:r>
              <a:t>[수정 이유]</a:t>
            </a:r>
          </a:p>
          <a:p>
            <a:r>
              <a:t>브리프의인과효과를측정결과처럼말하지않음.느낀점직접작성.</a:t>
            </a:r>
          </a:p>
          <a:p/>
          <a:p>
            <a:r>
              <a:t>[근거]</a:t>
            </a:r>
          </a:p>
          <a:p>
            <a:r>
              <a:t>I01 | 제품 원칙·범위</a:t>
            </a:r>
          </a:p>
          <a:p>
            <a:r>
              <a:t>상태: 코드 원문 확인</a:t>
            </a:r>
          </a:p>
          <a:p>
            <a:r>
              <a:t>URL: https://github.com/Jeong-HaEun/new_project_1021/blob/ba055b92a147b579859adee3a9ef24f47d4b0d54/CLAUDE.md</a:t>
            </a:r>
          </a:p>
          <a:p>
            <a:r>
              <a:t>범위: 코드 스냅샷만 확인. 실서버 상태·사업 성과 입증 아님.</a:t>
            </a:r>
          </a:p>
          <a:p>
            <a:r>
              <a:t>L17 | 17강 캠페인 컨셉</a:t>
            </a:r>
          </a:p>
          <a:p>
            <a:r>
              <a:t>상태: 사용자 첨부 강의자료의 개념</a:t>
            </a:r>
          </a:p>
          <a:p>
            <a:r>
              <a:t>URL: </a:t>
            </a:r>
          </a:p>
          <a:p>
            <a:r>
              <a:t>범위: 설계 프레임만 지지. 고객 행동·시장효과 실증 근거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33 / 바이브 코딩</a:t>
            </a:r>
          </a:p>
          <a:p>
            <a:r>
              <a:t>[검토 후 제목] 테스트는 무엇을 성공으로 볼지 미리 정하는 도구였습니다</a:t>
            </a:r>
          </a:p>
          <a:p>
            <a:r>
              <a:t>[발표/검토 메모]</a:t>
            </a:r>
          </a:p>
          <a:p>
            <a:r>
              <a:t>테스트파일과커밋메시지만으로모든기능에서엄격한red-green-refactor 순서를증명할수없습니다.TDD를기능별로전부확정하기보다성공조건을명시한실무경험으로설명하세요.</a:t>
            </a:r>
          </a:p>
          <a:p/>
          <a:p>
            <a:r>
              <a:t>[수정 이유]</a:t>
            </a:r>
          </a:p>
          <a:p>
            <a:r>
              <a:t>모든로직을테스트부터썼다는전면단정완화.테스트수=완성도 아님.</a:t>
            </a:r>
          </a:p>
          <a:p/>
          <a:p>
            <a:r>
              <a:t>[근거]</a:t>
            </a:r>
          </a:p>
          <a:p>
            <a:r>
              <a:t>I11 | 테스트·빌드·검토 실행</a:t>
            </a:r>
          </a:p>
          <a:p>
            <a:r>
              <a:t>상태: 코드 원문 확인 / 테스트·빌드 직접 실행</a:t>
            </a:r>
          </a:p>
          <a:p>
            <a:r>
              <a:t>URL: https://github.com/Jeong-HaEun/new_project_1021/blob/ba055b92a147b579859adee3a9ef24f47d4b0d54/package.json</a:t>
            </a:r>
          </a:p>
          <a:p>
            <a:r>
              <a:t>범위: 코드 스냅샷만 확인. 실서버 상태·사업 성과 입증 아님.</a:t>
            </a:r>
          </a:p>
          <a:p>
            <a:r>
              <a:t>L15 | 15강 퍼널·AARRR·그로스</a:t>
            </a:r>
          </a:p>
          <a:p>
            <a:r>
              <a:t>상태: 사용자 첨부 강의자료의 개념</a:t>
            </a:r>
          </a:p>
          <a:p>
            <a:r>
              <a:t>URL: </a:t>
            </a:r>
          </a:p>
          <a:p>
            <a:r>
              <a:t>범위: 설계 프레임만 지지. 고객 행동·시장효과 실증 근거 아님.</a:t>
            </a:r>
          </a:p>
          <a:p>
            <a:r>
              <a:t>L19 | 19강 KPI·측정</a:t>
            </a:r>
          </a:p>
          <a:p>
            <a:r>
              <a:t>상태: 사용자 첨부 강의자료의 개념</a:t>
            </a:r>
          </a:p>
          <a:p>
            <a:r>
              <a:t>URL: </a:t>
            </a:r>
          </a:p>
          <a:p>
            <a:r>
              <a:t>범위: 설계 프레임만 지지. 고객 행동·시장효과 실증 근거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34 / 바이브 코딩</a:t>
            </a:r>
          </a:p>
          <a:p>
            <a:r>
              <a:t>[검토 후 제목] AI 시안을 그대로 쓰지 않고 제품의 약속과 맞췄습니다</a:t>
            </a:r>
          </a:p>
          <a:p>
            <a:r>
              <a:t>[발표/검토 메모]</a:t>
            </a:r>
          </a:p>
          <a:p>
            <a:r>
              <a:t>삭제표는지침으로확인됩니다.실제모든과거이미지를발표에넣을때실존개인/브랜드와가짜숫자에대한출처·가림처리를확인하세요.</a:t>
            </a:r>
          </a:p>
          <a:p/>
          <a:p>
            <a:r>
              <a:t>[수정 이유]</a:t>
            </a:r>
          </a:p>
          <a:p>
            <a:r>
              <a:t>시안수정의미를구체화하되검증되지않은비교효과주장금지.</a:t>
            </a:r>
          </a:p>
          <a:p/>
          <a:p>
            <a:r>
              <a:t>[근거]</a:t>
            </a:r>
          </a:p>
          <a:p>
            <a:r>
              <a:t>I03 | 디자인·삭제 원칙</a:t>
            </a:r>
          </a:p>
          <a:p>
            <a:r>
              <a:t>상태: 코드 원문 확인</a:t>
            </a:r>
          </a:p>
          <a:p>
            <a:r>
              <a:t>URL: https://github.com/Jeong-HaEun/new_project_1021/blob/ba055b92a147b579859adee3a9ef24f47d4b0d54/DESIGN.md</a:t>
            </a:r>
          </a:p>
          <a:p>
            <a:r>
              <a:t>범위: 코드 스냅샷만 확인. 실서버 상태·사업 성과 입증 아님.</a:t>
            </a:r>
          </a:p>
          <a:p>
            <a:r>
              <a:t>L12 | 12강 전략 프레임·시장 분석</a:t>
            </a:r>
          </a:p>
          <a:p>
            <a:r>
              <a:t>상태: 사용자 첨부 강의자료의 개념</a:t>
            </a:r>
          </a:p>
          <a:p>
            <a:r>
              <a:t>URL: </a:t>
            </a:r>
          </a:p>
          <a:p>
            <a:r>
              <a:t>범위: 설계 프레임만 지지. 고객 행동·시장효과 실증 근거 아님.</a:t>
            </a:r>
          </a:p>
          <a:p>
            <a:r>
              <a:t>L18 | 18강 캠페인·채널</a:t>
            </a:r>
          </a:p>
          <a:p>
            <a:r>
              <a:t>상태: 사용자 첨부 강의자료의 개념</a:t>
            </a:r>
          </a:p>
          <a:p>
            <a:r>
              <a:t>URL: </a:t>
            </a:r>
          </a:p>
          <a:p>
            <a:r>
              <a:t>범위: 설계 프레임만 지지. 고객 행동·시장효과 실증 근거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35 / 바이브 코딩</a:t>
            </a:r>
          </a:p>
          <a:p>
            <a:r>
              <a:t>[검토 후 제목] 여러 AI 세션에는 역할과 변경 권한을 나눠야 했습니다</a:t>
            </a:r>
          </a:p>
          <a:p>
            <a:r>
              <a:t>[발표/검토 메모]</a:t>
            </a:r>
          </a:p>
          <a:p>
            <a:r>
              <a:t>7c04576의협업규칙추가는Git기록에서확인했습니다.모든충돌의원인을특정세션탓으로확정하지않습니다.공유인증프로젝트도프로젝트간설정영향을검토해야합니다.</a:t>
            </a:r>
          </a:p>
          <a:p/>
          <a:p>
            <a:r>
              <a:t>[수정 이유]</a:t>
            </a:r>
          </a:p>
          <a:p>
            <a:r>
              <a:t>충돌인과의단정피하고관측된보고/규칙커밋으로한정.</a:t>
            </a:r>
          </a:p>
          <a:p/>
          <a:p>
            <a:r>
              <a:t>[근거]</a:t>
            </a:r>
          </a:p>
          <a:p>
            <a:r>
              <a:t>I12 | 다중 세션 협업 규칙 커밋</a:t>
            </a:r>
          </a:p>
          <a:p>
            <a:r>
              <a:t>상태: 코드 원문 확인</a:t>
            </a:r>
          </a:p>
          <a:p>
            <a:r>
              <a:t>URL: https://github.com/Jeong-HaEun/new_project_1021/commit/7c04576</a:t>
            </a:r>
          </a:p>
          <a:p>
            <a:r>
              <a:t>범위: 코드 스냅샷만 확인. 실서버 상태·사업 성과 입증 아님.</a:t>
            </a:r>
          </a:p>
          <a:p>
            <a:r>
              <a:t>L16 | 16강 고객여정맵</a:t>
            </a:r>
          </a:p>
          <a:p>
            <a:r>
              <a:t>상태: 사용자 첨부 강의자료의 개념</a:t>
            </a:r>
          </a:p>
          <a:p>
            <a:r>
              <a:t>URL: </a:t>
            </a:r>
          </a:p>
          <a:p>
            <a:r>
              <a:t>범위: 설계 프레임만 지지. 고객 행동·시장효과 실증 근거 아님.</a:t>
            </a:r>
          </a:p>
          <a:p>
            <a:r>
              <a:t>L19 | 19강 KPI·측정</a:t>
            </a:r>
          </a:p>
          <a:p>
            <a:r>
              <a:t>상태: 사용자 첨부 강의자료의 개념</a:t>
            </a:r>
          </a:p>
          <a:p>
            <a:r>
              <a:t>URL: </a:t>
            </a:r>
          </a:p>
          <a:p>
            <a:r>
              <a:t>범위: 설계 프레임만 지지. 고객 행동·시장효과 실증 근거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36 / 바이브 코딩</a:t>
            </a:r>
          </a:p>
          <a:p>
            <a:r>
              <a:t>[검토 후 제목] 작업을 나누고 검증한 뒤 다음 단계로 갔습니다</a:t>
            </a:r>
          </a:p>
          <a:p>
            <a:r>
              <a:t>[발표/검토 메모]</a:t>
            </a:r>
          </a:p>
          <a:p>
            <a:r>
              <a:t>Adporter의90커밋은실재원본저장소에서확인했으나40PR와18문서의완료수준은별도검증대상입니다.반복횟수보다실패·수정의구체사례하나를본인이보충하세요.</a:t>
            </a:r>
          </a:p>
          <a:p/>
          <a:p>
            <a:r>
              <a:t>[수정 이유]</a:t>
            </a:r>
          </a:p>
          <a:p>
            <a:r>
              <a:t>PR40번과17커밋반복의정확성보류.재현가능한과정에집중.</a:t>
            </a:r>
          </a:p>
          <a:p/>
          <a:p>
            <a:r>
              <a:t>[근거]</a:t>
            </a:r>
          </a:p>
          <a:p>
            <a:r>
              <a:t>I11 | 테스트·빌드·검토 실행</a:t>
            </a:r>
          </a:p>
          <a:p>
            <a:r>
              <a:t>상태: 코드 원문 확인 / 테스트·빌드 직접 실행</a:t>
            </a:r>
          </a:p>
          <a:p>
            <a:r>
              <a:t>URL: https://github.com/Jeong-HaEun/new_project_1021/blob/ba055b92a147b579859adee3a9ef24f47d4b0d54/package.json</a:t>
            </a:r>
          </a:p>
          <a:p>
            <a:r>
              <a:t>범위: 코드 스냅샷만 확인. 실서버 상태·사업 성과 입증 아님.</a:t>
            </a:r>
          </a:p>
          <a:p>
            <a:r>
              <a:t>L15 | 15강 퍼널·AARRR·그로스</a:t>
            </a:r>
          </a:p>
          <a:p>
            <a:r>
              <a:t>상태: 사용자 첨부 강의자료의 개념</a:t>
            </a:r>
          </a:p>
          <a:p>
            <a:r>
              <a:t>URL: </a:t>
            </a:r>
          </a:p>
          <a:p>
            <a:r>
              <a:t>범위: 설계 프레임만 지지. 고객 행동·시장효과 실증 근거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37 / 마무리</a:t>
            </a:r>
          </a:p>
          <a:p>
            <a:r>
              <a:t>[검토 후 제목] 무료 대안·가격·운영 준비에 먼저 답하겠습니다</a:t>
            </a:r>
          </a:p>
          <a:p>
            <a:r>
              <a:t>[발표/검토 메모]</a:t>
            </a:r>
          </a:p>
          <a:p>
            <a:r>
              <a:t>서버연결완료는변경기록을근거로말합니다.현재본인계정으로재검증하지않았다고구분하세요.다른프로젝트와Supabase공유는코드·설정문서로확인됐습니다.검증되지않은무료서비스비교·수익성수치를꾸미지않습니다.</a:t>
            </a:r>
          </a:p>
          <a:p/>
          <a:p>
            <a:r>
              <a:t>[수정 이유]</a:t>
            </a:r>
          </a:p>
          <a:p>
            <a:r>
              <a:t>전용Supabase연결대기삭제.손익값미확정 유지.</a:t>
            </a:r>
          </a:p>
          <a:p/>
          <a:p>
            <a:r>
              <a:t>[근거]</a:t>
            </a:r>
          </a:p>
          <a:p>
            <a:r>
              <a:t>I01 | 제품 원칙·범위</a:t>
            </a:r>
          </a:p>
          <a:p>
            <a:r>
              <a:t>상태: 코드 원문 확인</a:t>
            </a:r>
          </a:p>
          <a:p>
            <a:r>
              <a:t>URL: https://github.com/Jeong-HaEun/new_project_1021/blob/ba055b92a147b579859adee3a9ef24f47d4b0d54/CLAUDE.md</a:t>
            </a:r>
          </a:p>
          <a:p>
            <a:r>
              <a:t>범위: 코드 스냅샷만 확인. 실서버 상태·사업 성과 입증 아님.</a:t>
            </a:r>
          </a:p>
          <a:p>
            <a:r>
              <a:t>I06 | 서버 연결 완료 기록</a:t>
            </a:r>
          </a:p>
          <a:p>
            <a:r>
              <a:t>상태: 코드 원문 확인</a:t>
            </a:r>
          </a:p>
          <a:p>
            <a:r>
              <a:t>URL: https://github.com/Jeong-HaEun/new_project_1021/blob/ba055b92a147b579859adee3a9ef24f47d4b0d54/CHANGELOG.md</a:t>
            </a:r>
          </a:p>
          <a:p>
            <a:r>
              <a:t>범위: 코드 스냅샷만 확인. 실서버 상태·사업 성과 입증 아님.</a:t>
            </a:r>
          </a:p>
          <a:p>
            <a:r>
              <a:t>I07 | 7개 페이지·동선</a:t>
            </a:r>
          </a:p>
          <a:p>
            <a:r>
              <a:t>상태: 코드 원문 확인</a:t>
            </a:r>
          </a:p>
          <a:p>
            <a:r>
              <a:t>URL: https://github.com/Jeong-HaEun/new_project_1021/blob/ba055b92a147b579859adee3a9ef24f47d4b0d54/SPEC.md</a:t>
            </a:r>
          </a:p>
          <a:p>
            <a:r>
              <a:t>범위: 코드 스냅샷만 확인. 실서버 상태·사업 성과 입증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38 / 마무리</a:t>
            </a:r>
          </a:p>
          <a:p>
            <a:r>
              <a:t>[검토 후 제목] 가격·사용자·학습 효과는 아직 검증하지 못했습니다</a:t>
            </a:r>
          </a:p>
          <a:p>
            <a:r>
              <a:t>[발표/검토 메모]</a:t>
            </a:r>
          </a:p>
          <a:p>
            <a:r>
              <a:t>맛보기시청률·구매율로효과검증하려면실제콘텐츠와정의된모집단이먼저필요합니다.현재데모신청을실제구매율로바꾸어말하지않습니다.</a:t>
            </a:r>
          </a:p>
          <a:p/>
          <a:p>
            <a:r>
              <a:t>[수정 이유]</a:t>
            </a:r>
          </a:p>
          <a:p>
            <a:r>
              <a:t>구현검증과사업/학습가설검증을분리.</a:t>
            </a:r>
          </a:p>
          <a:p/>
          <a:p>
            <a:r>
              <a:t>[근거]</a:t>
            </a:r>
          </a:p>
          <a:p>
            <a:r>
              <a:t>I01 | 제품 원칙·범위</a:t>
            </a:r>
          </a:p>
          <a:p>
            <a:r>
              <a:t>상태: 코드 원문 확인</a:t>
            </a:r>
          </a:p>
          <a:p>
            <a:r>
              <a:t>URL: https://github.com/Jeong-HaEun/new_project_1021/blob/ba055b92a147b579859adee3a9ef24f47d4b0d54/CLAUDE.md</a:t>
            </a:r>
          </a:p>
          <a:p>
            <a:r>
              <a:t>범위: 코드 스냅샷만 확인. 실서버 상태·사업 성과 입증 아님.</a:t>
            </a:r>
          </a:p>
          <a:p>
            <a:r>
              <a:t>S10 | 전자상거래법 제17조</a:t>
            </a:r>
          </a:p>
          <a:p>
            <a:r>
              <a:t>상태: 원문 미검증 / 접근 차단</a:t>
            </a:r>
          </a:p>
          <a:p>
            <a:r>
              <a:t>URL: https://www.law.go.kr/법령/전자상거래등에서의소비자보호에관한법률/제17조</a:t>
            </a:r>
          </a:p>
          <a:p>
            <a:r>
              <a:t>범위: 원고 제시 또는 확인 후보. 현재 수치를 재검증하지 못함.</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39 / 마무리</a:t>
            </a:r>
          </a:p>
          <a:p>
            <a:r>
              <a:t>[검토 후 제목] 다음은 강의 제작과 사용자 관찰, 측정 연결입니다</a:t>
            </a:r>
          </a:p>
          <a:p>
            <a:r>
              <a:t>[발표/검토 메모]</a:t>
            </a:r>
          </a:p>
          <a:p>
            <a:r>
              <a:t>서류도우미는프롬프트생성→복사→본인Gemini이동.소셜로그인이Gemini API사용권/과금을전달하지않습니다.G03공식API퀵스타트는API key사용을설명하지만소비자구독약관전체를검증한것은아닙니다.</a:t>
            </a:r>
          </a:p>
          <a:p/>
          <a:p>
            <a:r>
              <a:t>[수정 이유]</a:t>
            </a:r>
          </a:p>
          <a:p>
            <a:r>
              <a:t>이미기록된서버연결을미래할일에서제거.실제판매와데모구분.</a:t>
            </a:r>
          </a:p>
          <a:p/>
          <a:p>
            <a:r>
              <a:t>[근거]</a:t>
            </a:r>
          </a:p>
          <a:p>
            <a:r>
              <a:t>I06 | 서버 연결 완료 기록</a:t>
            </a:r>
          </a:p>
          <a:p>
            <a:r>
              <a:t>상태: 코드 원문 확인</a:t>
            </a:r>
          </a:p>
          <a:p>
            <a:r>
              <a:t>URL: https://github.com/Jeong-HaEun/new_project_1021/blob/ba055b92a147b579859adee3a9ef24f47d4b0d54/CHANGELOG.md</a:t>
            </a:r>
          </a:p>
          <a:p>
            <a:r>
              <a:t>범위: 코드 스냅샷만 확인. 실서버 상태·사업 성과 입증 아님.</a:t>
            </a:r>
          </a:p>
          <a:p>
            <a:r>
              <a:t>I10 | GA4 계획·미수집</a:t>
            </a:r>
          </a:p>
          <a:p>
            <a:r>
              <a:t>상태: 코드 원문 확인</a:t>
            </a:r>
          </a:p>
          <a:p>
            <a:r>
              <a:t>URL: https://github.com/Jeong-HaEun/new_project_1021/blob/ba055b92a147b579859adee3a9ef24f47d4b0d54/docs/analytics-plan.md</a:t>
            </a:r>
          </a:p>
          <a:p>
            <a:r>
              <a:t>범위: 코드 스냅샷만 확인. 실서버 상태·사업 성과 입증 아님.</a:t>
            </a:r>
          </a:p>
          <a:p>
            <a:r>
              <a:t>G03 | Google 공식 Gemini Cookbook</a:t>
            </a:r>
          </a:p>
          <a:p>
            <a:r>
              <a:t>상태: 원문 확인</a:t>
            </a:r>
          </a:p>
          <a:p>
            <a:r>
              <a:t>URL: https://raw.githubusercontent.com/google-gemini/cookbook/main/README.md</a:t>
            </a:r>
          </a:p>
          <a:p>
            <a:r>
              <a:t>범위: 공식 기술문서의 구성·규칙만 지지. 시장·가격·학습효과 근거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40 / 마무리</a:t>
            </a:r>
          </a:p>
          <a:p>
            <a:r>
              <a:t>[검토 후 제목] 한 강의 끝에, 설명할 수 있는 결과물 하나.</a:t>
            </a:r>
          </a:p>
          <a:p>
            <a:r>
              <a:t>[발표/검토 메모]</a:t>
            </a:r>
          </a:p>
          <a:p>
            <a:r>
              <a:t>실제맛보기가없으므로“맛보기를보고피드백”대신현재실행가능한상세이해과제를요청합니다.발표자이름·연락수단은본인이선택한공개정보만추가하세요.</a:t>
            </a:r>
          </a:p>
          <a:p/>
          <a:p>
            <a:r>
              <a:t>[수정 이유]</a:t>
            </a:r>
          </a:p>
          <a:p>
            <a:r>
              <a:t>제작전맛보기피드백요청을현행상세이해도피드백으로교체.</a:t>
            </a:r>
          </a:p>
          <a:p/>
          <a:p>
            <a:r>
              <a:t>[근거]</a:t>
            </a:r>
          </a:p>
          <a:p>
            <a:r>
              <a:t>I01 | 제품 원칙·범위</a:t>
            </a:r>
          </a:p>
          <a:p>
            <a:r>
              <a:t>상태: 코드 원문 확인</a:t>
            </a:r>
          </a:p>
          <a:p>
            <a:r>
              <a:t>URL: https://github.com/Jeong-HaEun/new_project_1021/blob/ba055b92a147b579859adee3a9ef24f47d4b0d54/CLAUDE.md</a:t>
            </a:r>
          </a:p>
          <a:p>
            <a:r>
              <a:t>범위: 코드 스냅샷만 확인. 실서버 상태·사업 성과 입증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A1 / 부록 · 원고 출처</a:t>
            </a:r>
          </a:p>
          <a:p>
            <a:r>
              <a:t>[검토 후 제목] 기사·통계·논문은 원문 재확인이 필요합니다</a:t>
            </a:r>
          </a:p>
          <a:p>
            <a:r>
              <a:t>[발표/검토 메모]</a:t>
            </a:r>
          </a:p>
          <a:p>
            <a:r>
              <a:t>원고의evidence.md와lecture-notes.md는첨부되지않았고공개저장소에도없습니다.원고에“원문확인함”이라고적혔더라도이번검증에서확인한것으로승계하지않습니다.전체URL은source-register.csv 참조.</a:t>
            </a:r>
          </a:p>
          <a:p/>
          <a:p>
            <a:r>
              <a:t>[수정 이유]</a:t>
            </a:r>
          </a:p>
          <a:p>
            <a:r>
              <a:t>출처확인상태를명시.</a:t>
            </a:r>
          </a:p>
          <a:p/>
          <a:p>
            <a:r>
              <a:t>[근거]</a:t>
            </a:r>
          </a:p>
          <a:p>
            <a:r>
              <a:t>S01 | 채용기준·청년 준비방식</a:t>
            </a:r>
          </a:p>
          <a:p>
            <a:r>
              <a:t>상태: 원문 미검증 / 접근 차단</a:t>
            </a:r>
          </a:p>
          <a:p>
            <a:r>
              <a:t>URL: https://www.newsis.com/view/NISX20250521_0003184016</a:t>
            </a:r>
          </a:p>
          <a:p>
            <a:r>
              <a:t>범위: 원고 제시 또는 확인 후보. 현재 수치를 재검증하지 못함.</a:t>
            </a:r>
          </a:p>
          <a:p>
            <a:r>
              <a:t>S10 | 전자상거래법 제17조</a:t>
            </a:r>
          </a:p>
          <a:p>
            <a:r>
              <a:t>상태: 원문 미검증 / 접근 차단</a:t>
            </a:r>
          </a:p>
          <a:p>
            <a:r>
              <a:t>URL: https://www.law.go.kr/법령/전자상거래등에서의소비자보호에관한법률/제17조</a:t>
            </a:r>
          </a:p>
          <a:p>
            <a:r>
              <a:t>범위: 원고 제시 또는 확인 후보. 현재 수치를 재검증하지 못함.</a:t>
            </a:r>
          </a:p>
          <a:p>
            <a:r>
              <a:t>S11 | 마이크로러닝 논문</a:t>
            </a:r>
          </a:p>
          <a:p>
            <a:r>
              <a:t>상태: 원문 미검증 / 접근 차단</a:t>
            </a:r>
          </a:p>
          <a:p>
            <a:r>
              <a:t>URL: https://pmc.ncbi.nlm.nih.gov/articles/PMC11774797/</a:t>
            </a:r>
          </a:p>
          <a:p>
            <a:r>
              <a:t>범위: 원고 제시 또는 확인 후보. 현재 수치를 재검증하지 못함.</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A2 / 부록 · 새 공식 근거</a:t>
            </a:r>
          </a:p>
          <a:p>
            <a:r>
              <a:t>[검토 후 제목] 인증·데이터 권한·배포의 공식 근거를 보강했습니다</a:t>
            </a:r>
          </a:p>
          <a:p>
            <a:r>
              <a:t>[발표/검토 메모]</a:t>
            </a:r>
          </a:p>
          <a:p>
            <a:r>
              <a:t>공식GitHub문서원문을다운로드해확인했습니다.이문서들은시장수요·가격수용성·학습효과를뒷받침하는근거가아닙니다.접근일2026-10-16.수정가능한main/master본문이므로획득한원문을research폴더에보관합니다.</a:t>
            </a:r>
          </a:p>
          <a:p/>
          <a:p>
            <a:r>
              <a:t>[수정 이유]</a:t>
            </a:r>
          </a:p>
          <a:p>
            <a:r>
              <a:t>공식기술문서5개추가.지지하는주장범위를한정.</a:t>
            </a:r>
          </a:p>
          <a:p/>
          <a:p>
            <a:r>
              <a:t>[근거]</a:t>
            </a:r>
          </a:p>
          <a:p>
            <a:r>
              <a:t>G01 | Supabase 공식 문서: Row Level Security</a:t>
            </a:r>
          </a:p>
          <a:p>
            <a:r>
              <a:t>상태: 원문 확인</a:t>
            </a:r>
          </a:p>
          <a:p>
            <a:r>
              <a:t>URL: https://raw.githubusercontent.com/supabase/supabase/master/apps/docs/content/guides/database/postgres/row-level-security.mdx</a:t>
            </a:r>
          </a:p>
          <a:p>
            <a:r>
              <a:t>범위: 공식 기술문서의 구성·규칙만 지지. 시장·가격·학습효과 근거 아님.</a:t>
            </a:r>
          </a:p>
          <a:p>
            <a:r>
              <a:t>G02 | Supabase 공식 문서: Kakao 로그인</a:t>
            </a:r>
          </a:p>
          <a:p>
            <a:r>
              <a:t>상태: 원문 확인</a:t>
            </a:r>
          </a:p>
          <a:p>
            <a:r>
              <a:t>URL: https://raw.githubusercontent.com/supabase/supabase/master/apps/docs/content/guides/auth/social-login/auth-kakao.mdx</a:t>
            </a:r>
          </a:p>
          <a:p>
            <a:r>
              <a:t>범위: 공식 기술문서의 구성·규칙만 지지. 시장·가격·학습효과 근거 아님.</a:t>
            </a:r>
          </a:p>
          <a:p>
            <a:r>
              <a:t>G03 | Google 공식 Gemini Cookbook</a:t>
            </a:r>
          </a:p>
          <a:p>
            <a:r>
              <a:t>상태: 원문 확인</a:t>
            </a:r>
          </a:p>
          <a:p>
            <a:r>
              <a:t>URL: https://raw.githubusercontent.com/google-gemini/cookbook/main/README.md</a:t>
            </a:r>
          </a:p>
          <a:p>
            <a:r>
              <a:t>범위: 공식 기술문서의 구성·규칙만 지지. 시장·가격·학습효과 근거 아님.</a:t>
            </a:r>
          </a:p>
          <a:p>
            <a:r>
              <a:t>G04 | GitHub 공식 Pages 문서</a:t>
            </a:r>
          </a:p>
          <a:p>
            <a:r>
              <a:t>상태: 원문 확인</a:t>
            </a:r>
          </a:p>
          <a:p>
            <a:r>
              <a:t>URL: https://raw.githubusercontent.com/github/docs/main/content/pages/getting-started-with-github-pages/what-is-github-pages.md</a:t>
            </a:r>
          </a:p>
          <a:p>
            <a:r>
              <a:t>범위: 공식 기술문서의 구성·규칙만 지지. 시장·가격·학습효과 근거 아님.</a:t>
            </a:r>
          </a:p>
          <a:p>
            <a:r>
              <a:t>G05 | GoogleChrome 공식 web-vitals 라이브러리 문서</a:t>
            </a:r>
          </a:p>
          <a:p>
            <a:r>
              <a:t>상태: 원문 확인</a:t>
            </a:r>
          </a:p>
          <a:p>
            <a:r>
              <a:t>URL: https://raw.githubusercontent.com/GoogleChrome/web-vitals/main/README.md</a:t>
            </a:r>
          </a:p>
          <a:p>
            <a:r>
              <a:t>범위: 공식 기술문서의 구성·규칙만 지지. 시장·가격·학습효과 근거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B / 부록 · 숫자 사용</a:t>
            </a:r>
          </a:p>
          <a:p>
            <a:r>
              <a:t>[검토 후 제목] 분모·기간·단위를 맞추지 않으면 그래프가 오해를 만듭니다</a:t>
            </a:r>
          </a:p>
          <a:p>
            <a:r>
              <a:t>[발표/검토 메모]</a:t>
            </a:r>
          </a:p>
          <a:p>
            <a:r>
              <a:t>제거한숫자는틀렸다고확정한것이아니라원문을현재검증하지못했다는뜻입니다.원본표·설문문항·표본·조사일을받으면복원여부를판단할수있습니다.</a:t>
            </a:r>
          </a:p>
          <a:p/>
          <a:p>
            <a:r>
              <a:t>[수정 이유]</a:t>
            </a:r>
          </a:p>
          <a:p>
            <a:r>
              <a:t>숫자판단기준통합.</a:t>
            </a:r>
          </a:p>
          <a:p/>
          <a:p>
            <a:r>
              <a:t>[근거]</a:t>
            </a:r>
          </a:p>
          <a:p>
            <a:r>
              <a:t>S01 | 채용기준·청년 준비방식</a:t>
            </a:r>
          </a:p>
          <a:p>
            <a:r>
              <a:t>상태: 원문 미검증 / 접근 차단</a:t>
            </a:r>
          </a:p>
          <a:p>
            <a:r>
              <a:t>URL: https://www.newsis.com/view/NISX20250521_0003184016</a:t>
            </a:r>
          </a:p>
          <a:p>
            <a:r>
              <a:t>범위: 원고 제시 또는 확인 후보. 현재 수치를 재검증하지 못함.</a:t>
            </a:r>
          </a:p>
          <a:p>
            <a:r>
              <a:t>S05 | 취업 사교육비</a:t>
            </a:r>
          </a:p>
          <a:p>
            <a:r>
              <a:t>상태: 원문 미검증 / 접근 차단</a:t>
            </a:r>
          </a:p>
          <a:p>
            <a:r>
              <a:t>URL: https://www.newsis.com/view/NISX20260609_0003661665</a:t>
            </a:r>
          </a:p>
          <a:p>
            <a:r>
              <a:t>범위: 원고 제시 또는 확인 후보. 현재 수치를 재검증하지 못함.</a:t>
            </a:r>
          </a:p>
          <a:p>
            <a:r>
              <a:t>S06 | 월 취업 준비비</a:t>
            </a:r>
          </a:p>
          <a:p>
            <a:r>
              <a:t>상태: 원문 미검증 / 접근 차단</a:t>
            </a:r>
          </a:p>
          <a:p>
            <a:r>
              <a:t>URL: https://www.newsis.com/view/NISX20251018_0003367696</a:t>
            </a:r>
          </a:p>
          <a:p>
            <a:r>
              <a:t>범위: 원고 제시 또는 확인 후보. 현재 수치를 재검증하지 못함.</a:t>
            </a:r>
          </a:p>
          <a:p>
            <a:r>
              <a:t>S07 | 청년층 부가조사</a:t>
            </a:r>
          </a:p>
          <a:p>
            <a:r>
              <a:t>상태: 원문 미검증 / 접근 차단</a:t>
            </a:r>
          </a:p>
          <a:p>
            <a:r>
              <a:t>URL: https://www.newsis.com/view/NISX20260723_0003720080</a:t>
            </a:r>
          </a:p>
          <a:p>
            <a:r>
              <a:t>범위: 원고 제시 또는 확인 후보. 현재 수치를 재검증하지 못함.</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C / 부록 · 발표 준비</a:t>
            </a:r>
          </a:p>
          <a:p>
            <a:r>
              <a:t>[검토 후 제목] 발표 전에는 상태·근거·시연을 다시 고정합니다</a:t>
            </a:r>
          </a:p>
          <a:p>
            <a:r>
              <a:t>[발표/검토 메모]</a:t>
            </a:r>
          </a:p>
          <a:p>
            <a:r>
              <a:t>원고시간배분합계는30분입니다.실제발표속도와시연대기시간은리허설로조정합니다.본편40장과부록5장으로총45장입니다.</a:t>
            </a:r>
          </a:p>
          <a:p/>
          <a:p>
            <a:r>
              <a:t>[수정 이유]</a:t>
            </a:r>
          </a:p>
          <a:p>
            <a:r>
              <a:t>미검증/본인작성/현장점검을구분.</a:t>
            </a:r>
          </a:p>
          <a:p/>
          <a:p>
            <a:r>
              <a:t>[근거]</a:t>
            </a:r>
          </a:p>
          <a:p>
            <a:r>
              <a:t>I11 | 테스트·빌드·검토 실행</a:t>
            </a:r>
          </a:p>
          <a:p>
            <a:r>
              <a:t>상태: 코드 원문 확인 / 테스트·빌드 직접 실행</a:t>
            </a:r>
          </a:p>
          <a:p>
            <a:r>
              <a:t>URL: https://github.com/Jeong-HaEun/new_project_1021/blob/ba055b92a147b579859adee3a9ef24f47d4b0d54/package.json</a:t>
            </a:r>
          </a:p>
          <a:p>
            <a:r>
              <a:t>범위: 코드 스냅샷만 확인. 실서버 상태·사업 성과 입증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[원고 대응] D / 부록 · 확장 실험</a:t>
            </a:r>
          </a:p>
          <a:p>
            <a:r>
              <a:t>[검토 후 제목] 감성형과 정보형 메인은 다음 실험으로 비교할 수 있습니다</a:t>
            </a:r>
          </a:p>
          <a:p>
            <a:r>
              <a:t>[발표/검토 메모]</a:t>
            </a:r>
          </a:p>
          <a:p>
            <a:r>
              <a:t>별도planning/home-ab-v2브랜치의기획시안입니다.main서비스에실제배정·GA4가구현됐다고주장하지않습니다.작은표본에서승자·유의성·매출개선을만들어내지않습니다.</a:t>
            </a:r>
          </a:p>
          <a:p/>
          <a:p>
            <a:r>
              <a:t>[수정 이유]</a:t>
            </a:r>
          </a:p>
          <a:p>
            <a:r>
              <a:t>기존본편에없던A/B기획은선택부록으로분리.</a:t>
            </a:r>
          </a:p>
          <a:p/>
          <a:p>
            <a:r>
              <a:t>[근거]</a:t>
            </a:r>
          </a:p>
          <a:p>
            <a:r>
              <a:t>P01 | 감성형·정보형 A/B 기획 시안</a:t>
            </a:r>
          </a:p>
          <a:p>
            <a:r>
              <a:t>상태: 별도 기획 브랜치 확인</a:t>
            </a:r>
          </a:p>
          <a:p>
            <a:r>
              <a:t>URL: https://github.com/Jeong-HaEun/new_project_1021/tree/planning/home-ab-v2/docs/planning/home-ab-v2</a:t>
            </a:r>
          </a:p>
          <a:p>
            <a:r>
              <a:t>범위: 시안만 존재. main의 실험 배정·GA4 구현 근거 아님.</a:t>
            </a:r>
          </a:p>
          <a:p/>
          <a:p>
            <a:r>
              <a:t>[기준]</a:t>
            </a:r>
          </a:p>
          <a:p>
            <a:r>
              <a:t>저장소 ba055b92a147b579859adee3a9ef24f47d4b0d54; 검토일 2026-10-16. 외부 사이트의 접근 실패는 수치가 거짓이라는 판정이 아닙니다.</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CLAUDE.md"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CLAUDE.md"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ewsis.com/view/NISX20250521_0003184016"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kukinews.com/article/view/kuk202606280022" TargetMode="External"/><Relationship Id="rId3" Type="http://schemas.openxmlformats.org/officeDocument/2006/relationships/hyperlink" Target="https://www.segye.com/newsView/20250921508532"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src/data/courses/index.js" TargetMode="External"/><Relationship Id="rId3" Type="http://schemas.openxmlformats.org/officeDocument/2006/relationships/hyperlink" Target="https://v.daum.net/v/20251208161412362"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src/data/courses/index.js" TargetMode="External"/><Relationship Id="rId3" Type="http://schemas.openxmlformats.org/officeDocument/2006/relationships/hyperlink" Target="https://www.newsis.com/view/NISX20260609_0003661665" TargetMode="External"/><Relationship Id="rId4" Type="http://schemas.openxmlformats.org/officeDocument/2006/relationships/hyperlink" Target="https://www.newsis.com/view/NISX20251018_0003367696" TargetMode="Externa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ewsis.com/view/NISX20260723_0003720080"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CLAUDE.md" TargetMode="Externa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CLAUDE.md" TargetMode="Externa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src/data/courses/index.js" TargetMode="Externa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src/data/courses/index.js" TargetMode="External"/><Relationship Id="rId3" Type="http://schemas.openxmlformats.org/officeDocument/2006/relationships/hyperlink" Target="https://github.com/Jeong-HaEun/new_project_1021/blob/ba055b92a147b579859adee3a9ef24f47d4b0d54/CLAUDE.md"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src/data/courses/index.js" TargetMode="External"/><Relationship Id="rId3" Type="http://schemas.openxmlformats.org/officeDocument/2006/relationships/hyperlink" Target="https://pmc.ncbi.nlm.nih.gov/articles/PMC11774797/"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src/data/courses/index.js"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DESIGN.md" TargetMode="External"/><Relationship Id="rId3" Type="http://schemas.openxmlformats.org/officeDocument/2006/relationships/hyperlink" Target="https://github.com/Jeong-HaEun/new_project_1021/blob/ba055b92a147b579859adee3a9ef24f47d4b0d54/CLAUDE.md"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CLAUDE.md" TargetMode="Externa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github.com/Jeong-HaEun/new_project_1021/blob/ba055b92a147b579859adee3a9ef24f47d4b0d54/src/components/CourseDetail.js" TargetMode="Externa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law.go.kr/&#48277;&#47161;/&#51204;&#51088;&#49345;&#44144;&#47000;&#46321;&#50640;&#49436;&#51032;&#49548;&#48708;&#51088;&#48372;&#54840;&#50640;&#44288;&#54620;&#48277;&#47456;/&#51228;17&#51312;" TargetMode="External"/><Relationship Id="rId3" Type="http://schemas.openxmlformats.org/officeDocument/2006/relationships/hyperlink" Target="https://github.com/Jeong-HaEun/new_project_1021/blob/ba055b92a147b579859adee3a9ef24f47d4b0d54/src/components/LearnParts.js" TargetMode="Externa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github.com/Jeong-HaEun/new_project_1021/blob/ba055b92a147b579859adee3a9ef24f47d4b0d54/src/components/LearnParts.js" TargetMode="External"/><Relationship Id="rId4" Type="http://schemas.openxmlformats.org/officeDocument/2006/relationships/hyperlink" Target="https://github.com/Jeong-HaEun/new_project_1021/blob/ba055b92a147b579859adee3a9ef24f47d4b0d54/CHANGELOG.md" TargetMode="Externa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SPEC.md" TargetMode="External"/><Relationship Id="rId3" Type="http://schemas.openxmlformats.org/officeDocument/2006/relationships/hyperlink" Target="https://github.com/Jeong-HaEun/new_project_1021/blob/ba055b92a147b579859adee3a9ef24f47d4b0d54/CHANGELOG.md" TargetMode="Externa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src/data/learningPath.js" TargetMode="Externa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src/lib/enrollment.js" TargetMode="Externa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wikitree.co.kr/articles/1134478" TargetMode="External"/><Relationship Id="rId3" Type="http://schemas.openxmlformats.org/officeDocument/2006/relationships/hyperlink" Target="https://www.newsis.com/view/NISX20251215_0003440687" TargetMode="Externa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docs/analytics-plan.md" TargetMode="Externa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src/data/courses/index.js" TargetMode="Externa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CHANGELOG.md" TargetMode="External"/><Relationship Id="rId3" Type="http://schemas.openxmlformats.org/officeDocument/2006/relationships/hyperlink" Target="https://github.com/Jeong-HaEun/new_project_1021/blob/ba055b92a147b579859adee3a9ef24f47d4b0d54/docs/analytics-plan.md" TargetMode="Externa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CHANGELOG.md" TargetMode="Externa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docs/analytics-plan.md" TargetMode="Externa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package.json" TargetMode="Externa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CLAUDE.md" TargetMode="Externa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package.json" TargetMode="Externa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DESIGN.md" TargetMode="Externa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commit/7c04576" TargetMode="Externa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package.json" TargetMode="Externa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CLAUDE.md" TargetMode="External"/><Relationship Id="rId3" Type="http://schemas.openxmlformats.org/officeDocument/2006/relationships/hyperlink" Target="https://github.com/Jeong-HaEun/new_project_1021/blob/ba055b92a147b579859adee3a9ef24f47d4b0d54/CHANGELOG.md" TargetMode="External"/><Relationship Id="rId4" Type="http://schemas.openxmlformats.org/officeDocument/2006/relationships/hyperlink" Target="https://github.com/Jeong-HaEun/new_project_1021/blob/ba055b92a147b579859adee3a9ef24f47d4b0d54/SPEC.md" TargetMode="Externa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CLAUDE.md" TargetMode="External"/><Relationship Id="rId3" Type="http://schemas.openxmlformats.org/officeDocument/2006/relationships/hyperlink" Target="https://www.law.go.kr/&#48277;&#47161;/&#51204;&#51088;&#49345;&#44144;&#47000;&#46321;&#50640;&#49436;&#51032;&#49548;&#48708;&#51088;&#48372;&#54840;&#50640;&#44288;&#54620;&#48277;&#47456;/&#51228;17&#51312;" TargetMode="Externa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CHANGELOG.md" TargetMode="External"/><Relationship Id="rId3" Type="http://schemas.openxmlformats.org/officeDocument/2006/relationships/hyperlink" Target="https://github.com/Jeong-HaEun/new_project_1021/blob/ba055b92a147b579859adee3a9ef24f47d4b0d54/docs/analytics-plan.md" TargetMode="External"/><Relationship Id="rId4" Type="http://schemas.openxmlformats.org/officeDocument/2006/relationships/hyperlink" Target="https://raw.githubusercontent.com/google-gemini/cookbook/main/README.md" TargetMode="Externa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CLAUDE.md" TargetMode="Externa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ewsis.com/view/NISX20250521_0003184016" TargetMode="External"/><Relationship Id="rId3" Type="http://schemas.openxmlformats.org/officeDocument/2006/relationships/hyperlink" Target="https://www.law.go.kr/&#48277;&#47161;/&#51204;&#51088;&#49345;&#44144;&#47000;&#46321;&#50640;&#49436;&#51032;&#49548;&#48708;&#51088;&#48372;&#54840;&#50640;&#44288;&#54620;&#48277;&#47456;/&#51228;17&#51312;" TargetMode="External"/><Relationship Id="rId4" Type="http://schemas.openxmlformats.org/officeDocument/2006/relationships/hyperlink" Target="https://pmc.ncbi.nlm.nih.gov/articles/PMC11774797/" TargetMode="Externa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aw.githubusercontent.com/supabase/supabase/master/apps/docs/content/guides/database/postgres/row-level-security.mdx" TargetMode="External"/><Relationship Id="rId3" Type="http://schemas.openxmlformats.org/officeDocument/2006/relationships/hyperlink" Target="https://raw.githubusercontent.com/supabase/supabase/master/apps/docs/content/guides/auth/social-login/auth-kakao.mdx" TargetMode="External"/><Relationship Id="rId4" Type="http://schemas.openxmlformats.org/officeDocument/2006/relationships/hyperlink" Target="https://raw.githubusercontent.com/google-gemini/cookbook/main/README.md" TargetMode="External"/><Relationship Id="rId5" Type="http://schemas.openxmlformats.org/officeDocument/2006/relationships/hyperlink" Target="https://raw.githubusercontent.com/github/docs/main/content/pages/getting-started-with-github-pages/what-is-github-pages.md" TargetMode="External"/><Relationship Id="rId6" Type="http://schemas.openxmlformats.org/officeDocument/2006/relationships/hyperlink" Target="https://raw.githubusercontent.com/GoogleChrome/web-vitals/main/README.md" TargetMode="Externa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ewsis.com/view/NISX20250521_0003184016" TargetMode="External"/><Relationship Id="rId3" Type="http://schemas.openxmlformats.org/officeDocument/2006/relationships/hyperlink" Target="https://www.newsis.com/view/NISX20260609_0003661665" TargetMode="External"/><Relationship Id="rId4" Type="http://schemas.openxmlformats.org/officeDocument/2006/relationships/hyperlink" Target="https://www.newsis.com/view/NISX20251018_0003367696" TargetMode="External"/><Relationship Id="rId5" Type="http://schemas.openxmlformats.org/officeDocument/2006/relationships/hyperlink" Target="https://www.newsis.com/view/NISX20260723_0003720080" TargetMode="Externa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blob/ba055b92a147b579859adee3a9ef24f47d4b0d54/package.json" TargetMode="Externa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eong-HaEun/new_project_1021/tree/planning/home-ab-v2/docs/planning/home-ab-v2" TargetMode="External"/><Relationship Id="rId3"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오프닝</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1</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지금 필요한 실무, 한 강씩.</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코드 확인</a:t>
            </a:r>
          </a:p>
        </p:txBody>
      </p:sp>
      <p:sp>
        <p:nvSpPr>
          <p:cNvPr id="8" name="Rounded Rectangle 7"/>
          <p:cNvSpPr/>
          <p:nvPr/>
        </p:nvSpPr>
        <p:spPr>
          <a:xfrm>
            <a:off x="640080" y="2322576"/>
            <a:ext cx="7315200" cy="2267712"/>
          </a:xfrm>
          <a:prstGeom prst="roundRect">
            <a:avLst>
              <a:gd name="adj" fmla="val 10000"/>
            </a:avLst>
          </a:prstGeom>
          <a:solidFill>
            <a:srgbClr val="1D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560320"/>
            <a:ext cx="6766560" cy="1097280"/>
          </a:xfrm>
          <a:prstGeom prst="rect">
            <a:avLst/>
          </a:prstGeom>
          <a:noFill/>
        </p:spPr>
        <p:txBody>
          <a:bodyPr wrap="square" lIns="13716" rIns="13716" tIns="18288" bIns="0">
            <a:spAutoFit/>
          </a:bodyPr>
          <a:lstStyle/>
          <a:p>
            <a:pPr algn="l">
              <a:lnSpc>
                <a:spcPct val="117000"/>
              </a:lnSpc>
              <a:spcAft>
                <a:spcPts val="600"/>
              </a:spcAft>
              <a:defRPr sz="4800" b="1">
                <a:solidFill>
                  <a:srgbClr val="FFFFFF"/>
                </a:solidFill>
                <a:latin typeface="Noto Sans CJK KR"/>
              </a:defRPr>
            </a:pPr>
            <a:r>
              <a:t>한클래스</a:t>
            </a:r>
          </a:p>
        </p:txBody>
      </p:sp>
      <p:sp>
        <p:nvSpPr>
          <p:cNvPr id="10" name="TextBox 9"/>
          <p:cNvSpPr txBox="1"/>
          <p:nvPr/>
        </p:nvSpPr>
        <p:spPr>
          <a:xfrm>
            <a:off x="914400" y="3685032"/>
            <a:ext cx="6492240" cy="566928"/>
          </a:xfrm>
          <a:prstGeom prst="rect">
            <a:avLst/>
          </a:prstGeom>
          <a:noFill/>
        </p:spPr>
        <p:txBody>
          <a:bodyPr wrap="square" lIns="13716" rIns="13716" tIns="18288" bIns="0">
            <a:spAutoFit/>
          </a:bodyPr>
          <a:lstStyle/>
          <a:p>
            <a:pPr algn="l">
              <a:lnSpc>
                <a:spcPct val="117000"/>
              </a:lnSpc>
              <a:spcAft>
                <a:spcPts val="600"/>
              </a:spcAft>
              <a:defRPr sz="2300" b="0">
                <a:solidFill>
                  <a:srgbClr val="FFFFFF"/>
                </a:solidFill>
                <a:latin typeface="Noto Sans CJK KR"/>
              </a:defRPr>
            </a:pPr>
            <a:r>
              <a:t>마케터 취업준비생을 위한 단건 실무 강의</a:t>
            </a:r>
          </a:p>
        </p:txBody>
      </p:sp>
      <p:sp>
        <p:nvSpPr>
          <p:cNvPr id="11" name="Rounded Rectangle 10"/>
          <p:cNvSpPr/>
          <p:nvPr/>
        </p:nvSpPr>
        <p:spPr>
          <a:xfrm>
            <a:off x="8321040" y="2971800"/>
            <a:ext cx="1828800" cy="242316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503919" y="3246120"/>
            <a:ext cx="1417320" cy="155448"/>
          </a:xfrm>
          <a:prstGeom prst="rect">
            <a:avLst/>
          </a:prstGeom>
          <a:solidFill>
            <a:srgbClr val="2357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03919" y="3657600"/>
            <a:ext cx="1417320" cy="59436"/>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503919" y="3913632"/>
            <a:ext cx="1417320" cy="59436"/>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03919" y="4169664"/>
            <a:ext cx="1417320" cy="59436"/>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19" y="4425696"/>
            <a:ext cx="1417320" cy="59436"/>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869680" y="2679192"/>
            <a:ext cx="1828800" cy="242316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52559" y="2953512"/>
            <a:ext cx="1417320" cy="155448"/>
          </a:xfrm>
          <a:prstGeom prst="rect">
            <a:avLst/>
          </a:prstGeom>
          <a:solidFill>
            <a:srgbClr val="2357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52559" y="3364992"/>
            <a:ext cx="1417320" cy="59436"/>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52559" y="3621024"/>
            <a:ext cx="1417320" cy="59436"/>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52559" y="3877056"/>
            <a:ext cx="1417320" cy="59436"/>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52559" y="4133088"/>
            <a:ext cx="1417320" cy="59436"/>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418319" y="2386584"/>
            <a:ext cx="1828800" cy="242316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01199" y="2660903"/>
            <a:ext cx="1417320" cy="155448"/>
          </a:xfrm>
          <a:prstGeom prst="rect">
            <a:avLst/>
          </a:prstGeom>
          <a:solidFill>
            <a:srgbClr val="2357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1199" y="3072384"/>
            <a:ext cx="1417320" cy="59436"/>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601199" y="3328415"/>
            <a:ext cx="1417320" cy="59436"/>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01199" y="3584448"/>
            <a:ext cx="1417320" cy="59436"/>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601199" y="3840480"/>
            <a:ext cx="1417320" cy="59436"/>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928616"/>
            <a:ext cx="10515600" cy="502920"/>
          </a:xfrm>
          <a:prstGeom prst="rect">
            <a:avLst/>
          </a:prstGeom>
          <a:noFill/>
        </p:spPr>
        <p:txBody>
          <a:bodyPr wrap="square" lIns="13716" rIns="13716" tIns="18288" bIns="0">
            <a:spAutoFit/>
          </a:bodyPr>
          <a:lstStyle/>
          <a:p>
            <a:pPr algn="l">
              <a:lnSpc>
                <a:spcPct val="117000"/>
              </a:lnSpc>
              <a:spcAft>
                <a:spcPts val="600"/>
              </a:spcAft>
              <a:defRPr sz="2500" b="1">
                <a:solidFill>
                  <a:srgbClr val="B63E2A"/>
                </a:solidFill>
                <a:latin typeface="Noto Sans CJK KR"/>
              </a:defRPr>
            </a:pPr>
            <a:r>
              <a:t>강의당 1,000~2,000원 · 구독 없음</a:t>
            </a:r>
          </a:p>
        </p:txBody>
      </p:sp>
      <p:sp>
        <p:nvSpPr>
          <p:cNvPr id="30" name="TextBox 29"/>
          <p:cNvSpPr txBox="1"/>
          <p:nvPr/>
        </p:nvSpPr>
        <p:spPr>
          <a:xfrm>
            <a:off x="731520" y="5650992"/>
            <a:ext cx="10515600" cy="310896"/>
          </a:xfrm>
          <a:prstGeom prst="rect">
            <a:avLst/>
          </a:prstGeom>
          <a:noFill/>
        </p:spPr>
        <p:txBody>
          <a:bodyPr wrap="square" lIns="13716" rIns="13716" tIns="18288" bIns="0">
            <a:spAutoFit/>
          </a:bodyPr>
          <a:lstStyle/>
          <a:p>
            <a:pPr algn="l">
              <a:lnSpc>
                <a:spcPct val="117000"/>
              </a:lnSpc>
              <a:spcAft>
                <a:spcPts val="600"/>
              </a:spcAft>
              <a:defRPr sz="1400" b="0">
                <a:solidFill>
                  <a:srgbClr val="5E6C79"/>
                </a:solidFill>
                <a:latin typeface="Noto Sans CJK KR"/>
              </a:defRPr>
            </a:pPr>
            <a:r>
              <a:t>발표자 이름 입력  ·  어도비 그로스 마케터 과정 개인 과제</a:t>
            </a:r>
          </a:p>
        </p:txBody>
      </p:sp>
      <p:sp>
        <p:nvSpPr>
          <p:cNvPr id="31" name="TextBox 30"/>
          <p:cNvSpPr txBox="1"/>
          <p:nvPr/>
        </p:nvSpPr>
        <p:spPr>
          <a:xfrm>
            <a:off x="731520" y="6016752"/>
            <a:ext cx="10515600" cy="228600"/>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발표용 데모 사이트입니다. 아직 강의를 판매하지 않습니다.</a:t>
            </a:r>
          </a:p>
        </p:txBody>
      </p:sp>
      <p:sp>
        <p:nvSpPr>
          <p:cNvPr id="32" name="Rectangle 31"/>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I01 제품 원칙·범위</a:t>
            </a:r>
          </a:p>
        </p:txBody>
      </p:sp>
      <p:sp>
        <p:nvSpPr>
          <p:cNvPr id="34" name="TextBox 33"/>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오프닝</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2</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작은 실무 결과물 하나를 만드는 경험을 설계했습니다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전략 제안</a:t>
            </a:r>
          </a:p>
        </p:txBody>
      </p:sp>
      <p:sp>
        <p:nvSpPr>
          <p:cNvPr id="8" name="Rectangle 7"/>
          <p:cNvSpPr/>
          <p:nvPr/>
        </p:nvSpPr>
        <p:spPr>
          <a:xfrm>
            <a:off x="658368" y="2523744"/>
            <a:ext cx="64008" cy="34747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414016"/>
            <a:ext cx="10287000" cy="822960"/>
          </a:xfrm>
          <a:prstGeom prst="rect">
            <a:avLst/>
          </a:prstGeom>
          <a:noFill/>
        </p:spPr>
        <p:txBody>
          <a:bodyPr wrap="square" lIns="13716" rIns="13716" tIns="18288" bIns="0">
            <a:spAutoFit/>
          </a:bodyPr>
          <a:lstStyle/>
          <a:p>
            <a:pPr algn="l">
              <a:lnSpc>
                <a:spcPct val="117000"/>
              </a:lnSpc>
              <a:spcAft>
                <a:spcPts val="600"/>
              </a:spcAft>
              <a:defRPr sz="2300" b="1">
                <a:solidFill>
                  <a:srgbClr val="1D2D40"/>
                </a:solidFill>
                <a:latin typeface="Noto Sans CJK KR"/>
              </a:defRPr>
            </a:pPr>
            <a:r>
              <a:t>대상: 마케터를 꿈꾸는 취업준비생과 실무 초보</a:t>
            </a:r>
          </a:p>
        </p:txBody>
      </p:sp>
      <p:sp>
        <p:nvSpPr>
          <p:cNvPr id="10" name="Rectangle 9"/>
          <p:cNvSpPr/>
          <p:nvPr/>
        </p:nvSpPr>
        <p:spPr>
          <a:xfrm>
            <a:off x="658368" y="3429000"/>
            <a:ext cx="64008" cy="34747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3319272"/>
            <a:ext cx="10287000" cy="822960"/>
          </a:xfrm>
          <a:prstGeom prst="rect">
            <a:avLst/>
          </a:prstGeom>
          <a:noFill/>
        </p:spPr>
        <p:txBody>
          <a:bodyPr wrap="square" lIns="13716" rIns="13716" tIns="18288" bIns="0">
            <a:spAutoFit/>
          </a:bodyPr>
          <a:lstStyle/>
          <a:p>
            <a:pPr algn="l">
              <a:lnSpc>
                <a:spcPct val="117000"/>
              </a:lnSpc>
              <a:spcAft>
                <a:spcPts val="600"/>
              </a:spcAft>
              <a:defRPr sz="2300" b="0">
                <a:solidFill>
                  <a:srgbClr val="1D2D40"/>
                </a:solidFill>
                <a:latin typeface="Noto Sans CJK KR"/>
              </a:defRPr>
            </a:pPr>
            <a:r>
              <a:t>방식: 필요한 강의 한 편으로 표·보고서·슬라이드 하나</a:t>
            </a:r>
          </a:p>
        </p:txBody>
      </p:sp>
      <p:sp>
        <p:nvSpPr>
          <p:cNvPr id="12" name="Rectangle 11"/>
          <p:cNvSpPr/>
          <p:nvPr/>
        </p:nvSpPr>
        <p:spPr>
          <a:xfrm>
            <a:off x="658368" y="4334256"/>
            <a:ext cx="64008" cy="34747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4224528"/>
            <a:ext cx="10287000" cy="822960"/>
          </a:xfrm>
          <a:prstGeom prst="rect">
            <a:avLst/>
          </a:prstGeom>
          <a:noFill/>
        </p:spPr>
        <p:txBody>
          <a:bodyPr wrap="square" lIns="13716" rIns="13716" tIns="18288" bIns="0">
            <a:spAutoFit/>
          </a:bodyPr>
          <a:lstStyle/>
          <a:p>
            <a:pPr algn="l">
              <a:lnSpc>
                <a:spcPct val="117000"/>
              </a:lnSpc>
              <a:spcAft>
                <a:spcPts val="600"/>
              </a:spcAft>
              <a:defRPr sz="2300" b="0">
                <a:solidFill>
                  <a:srgbClr val="1D2D40"/>
                </a:solidFill>
                <a:latin typeface="Noto Sans CJK KR"/>
              </a:defRPr>
            </a:pPr>
            <a:r>
              <a:t>발표의 초점: 왜 이렇게 기획했고, 무엇까지 검증했는가</a:t>
            </a:r>
          </a:p>
        </p:txBody>
      </p:sp>
      <p:sp>
        <p:nvSpPr>
          <p:cNvPr id="14" name="Rounded Rectangle 13"/>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문제 → 타겟 → 전략 → 경험 → 실행 → 측정 → 배운 점</a:t>
            </a:r>
          </a:p>
        </p:txBody>
      </p:sp>
      <p:sp>
        <p:nvSpPr>
          <p:cNvPr id="16" name="Rectangle 15"/>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I01 제품 원칙·범위</a:t>
            </a:r>
          </a:p>
        </p:txBody>
      </p:sp>
      <p:sp>
        <p:nvSpPr>
          <p:cNvPr id="18" name="TextBox 17"/>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문제</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3</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무료 자료를 찾는 것과 내 결과물을 만드는 것은 다릅니다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가설 · 개인 경험 입력 필요</a:t>
            </a:r>
          </a:p>
        </p:txBody>
      </p:sp>
      <p:sp>
        <p:nvSpPr>
          <p:cNvPr id="8" name="Rounded Rectangle 7"/>
          <p:cNvSpPr/>
          <p:nvPr/>
        </p:nvSpPr>
        <p:spPr>
          <a:xfrm>
            <a:off x="640080"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탐색</a:t>
            </a:r>
          </a:p>
        </p:txBody>
      </p:sp>
      <p:sp>
        <p:nvSpPr>
          <p:cNvPr id="10" name="TextBox 9"/>
          <p:cNvSpPr txBox="1"/>
          <p:nvPr/>
        </p:nvSpPr>
        <p:spPr>
          <a:xfrm>
            <a:off x="822959"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필요한 함수·예시를 여러 곳에서 찾는다.</a:t>
            </a:r>
          </a:p>
        </p:txBody>
      </p:sp>
      <p:sp>
        <p:nvSpPr>
          <p:cNvPr id="11" name="Rounded Rectangle 10"/>
          <p:cNvSpPr/>
          <p:nvPr/>
        </p:nvSpPr>
        <p:spPr>
          <a:xfrm>
            <a:off x="4340351"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3232"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적용</a:t>
            </a:r>
          </a:p>
        </p:txBody>
      </p:sp>
      <p:sp>
        <p:nvSpPr>
          <p:cNvPr id="13" name="TextBox 12"/>
          <p:cNvSpPr txBox="1"/>
          <p:nvPr/>
        </p:nvSpPr>
        <p:spPr>
          <a:xfrm>
            <a:off x="4523232"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내 과제와 업무 맥락에 맞게 다시 조합한다.</a:t>
            </a:r>
          </a:p>
        </p:txBody>
      </p:sp>
      <p:sp>
        <p:nvSpPr>
          <p:cNvPr id="14" name="Rounded Rectangle 13"/>
          <p:cNvSpPr/>
          <p:nvPr/>
        </p:nvSpPr>
        <p:spPr>
          <a:xfrm>
            <a:off x="8040623"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3503"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완성</a:t>
            </a:r>
          </a:p>
        </p:txBody>
      </p:sp>
      <p:sp>
        <p:nvSpPr>
          <p:cNvPr id="16" name="TextBox 15"/>
          <p:cNvSpPr txBox="1"/>
          <p:nvPr/>
        </p:nvSpPr>
        <p:spPr>
          <a:xfrm>
            <a:off x="8223503"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설명할 수 있는 파일 하나로 정리한다.</a:t>
            </a:r>
          </a:p>
        </p:txBody>
      </p:sp>
      <p:sp>
        <p:nvSpPr>
          <p:cNvPr id="17" name="Rounded Rectangle 16"/>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검증할 문제 가설: 탐색과 적용 사이에서 초보자가 막히는가?</a:t>
            </a:r>
          </a:p>
        </p:txBody>
      </p:sp>
      <p:sp>
        <p:nvSpPr>
          <p:cNvPr id="19" name="Rectangle 18"/>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rPr>
              <a:t>자료: L12 12강 전략 프레임·시장 분석</a:t>
            </a:r>
          </a:p>
        </p:txBody>
      </p:sp>
      <p:sp>
        <p:nvSpPr>
          <p:cNvPr id="21" name="TextBox 20"/>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문제</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4</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채용 기준과 준비 방식의 간극은 같은 질문으로 확인해야 합니다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외부 원문 미검증</a:t>
            </a:r>
          </a:p>
        </p:txBody>
      </p:sp>
      <p:sp>
        <p:nvSpPr>
          <p:cNvPr id="8" name="Rounded Rectangle 7"/>
          <p:cNvSpPr/>
          <p:nvPr/>
        </p:nvSpPr>
        <p:spPr>
          <a:xfrm>
            <a:off x="640080" y="2359152"/>
            <a:ext cx="5367528"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96312"/>
            <a:ext cx="5001768"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기업 측 질문</a:t>
            </a:r>
          </a:p>
        </p:txBody>
      </p:sp>
      <p:sp>
        <p:nvSpPr>
          <p:cNvPr id="10" name="TextBox 9"/>
          <p:cNvSpPr txBox="1"/>
          <p:nvPr/>
        </p:nvSpPr>
        <p:spPr>
          <a:xfrm>
            <a:off x="822959" y="3008376"/>
            <a:ext cx="5001768"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직무에서 어떤 경험·작업물을 확인하는가?</a:t>
            </a:r>
          </a:p>
        </p:txBody>
      </p:sp>
      <p:sp>
        <p:nvSpPr>
          <p:cNvPr id="11" name="Rounded Rectangle 10"/>
          <p:cNvSpPr/>
          <p:nvPr/>
        </p:nvSpPr>
        <p:spPr>
          <a:xfrm>
            <a:off x="6190488" y="2359152"/>
            <a:ext cx="5367528"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2496312"/>
            <a:ext cx="5001768"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지원자 측 질문</a:t>
            </a:r>
          </a:p>
        </p:txBody>
      </p:sp>
      <p:sp>
        <p:nvSpPr>
          <p:cNvPr id="13" name="TextBox 12"/>
          <p:cNvSpPr txBox="1"/>
          <p:nvPr/>
        </p:nvSpPr>
        <p:spPr>
          <a:xfrm>
            <a:off x="6373368" y="3008376"/>
            <a:ext cx="5001768"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그 경험을 어떤 준비·자료로 보여주려 하는가?</a:t>
            </a:r>
          </a:p>
        </p:txBody>
      </p:sp>
      <p:sp>
        <p:nvSpPr>
          <p:cNvPr id="14" name="Rounded Rectangle 13"/>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74.6%와 12.7%는 직접 비교하는 막대그래프로 사용하지 않습니다.</a:t>
            </a:r>
          </a:p>
        </p:txBody>
      </p:sp>
      <p:sp>
        <p:nvSpPr>
          <p:cNvPr id="16" name="Rectangle 15"/>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S01 채용기준·청년 준비방식</a:t>
            </a:r>
          </a:p>
        </p:txBody>
      </p:sp>
      <p:sp>
        <p:nvSpPr>
          <p:cNvPr id="18" name="TextBox 17"/>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04</a:t>
            </a:r>
          </a:p>
        </p:txBody>
      </p:sp>
      <p:sp>
        <p:nvSpPr>
          <p:cNvPr id="19" name="TextBox 18"/>
          <p:cNvSpPr txBox="1"/>
          <p:nvPr/>
        </p:nvSpPr>
        <p:spPr>
          <a:xfrm>
            <a:off x="658368" y="6190488"/>
            <a:ext cx="10698480" cy="182880"/>
          </a:xfrm>
          <a:prstGeom prst="rect">
            <a:avLst/>
          </a:prstGeom>
          <a:noFill/>
        </p:spPr>
        <p:txBody>
          <a:bodyPr wrap="square" lIns="13716" rIns="13716" tIns="18288" bIns="0">
            <a:spAutoFit/>
          </a:bodyPr>
          <a:lstStyle/>
          <a:p>
            <a:pPr algn="l">
              <a:lnSpc>
                <a:spcPct val="117000"/>
              </a:lnSpc>
              <a:spcAft>
                <a:spcPts val="600"/>
              </a:spcAft>
              <a:defRPr sz="800" b="0">
                <a:solidFill>
                  <a:srgbClr val="5E6C79"/>
                </a:solidFill>
                <a:latin typeface="Noto Sans CJK KR"/>
              </a:defRPr>
            </a:pPr>
            <a:r>
              <a:t>외부 원문 미검증 수치는 본문에서 보류했습니다.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문제</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5</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신입 지원자에게도 경험을 설명할 자료가 필요할 수 있습니다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문제 가설</a:t>
            </a:r>
          </a:p>
        </p:txBody>
      </p:sp>
      <p:sp>
        <p:nvSpPr>
          <p:cNvPr id="8" name="Rectangle 7"/>
          <p:cNvSpPr/>
          <p:nvPr/>
        </p:nvSpPr>
        <p:spPr>
          <a:xfrm>
            <a:off x="658368" y="2523744"/>
            <a:ext cx="64008" cy="34747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414016"/>
            <a:ext cx="10287000" cy="822960"/>
          </a:xfrm>
          <a:prstGeom prst="rect">
            <a:avLst/>
          </a:prstGeom>
          <a:noFill/>
        </p:spPr>
        <p:txBody>
          <a:bodyPr wrap="square" lIns="13716" rIns="13716" tIns="18288" bIns="0">
            <a:spAutoFit/>
          </a:bodyPr>
          <a:lstStyle/>
          <a:p>
            <a:pPr algn="l">
              <a:lnSpc>
                <a:spcPct val="117000"/>
              </a:lnSpc>
              <a:spcAft>
                <a:spcPts val="600"/>
              </a:spcAft>
              <a:defRPr sz="2300" b="1">
                <a:solidFill>
                  <a:srgbClr val="1D2D40"/>
                </a:solidFill>
                <a:latin typeface="Noto Sans CJK KR"/>
              </a:defRPr>
            </a:pPr>
            <a:r>
              <a:t>지원 경험·과제·개인 프로젝트를 어떻게 설명할지에 주목</a:t>
            </a:r>
          </a:p>
        </p:txBody>
      </p:sp>
      <p:sp>
        <p:nvSpPr>
          <p:cNvPr id="10" name="Rectangle 9"/>
          <p:cNvSpPr/>
          <p:nvPr/>
        </p:nvSpPr>
        <p:spPr>
          <a:xfrm>
            <a:off x="658368" y="3429000"/>
            <a:ext cx="64008" cy="34747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3319272"/>
            <a:ext cx="10287000" cy="822960"/>
          </a:xfrm>
          <a:prstGeom prst="rect">
            <a:avLst/>
          </a:prstGeom>
          <a:noFill/>
        </p:spPr>
        <p:txBody>
          <a:bodyPr wrap="square" lIns="13716" rIns="13716" tIns="18288" bIns="0">
            <a:spAutoFit/>
          </a:bodyPr>
          <a:lstStyle/>
          <a:p>
            <a:pPr algn="l">
              <a:lnSpc>
                <a:spcPct val="117000"/>
              </a:lnSpc>
              <a:spcAft>
                <a:spcPts val="600"/>
              </a:spcAft>
              <a:defRPr sz="2300" b="0">
                <a:solidFill>
                  <a:srgbClr val="1D2D40"/>
                </a:solidFill>
                <a:latin typeface="Noto Sans CJK KR"/>
              </a:defRPr>
            </a:pPr>
            <a:r>
              <a:t>한클래스의 역할은 실제 경력을 대신하는 것이 아님</a:t>
            </a:r>
          </a:p>
        </p:txBody>
      </p:sp>
      <p:sp>
        <p:nvSpPr>
          <p:cNvPr id="12" name="Rectangle 11"/>
          <p:cNvSpPr/>
          <p:nvPr/>
        </p:nvSpPr>
        <p:spPr>
          <a:xfrm>
            <a:off x="658368" y="4334256"/>
            <a:ext cx="64008" cy="34747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4224528"/>
            <a:ext cx="10287000" cy="822960"/>
          </a:xfrm>
          <a:prstGeom prst="rect">
            <a:avLst/>
          </a:prstGeom>
          <a:noFill/>
        </p:spPr>
        <p:txBody>
          <a:bodyPr wrap="square" lIns="13716" rIns="13716" tIns="18288" bIns="0">
            <a:spAutoFit/>
          </a:bodyPr>
          <a:lstStyle/>
          <a:p>
            <a:pPr algn="l">
              <a:lnSpc>
                <a:spcPct val="117000"/>
              </a:lnSpc>
              <a:spcAft>
                <a:spcPts val="600"/>
              </a:spcAft>
              <a:defRPr sz="2300" b="0">
                <a:solidFill>
                  <a:srgbClr val="1D2D40"/>
                </a:solidFill>
                <a:latin typeface="Noto Sans CJK KR"/>
              </a:defRPr>
            </a:pPr>
            <a:r>
              <a:t>작은 실습 결과물로 본인의 접근 과정과 판단을 설명하는 연습</a:t>
            </a:r>
          </a:p>
        </p:txBody>
      </p:sp>
      <p:sp>
        <p:nvSpPr>
          <p:cNvPr id="14" name="Rounded Rectangle 13"/>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실습 결과물 ≠ 직장 경력 ≠ 채용 성과 보장</a:t>
            </a:r>
          </a:p>
        </p:txBody>
      </p:sp>
      <p:sp>
        <p:nvSpPr>
          <p:cNvPr id="16" name="Rectangle 15"/>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S02 신입 경력우대</a:t>
            </a:r>
            <a:r>
              <a:rPr sz="800">
                <a:solidFill>
                  <a:srgbClr val="5E6C79"/>
                </a:solidFill>
                <a:latin typeface="Noto Sans CJK KR"/>
                <a:hlinkClick r:id="rId3"/>
              </a:rPr>
              <a:t>  |  S03 중고 신입</a:t>
            </a:r>
          </a:p>
        </p:txBody>
      </p:sp>
      <p:sp>
        <p:nvSpPr>
          <p:cNvPr id="18" name="TextBox 17"/>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05</a:t>
            </a:r>
          </a:p>
        </p:txBody>
      </p:sp>
      <p:sp>
        <p:nvSpPr>
          <p:cNvPr id="19" name="TextBox 18"/>
          <p:cNvSpPr txBox="1"/>
          <p:nvPr/>
        </p:nvSpPr>
        <p:spPr>
          <a:xfrm>
            <a:off x="658368" y="6190488"/>
            <a:ext cx="10698480" cy="182880"/>
          </a:xfrm>
          <a:prstGeom prst="rect">
            <a:avLst/>
          </a:prstGeom>
          <a:noFill/>
        </p:spPr>
        <p:txBody>
          <a:bodyPr wrap="square" lIns="13716" rIns="13716" tIns="18288" bIns="0">
            <a:spAutoFit/>
          </a:bodyPr>
          <a:lstStyle/>
          <a:p>
            <a:pPr algn="l">
              <a:lnSpc>
                <a:spcPct val="117000"/>
              </a:lnSpc>
              <a:spcAft>
                <a:spcPts val="600"/>
              </a:spcAft>
              <a:defRPr sz="800" b="0">
                <a:solidFill>
                  <a:srgbClr val="5E6C79"/>
                </a:solidFill>
                <a:latin typeface="Noto Sans CJK KR"/>
              </a:defRPr>
            </a:pPr>
            <a:r>
              <a:t>외부 원문 미검증 수치는 본문에서 보류했습니다.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문제</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6</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기획·정리·분석·전달을 초기 학습 범위로 골랐습니다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코드 확인 · 선정은 가설  ·  시간 조절 시 생략 가능</a:t>
            </a:r>
          </a:p>
        </p:txBody>
      </p:sp>
      <p:sp>
        <p:nvSpPr>
          <p:cNvPr id="8" name="Rounded Rectangle 7"/>
          <p:cNvSpPr/>
          <p:nvPr/>
        </p:nvSpPr>
        <p:spPr>
          <a:xfrm>
            <a:off x="640080" y="2359152"/>
            <a:ext cx="5367528"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96312"/>
            <a:ext cx="5001768"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기획</a:t>
            </a:r>
          </a:p>
        </p:txBody>
      </p:sp>
      <p:sp>
        <p:nvSpPr>
          <p:cNvPr id="10" name="TextBox 9"/>
          <p:cNvSpPr txBox="1"/>
          <p:nvPr/>
        </p:nvSpPr>
        <p:spPr>
          <a:xfrm>
            <a:off x="822959" y="3008376"/>
            <a:ext cx="5001768"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타깃·메시지·채널</a:t>
            </a:r>
          </a:p>
        </p:txBody>
      </p:sp>
      <p:sp>
        <p:nvSpPr>
          <p:cNvPr id="11" name="Rounded Rectangle 10"/>
          <p:cNvSpPr/>
          <p:nvPr/>
        </p:nvSpPr>
        <p:spPr>
          <a:xfrm>
            <a:off x="6190488" y="2359152"/>
            <a:ext cx="5367528"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2496312"/>
            <a:ext cx="5001768"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정리</a:t>
            </a:r>
          </a:p>
        </p:txBody>
      </p:sp>
      <p:sp>
        <p:nvSpPr>
          <p:cNvPr id="13" name="TextBox 12"/>
          <p:cNvSpPr txBox="1"/>
          <p:nvPr/>
        </p:nvSpPr>
        <p:spPr>
          <a:xfrm>
            <a:off x="6373368" y="3008376"/>
            <a:ext cx="5001768"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엑셀로 표 합치기</a:t>
            </a:r>
          </a:p>
        </p:txBody>
      </p:sp>
      <p:sp>
        <p:nvSpPr>
          <p:cNvPr id="14" name="Rounded Rectangle 13"/>
          <p:cNvSpPr/>
          <p:nvPr/>
        </p:nvSpPr>
        <p:spPr>
          <a:xfrm>
            <a:off x="640080" y="3950208"/>
            <a:ext cx="5367528"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4087368"/>
            <a:ext cx="5001768"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분석</a:t>
            </a:r>
          </a:p>
        </p:txBody>
      </p:sp>
      <p:sp>
        <p:nvSpPr>
          <p:cNvPr id="16" name="TextBox 15"/>
          <p:cNvSpPr txBox="1"/>
          <p:nvPr/>
        </p:nvSpPr>
        <p:spPr>
          <a:xfrm>
            <a:off x="822959" y="4599432"/>
            <a:ext cx="5001768"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광고 지표와 한 줄 결론</a:t>
            </a:r>
          </a:p>
        </p:txBody>
      </p:sp>
      <p:sp>
        <p:nvSpPr>
          <p:cNvPr id="17" name="Rounded Rectangle 16"/>
          <p:cNvSpPr/>
          <p:nvPr/>
        </p:nvSpPr>
        <p:spPr>
          <a:xfrm>
            <a:off x="6190488" y="3950208"/>
            <a:ext cx="5367528"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3368" y="4087368"/>
            <a:ext cx="5001768"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전달</a:t>
            </a:r>
          </a:p>
        </p:txBody>
      </p:sp>
      <p:sp>
        <p:nvSpPr>
          <p:cNvPr id="19" name="TextBox 18"/>
          <p:cNvSpPr txBox="1"/>
          <p:nvPr/>
        </p:nvSpPr>
        <p:spPr>
          <a:xfrm>
            <a:off x="6373368" y="4599432"/>
            <a:ext cx="5001768"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발표용 슬라이드</a:t>
            </a:r>
          </a:p>
        </p:txBody>
      </p:sp>
      <p:sp>
        <p:nvSpPr>
          <p:cNvPr id="20" name="Rectangle 19"/>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I02 6개 강의 데이터·가격</a:t>
            </a:r>
            <a:r>
              <a:rPr sz="800">
                <a:solidFill>
                  <a:srgbClr val="5E6C79"/>
                </a:solidFill>
                <a:latin typeface="Noto Sans CJK KR"/>
                <a:hlinkClick r:id="rId3"/>
              </a:rPr>
              <a:t>  |  S04 채용 역량 설문</a:t>
            </a:r>
          </a:p>
        </p:txBody>
      </p:sp>
      <p:sp>
        <p:nvSpPr>
          <p:cNvPr id="22" name="TextBox 21"/>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06</a:t>
            </a:r>
          </a:p>
        </p:txBody>
      </p:sp>
      <p:sp>
        <p:nvSpPr>
          <p:cNvPr id="23" name="TextBox 22"/>
          <p:cNvSpPr txBox="1"/>
          <p:nvPr/>
        </p:nvSpPr>
        <p:spPr>
          <a:xfrm>
            <a:off x="658368" y="6190488"/>
            <a:ext cx="10698480" cy="182880"/>
          </a:xfrm>
          <a:prstGeom prst="rect">
            <a:avLst/>
          </a:prstGeom>
          <a:noFill/>
        </p:spPr>
        <p:txBody>
          <a:bodyPr wrap="square" lIns="13716" rIns="13716" tIns="18288" bIns="0">
            <a:spAutoFit/>
          </a:bodyPr>
          <a:lstStyle/>
          <a:p>
            <a:pPr algn="l">
              <a:lnSpc>
                <a:spcPct val="117000"/>
              </a:lnSpc>
              <a:spcAft>
                <a:spcPts val="600"/>
              </a:spcAft>
              <a:defRPr sz="800" b="0">
                <a:solidFill>
                  <a:srgbClr val="5E6C79"/>
                </a:solidFill>
                <a:latin typeface="Noto Sans CJK KR"/>
              </a:defRPr>
            </a:pPr>
            <a:r>
              <a:t>외부 원문 미검증 수치는 본문에서 보류했습니다.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문제</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7</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소액 단건 가격은 부담을 낮추려는 가설입니다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가격 가설</a:t>
            </a:r>
          </a:p>
        </p:txBody>
      </p:sp>
      <p:sp>
        <p:nvSpPr>
          <p:cNvPr id="8" name="Rounded Rectangle 7"/>
          <p:cNvSpPr/>
          <p:nvPr/>
        </p:nvSpPr>
        <p:spPr>
          <a:xfrm>
            <a:off x="640080"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가격 설계</a:t>
            </a:r>
          </a:p>
        </p:txBody>
      </p:sp>
      <p:sp>
        <p:nvSpPr>
          <p:cNvPr id="10" name="TextBox 9"/>
          <p:cNvSpPr txBox="1"/>
          <p:nvPr/>
        </p:nvSpPr>
        <p:spPr>
          <a:xfrm>
            <a:off x="822959"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강의당 1,000~2,000원</a:t>
            </a:r>
          </a:p>
        </p:txBody>
      </p:sp>
      <p:sp>
        <p:nvSpPr>
          <p:cNvPr id="11" name="Rounded Rectangle 10"/>
          <p:cNvSpPr/>
          <p:nvPr/>
        </p:nvSpPr>
        <p:spPr>
          <a:xfrm>
            <a:off x="4340351"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3232"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결제 단위</a:t>
            </a:r>
          </a:p>
        </p:txBody>
      </p:sp>
      <p:sp>
        <p:nvSpPr>
          <p:cNvPr id="13" name="TextBox 12"/>
          <p:cNvSpPr txBox="1"/>
          <p:nvPr/>
        </p:nvSpPr>
        <p:spPr>
          <a:xfrm>
            <a:off x="4523232"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월 구독 없이 필요한 강의만</a:t>
            </a:r>
          </a:p>
        </p:txBody>
      </p:sp>
      <p:sp>
        <p:nvSpPr>
          <p:cNvPr id="14" name="Rounded Rectangle 13"/>
          <p:cNvSpPr/>
          <p:nvPr/>
        </p:nvSpPr>
        <p:spPr>
          <a:xfrm>
            <a:off x="8040623"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3503"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검증 과제</a:t>
            </a:r>
          </a:p>
        </p:txBody>
      </p:sp>
      <p:sp>
        <p:nvSpPr>
          <p:cNvPr id="16" name="TextBox 15"/>
          <p:cNvSpPr txBox="1"/>
          <p:nvPr/>
        </p:nvSpPr>
        <p:spPr>
          <a:xfrm>
            <a:off x="8223503"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가격 수용성·제작비·운영 지속성</a:t>
            </a:r>
          </a:p>
        </p:txBody>
      </p:sp>
      <p:sp>
        <p:nvSpPr>
          <p:cNvPr id="17" name="Rounded Rectangle 16"/>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취업 준비 비용이 크다는 사실만으로 1,000원의 적정성이 입증되지는 않습니다.</a:t>
            </a:r>
          </a:p>
        </p:txBody>
      </p:sp>
      <p:sp>
        <p:nvSpPr>
          <p:cNvPr id="19" name="Rectangle 18"/>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I02 6개 강의 데이터·가격</a:t>
            </a:r>
            <a:r>
              <a:rPr sz="800">
                <a:solidFill>
                  <a:srgbClr val="5E6C79"/>
                </a:solidFill>
                <a:latin typeface="Noto Sans CJK KR"/>
                <a:hlinkClick r:id="rId3"/>
              </a:rPr>
              <a:t>  |  S05 취업 사교육비</a:t>
            </a:r>
            <a:r>
              <a:rPr sz="800">
                <a:solidFill>
                  <a:srgbClr val="5E6C79"/>
                </a:solidFill>
                <a:latin typeface="Noto Sans CJK KR"/>
                <a:hlinkClick r:id="rId4"/>
              </a:rPr>
              <a:t>  |  S06 월 취업 준비비</a:t>
            </a:r>
          </a:p>
        </p:txBody>
      </p:sp>
      <p:sp>
        <p:nvSpPr>
          <p:cNvPr id="21" name="TextBox 20"/>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07</a:t>
            </a:r>
          </a:p>
        </p:txBody>
      </p:sp>
      <p:sp>
        <p:nvSpPr>
          <p:cNvPr id="22" name="TextBox 21"/>
          <p:cNvSpPr txBox="1"/>
          <p:nvPr/>
        </p:nvSpPr>
        <p:spPr>
          <a:xfrm>
            <a:off x="658368" y="6190488"/>
            <a:ext cx="10698480" cy="182880"/>
          </a:xfrm>
          <a:prstGeom prst="rect">
            <a:avLst/>
          </a:prstGeom>
          <a:noFill/>
        </p:spPr>
        <p:txBody>
          <a:bodyPr wrap="square" lIns="13716" rIns="13716" tIns="18288" bIns="0">
            <a:spAutoFit/>
          </a:bodyPr>
          <a:lstStyle/>
          <a:p>
            <a:pPr algn="l">
              <a:lnSpc>
                <a:spcPct val="117000"/>
              </a:lnSpc>
              <a:spcAft>
                <a:spcPts val="600"/>
              </a:spcAft>
              <a:defRPr sz="800" b="0">
                <a:solidFill>
                  <a:srgbClr val="5E6C79"/>
                </a:solidFill>
                <a:latin typeface="Noto Sans CJK KR"/>
              </a:defRPr>
            </a:pPr>
            <a:r>
              <a:t>외부 원문 미검증 수치는 본문에서 보류했습니다.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문제</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8</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고객이 원하는 것은 공부보다 보여줄 결과물일 수 있습니다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사용자 가설</a:t>
            </a:r>
          </a:p>
        </p:txBody>
      </p:sp>
      <p:sp>
        <p:nvSpPr>
          <p:cNvPr id="8" name="Rounded Rectangle 7"/>
          <p:cNvSpPr/>
          <p:nvPr/>
        </p:nvSpPr>
        <p:spPr>
          <a:xfrm>
            <a:off x="640080" y="2633472"/>
            <a:ext cx="3468623"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816352"/>
            <a:ext cx="3139440"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겉으로 하는 일</a:t>
            </a:r>
          </a:p>
        </p:txBody>
      </p:sp>
      <p:sp>
        <p:nvSpPr>
          <p:cNvPr id="10" name="TextBox 9"/>
          <p:cNvSpPr txBox="1"/>
          <p:nvPr/>
        </p:nvSpPr>
        <p:spPr>
          <a:xfrm>
            <a:off x="804671" y="3502152"/>
            <a:ext cx="3139440"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실무 강의 찾기</a:t>
            </a:r>
          </a:p>
        </p:txBody>
      </p:sp>
      <p:sp>
        <p:nvSpPr>
          <p:cNvPr id="11" name="TextBox 10"/>
          <p:cNvSpPr txBox="1"/>
          <p:nvPr/>
        </p:nvSpPr>
        <p:spPr>
          <a:xfrm>
            <a:off x="4131564"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12" name="Rounded Rectangle 11"/>
          <p:cNvSpPr/>
          <p:nvPr/>
        </p:nvSpPr>
        <p:spPr>
          <a:xfrm>
            <a:off x="4364736" y="2633472"/>
            <a:ext cx="3468623"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9328" y="2816352"/>
            <a:ext cx="3139440"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해결하려는 일</a:t>
            </a:r>
          </a:p>
        </p:txBody>
      </p:sp>
      <p:sp>
        <p:nvSpPr>
          <p:cNvPr id="14" name="TextBox 13"/>
          <p:cNvSpPr txBox="1"/>
          <p:nvPr/>
        </p:nvSpPr>
        <p:spPr>
          <a:xfrm>
            <a:off x="4529328" y="3502152"/>
            <a:ext cx="3139440"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지원·면접에서 설명할 작업물 만들기</a:t>
            </a:r>
          </a:p>
        </p:txBody>
      </p:sp>
      <p:sp>
        <p:nvSpPr>
          <p:cNvPr id="15" name="TextBox 14"/>
          <p:cNvSpPr txBox="1"/>
          <p:nvPr/>
        </p:nvSpPr>
        <p:spPr>
          <a:xfrm>
            <a:off x="7856220"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16" name="Rounded Rectangle 15"/>
          <p:cNvSpPr/>
          <p:nvPr/>
        </p:nvSpPr>
        <p:spPr>
          <a:xfrm>
            <a:off x="8089391" y="2633472"/>
            <a:ext cx="3468623"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3983" y="2816352"/>
            <a:ext cx="3139440"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서비스의 제안</a:t>
            </a:r>
          </a:p>
        </p:txBody>
      </p:sp>
      <p:sp>
        <p:nvSpPr>
          <p:cNvPr id="18" name="TextBox 17"/>
          <p:cNvSpPr txBox="1"/>
          <p:nvPr/>
        </p:nvSpPr>
        <p:spPr>
          <a:xfrm>
            <a:off x="8253983" y="3502152"/>
            <a:ext cx="3139440"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짧은 강의로 작은 결과물 완성</a:t>
            </a:r>
          </a:p>
        </p:txBody>
      </p:sp>
      <p:sp>
        <p:nvSpPr>
          <p:cNvPr id="19" name="Rounded Rectangle 18"/>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JTBD는 검증할 사용자 가설입니다. 무료 자료·직접 실습·다른 교육도 대안입니다.</a:t>
            </a:r>
          </a:p>
        </p:txBody>
      </p:sp>
      <p:sp>
        <p:nvSpPr>
          <p:cNvPr id="21" name="Rectangle 20"/>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rPr>
              <a:t>자료: L12 12강 전략 프레임·시장 분석</a:t>
            </a:r>
          </a:p>
        </p:txBody>
      </p:sp>
      <p:sp>
        <p:nvSpPr>
          <p:cNvPr id="23" name="TextBox 22"/>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시장·타겟</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9</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시장 규모보다 먼저 도달 가능한 고객 범위를 정합니다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시장 범위 가설</a:t>
            </a:r>
          </a:p>
        </p:txBody>
      </p:sp>
      <p:sp>
        <p:nvSpPr>
          <p:cNvPr id="8" name="Rounded Rectangle 7"/>
          <p:cNvSpPr/>
          <p:nvPr/>
        </p:nvSpPr>
        <p:spPr>
          <a:xfrm>
            <a:off x="640080"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TAM 후보</a:t>
            </a:r>
          </a:p>
        </p:txBody>
      </p:sp>
      <p:sp>
        <p:nvSpPr>
          <p:cNvPr id="10" name="TextBox 9"/>
          <p:cNvSpPr txBox="1"/>
          <p:nvPr/>
        </p:nvSpPr>
        <p:spPr>
          <a:xfrm>
            <a:off x="822959"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실무 역량 학습이 필요한 전체 잠재 집단</a:t>
            </a:r>
          </a:p>
        </p:txBody>
      </p:sp>
      <p:sp>
        <p:nvSpPr>
          <p:cNvPr id="11" name="Rounded Rectangle 10"/>
          <p:cNvSpPr/>
          <p:nvPr/>
        </p:nvSpPr>
        <p:spPr>
          <a:xfrm>
            <a:off x="4340351"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3232"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SAM 후보</a:t>
            </a:r>
          </a:p>
        </p:txBody>
      </p:sp>
      <p:sp>
        <p:nvSpPr>
          <p:cNvPr id="13" name="TextBox 12"/>
          <p:cNvSpPr txBox="1"/>
          <p:nvPr/>
        </p:nvSpPr>
        <p:spPr>
          <a:xfrm>
            <a:off x="4523232"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온라인 단건 강의를 고려하는 사무·마케팅 준비층</a:t>
            </a:r>
          </a:p>
        </p:txBody>
      </p:sp>
      <p:sp>
        <p:nvSpPr>
          <p:cNvPr id="14" name="Rounded Rectangle 13"/>
          <p:cNvSpPr/>
          <p:nvPr/>
        </p:nvSpPr>
        <p:spPr>
          <a:xfrm>
            <a:off x="8040623"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3503"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SOM 산정</a:t>
            </a:r>
          </a:p>
        </p:txBody>
      </p:sp>
      <p:sp>
        <p:nvSpPr>
          <p:cNvPr id="16" name="TextBox 15"/>
          <p:cNvSpPr txBox="1"/>
          <p:nvPr/>
        </p:nvSpPr>
        <p:spPr>
          <a:xfrm>
            <a:off x="8223503"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도달 가능한 방문자 × 적격 비율 × 유료 전환율</a:t>
            </a:r>
          </a:p>
        </p:txBody>
      </p:sp>
      <p:sp>
        <p:nvSpPr>
          <p:cNvPr id="17" name="Rounded Rectangle 16"/>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미취업 청년 전체를 곧바로 고객 수나 매출 시장으로 계산하지 않습니다.</a:t>
            </a:r>
          </a:p>
        </p:txBody>
      </p:sp>
      <p:sp>
        <p:nvSpPr>
          <p:cNvPr id="19" name="Rectangle 18"/>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S07 청년층 부가조사</a:t>
            </a:r>
            <a:r>
              <a:rPr sz="800">
                <a:solidFill>
                  <a:srgbClr val="5E6C79"/>
                </a:solidFill>
                <a:latin typeface="Noto Sans CJK KR"/>
              </a:rPr>
              <a:t>  |  L12 12강 전략 프레임·시장 분석</a:t>
            </a:r>
          </a:p>
        </p:txBody>
      </p:sp>
      <p:sp>
        <p:nvSpPr>
          <p:cNvPr id="21" name="TextBox 20"/>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09</a:t>
            </a:r>
          </a:p>
        </p:txBody>
      </p:sp>
      <p:sp>
        <p:nvSpPr>
          <p:cNvPr id="22" name="TextBox 21"/>
          <p:cNvSpPr txBox="1"/>
          <p:nvPr/>
        </p:nvSpPr>
        <p:spPr>
          <a:xfrm>
            <a:off x="658368" y="6190488"/>
            <a:ext cx="10698480" cy="182880"/>
          </a:xfrm>
          <a:prstGeom prst="rect">
            <a:avLst/>
          </a:prstGeom>
          <a:noFill/>
        </p:spPr>
        <p:txBody>
          <a:bodyPr wrap="square" lIns="13716" rIns="13716" tIns="18288" bIns="0">
            <a:spAutoFit/>
          </a:bodyPr>
          <a:lstStyle/>
          <a:p>
            <a:pPr algn="l">
              <a:lnSpc>
                <a:spcPct val="117000"/>
              </a:lnSpc>
              <a:spcAft>
                <a:spcPts val="600"/>
              </a:spcAft>
              <a:defRPr sz="800" b="0">
                <a:solidFill>
                  <a:srgbClr val="5E6C79"/>
                </a:solidFill>
                <a:latin typeface="Noto Sans CJK KR"/>
              </a:defRPr>
            </a:pPr>
            <a:r>
              <a:t>외부 원문 미검증 수치는 본문에서 보류했습니다.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시장·타겟</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10</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마케터 취업준비생부터 집중합니다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타겟 전략</a:t>
            </a:r>
          </a:p>
        </p:txBody>
      </p:sp>
      <p:sp>
        <p:nvSpPr>
          <p:cNvPr id="8" name="Rounded Rectangle 7"/>
          <p:cNvSpPr/>
          <p:nvPr/>
        </p:nvSpPr>
        <p:spPr>
          <a:xfrm>
            <a:off x="640080"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핵심 고객</a:t>
            </a:r>
          </a:p>
        </p:txBody>
      </p:sp>
      <p:sp>
        <p:nvSpPr>
          <p:cNvPr id="10" name="TextBox 9"/>
          <p:cNvSpPr txBox="1"/>
          <p:nvPr/>
        </p:nvSpPr>
        <p:spPr>
          <a:xfrm>
            <a:off x="822959"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마케팅 직무 준비 중 실무 과제가 필요한 초보자</a:t>
            </a:r>
          </a:p>
        </p:txBody>
      </p:sp>
      <p:sp>
        <p:nvSpPr>
          <p:cNvPr id="11" name="Rounded Rectangle 10"/>
          <p:cNvSpPr/>
          <p:nvPr/>
        </p:nvSpPr>
        <p:spPr>
          <a:xfrm>
            <a:off x="4340351"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3232"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인접 고객</a:t>
            </a:r>
          </a:p>
        </p:txBody>
      </p:sp>
      <p:sp>
        <p:nvSpPr>
          <p:cNvPr id="13" name="TextBox 12"/>
          <p:cNvSpPr txBox="1"/>
          <p:nvPr/>
        </p:nvSpPr>
        <p:spPr>
          <a:xfrm>
            <a:off x="4523232"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엑셀·PPT가 필요한 사무직 취준생</a:t>
            </a:r>
          </a:p>
        </p:txBody>
      </p:sp>
      <p:sp>
        <p:nvSpPr>
          <p:cNvPr id="14" name="Rounded Rectangle 13"/>
          <p:cNvSpPr/>
          <p:nvPr/>
        </p:nvSpPr>
        <p:spPr>
          <a:xfrm>
            <a:off x="8040623"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3503"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확장 후보</a:t>
            </a:r>
          </a:p>
        </p:txBody>
      </p:sp>
      <p:sp>
        <p:nvSpPr>
          <p:cNvPr id="16" name="TextBox 15"/>
          <p:cNvSpPr txBox="1"/>
          <p:nvPr/>
        </p:nvSpPr>
        <p:spPr>
          <a:xfrm>
            <a:off x="8223503"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작은 실무를 익히려는 신입·인턴</a:t>
            </a:r>
          </a:p>
        </p:txBody>
      </p:sp>
      <p:sp>
        <p:nvSpPr>
          <p:cNvPr id="17" name="Rounded Rectangle 16"/>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제작 가능한 분야부터 좁게 시작하되, 전문성은 결과물과 자료로 증명합니다.</a:t>
            </a:r>
          </a:p>
        </p:txBody>
      </p:sp>
      <p:sp>
        <p:nvSpPr>
          <p:cNvPr id="19" name="Rectangle 18"/>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I01 제품 원칙·범위</a:t>
            </a:r>
            <a:r>
              <a:rPr sz="800">
                <a:solidFill>
                  <a:srgbClr val="5E6C79"/>
                </a:solidFill>
                <a:latin typeface="Noto Sans CJK KR"/>
              </a:rPr>
              <a:t>  |  L13 13강 세분화·타겟팅</a:t>
            </a:r>
          </a:p>
        </p:txBody>
      </p:sp>
      <p:sp>
        <p:nvSpPr>
          <p:cNvPr id="21" name="TextBox 20"/>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시장·타겟</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11</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가설 페르소나는 ‘보여줄 파일이 없는 마케팅 지원자’입니다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가설 페르소나</a:t>
            </a:r>
          </a:p>
        </p:txBody>
      </p:sp>
      <p:sp>
        <p:nvSpPr>
          <p:cNvPr id="8" name="Rounded Rectangle 7"/>
          <p:cNvSpPr/>
          <p:nvPr/>
        </p:nvSpPr>
        <p:spPr>
          <a:xfrm>
            <a:off x="640080" y="2359152"/>
            <a:ext cx="3517391"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96312"/>
            <a:ext cx="3151631" cy="393192"/>
          </a:xfrm>
          <a:prstGeom prst="rect">
            <a:avLst/>
          </a:prstGeom>
          <a:noFill/>
        </p:spPr>
        <p:txBody>
          <a:bodyPr wrap="square" lIns="13716" rIns="13716" tIns="18288" bIns="0">
            <a:spAutoFit/>
          </a:bodyPr>
          <a:lstStyle/>
          <a:p>
            <a:pPr algn="l">
              <a:lnSpc>
                <a:spcPct val="117000"/>
              </a:lnSpc>
              <a:spcAft>
                <a:spcPts val="600"/>
              </a:spcAft>
              <a:defRPr sz="1600" b="1">
                <a:solidFill>
                  <a:srgbClr val="23578C"/>
                </a:solidFill>
                <a:latin typeface="Noto Sans CJK KR"/>
              </a:defRPr>
            </a:pPr>
            <a:r>
              <a:t>상황</a:t>
            </a:r>
          </a:p>
        </p:txBody>
      </p:sp>
      <p:sp>
        <p:nvSpPr>
          <p:cNvPr id="10" name="TextBox 9"/>
          <p:cNvSpPr txBox="1"/>
          <p:nvPr/>
        </p:nvSpPr>
        <p:spPr>
          <a:xfrm>
            <a:off x="822959" y="3008376"/>
            <a:ext cx="3151631"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26세 마케팅 직무 지원자 · 가상 인물</a:t>
            </a:r>
          </a:p>
        </p:txBody>
      </p:sp>
      <p:sp>
        <p:nvSpPr>
          <p:cNvPr id="11" name="Rounded Rectangle 10"/>
          <p:cNvSpPr/>
          <p:nvPr/>
        </p:nvSpPr>
        <p:spPr>
          <a:xfrm>
            <a:off x="4340351" y="2359152"/>
            <a:ext cx="3517391"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3232" y="2496312"/>
            <a:ext cx="3151631" cy="393192"/>
          </a:xfrm>
          <a:prstGeom prst="rect">
            <a:avLst/>
          </a:prstGeom>
          <a:noFill/>
        </p:spPr>
        <p:txBody>
          <a:bodyPr wrap="square" lIns="13716" rIns="13716" tIns="18288" bIns="0">
            <a:spAutoFit/>
          </a:bodyPr>
          <a:lstStyle/>
          <a:p>
            <a:pPr algn="l">
              <a:lnSpc>
                <a:spcPct val="117000"/>
              </a:lnSpc>
              <a:spcAft>
                <a:spcPts val="600"/>
              </a:spcAft>
              <a:defRPr sz="1600" b="1">
                <a:solidFill>
                  <a:srgbClr val="23578C"/>
                </a:solidFill>
                <a:latin typeface="Noto Sans CJK KR"/>
              </a:defRPr>
            </a:pPr>
            <a:r>
              <a:t>목표</a:t>
            </a:r>
          </a:p>
        </p:txBody>
      </p:sp>
      <p:sp>
        <p:nvSpPr>
          <p:cNvPr id="13" name="TextBox 12"/>
          <p:cNvSpPr txBox="1"/>
          <p:nvPr/>
        </p:nvSpPr>
        <p:spPr>
          <a:xfrm>
            <a:off x="4523232" y="3008376"/>
            <a:ext cx="3151631"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과제·면접에서 내 판단을 설명할 자료 만들기</a:t>
            </a:r>
          </a:p>
        </p:txBody>
      </p:sp>
      <p:sp>
        <p:nvSpPr>
          <p:cNvPr id="14" name="Rounded Rectangle 13"/>
          <p:cNvSpPr/>
          <p:nvPr/>
        </p:nvSpPr>
        <p:spPr>
          <a:xfrm>
            <a:off x="8040623" y="2359152"/>
            <a:ext cx="3517391"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3503" y="2496312"/>
            <a:ext cx="3151631" cy="393192"/>
          </a:xfrm>
          <a:prstGeom prst="rect">
            <a:avLst/>
          </a:prstGeom>
          <a:noFill/>
        </p:spPr>
        <p:txBody>
          <a:bodyPr wrap="square" lIns="13716" rIns="13716" tIns="18288" bIns="0">
            <a:spAutoFit/>
          </a:bodyPr>
          <a:lstStyle/>
          <a:p>
            <a:pPr algn="l">
              <a:lnSpc>
                <a:spcPct val="117000"/>
              </a:lnSpc>
              <a:spcAft>
                <a:spcPts val="600"/>
              </a:spcAft>
              <a:defRPr sz="1600" b="1">
                <a:solidFill>
                  <a:srgbClr val="23578C"/>
                </a:solidFill>
                <a:latin typeface="Noto Sans CJK KR"/>
              </a:defRPr>
            </a:pPr>
            <a:r>
              <a:t>불편</a:t>
            </a:r>
          </a:p>
        </p:txBody>
      </p:sp>
      <p:sp>
        <p:nvSpPr>
          <p:cNvPr id="16" name="TextBox 15"/>
          <p:cNvSpPr txBox="1"/>
          <p:nvPr/>
        </p:nvSpPr>
        <p:spPr>
          <a:xfrm>
            <a:off x="8223503" y="3008376"/>
            <a:ext cx="3151631"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용어를 알아도 데이터와 보고서로 연결하기 어려움</a:t>
            </a:r>
          </a:p>
        </p:txBody>
      </p:sp>
      <p:sp>
        <p:nvSpPr>
          <p:cNvPr id="17" name="Rounded Rectangle 16"/>
          <p:cNvSpPr/>
          <p:nvPr/>
        </p:nvSpPr>
        <p:spPr>
          <a:xfrm>
            <a:off x="640080" y="3950208"/>
            <a:ext cx="3517391"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4087368"/>
            <a:ext cx="3151631" cy="393192"/>
          </a:xfrm>
          <a:prstGeom prst="rect">
            <a:avLst/>
          </a:prstGeom>
          <a:noFill/>
        </p:spPr>
        <p:txBody>
          <a:bodyPr wrap="square" lIns="13716" rIns="13716" tIns="18288" bIns="0">
            <a:spAutoFit/>
          </a:bodyPr>
          <a:lstStyle/>
          <a:p>
            <a:pPr algn="l">
              <a:lnSpc>
                <a:spcPct val="117000"/>
              </a:lnSpc>
              <a:spcAft>
                <a:spcPts val="600"/>
              </a:spcAft>
              <a:defRPr sz="1600" b="1">
                <a:solidFill>
                  <a:srgbClr val="23578C"/>
                </a:solidFill>
                <a:latin typeface="Noto Sans CJK KR"/>
              </a:defRPr>
            </a:pPr>
            <a:r>
              <a:t>결정 기준</a:t>
            </a:r>
          </a:p>
        </p:txBody>
      </p:sp>
      <p:sp>
        <p:nvSpPr>
          <p:cNvPr id="19" name="TextBox 18"/>
          <p:cNvSpPr txBox="1"/>
          <p:nvPr/>
        </p:nvSpPr>
        <p:spPr>
          <a:xfrm>
            <a:off x="822959" y="4599432"/>
            <a:ext cx="3151631"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내 수준에 맞는지·결과물·준비물·가격</a:t>
            </a:r>
          </a:p>
        </p:txBody>
      </p:sp>
      <p:sp>
        <p:nvSpPr>
          <p:cNvPr id="20" name="Rounded Rectangle 19"/>
          <p:cNvSpPr/>
          <p:nvPr/>
        </p:nvSpPr>
        <p:spPr>
          <a:xfrm>
            <a:off x="4340351" y="3950208"/>
            <a:ext cx="3517391"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23232" y="4087368"/>
            <a:ext cx="3151631" cy="393192"/>
          </a:xfrm>
          <a:prstGeom prst="rect">
            <a:avLst/>
          </a:prstGeom>
          <a:noFill/>
        </p:spPr>
        <p:txBody>
          <a:bodyPr wrap="square" lIns="13716" rIns="13716" tIns="18288" bIns="0">
            <a:spAutoFit/>
          </a:bodyPr>
          <a:lstStyle/>
          <a:p>
            <a:pPr algn="l">
              <a:lnSpc>
                <a:spcPct val="117000"/>
              </a:lnSpc>
              <a:spcAft>
                <a:spcPts val="600"/>
              </a:spcAft>
              <a:defRPr sz="1600" b="1">
                <a:solidFill>
                  <a:srgbClr val="23578C"/>
                </a:solidFill>
                <a:latin typeface="Noto Sans CJK KR"/>
              </a:defRPr>
            </a:pPr>
            <a:r>
              <a:t>확인할 채널</a:t>
            </a:r>
          </a:p>
        </p:txBody>
      </p:sp>
      <p:sp>
        <p:nvSpPr>
          <p:cNvPr id="22" name="TextBox 21"/>
          <p:cNvSpPr txBox="1"/>
          <p:nvPr/>
        </p:nvSpPr>
        <p:spPr>
          <a:xfrm>
            <a:off x="4523232" y="4599432"/>
            <a:ext cx="3151631"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직접 이용 채널과 탐색 행동을 인터뷰로 확인</a:t>
            </a:r>
          </a:p>
        </p:txBody>
      </p:sp>
      <p:sp>
        <p:nvSpPr>
          <p:cNvPr id="23" name="Rectangle 22"/>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rPr>
              <a:t>자료: L13 13강 세분화·타겟팅</a:t>
            </a:r>
          </a:p>
        </p:txBody>
      </p:sp>
      <p:sp>
        <p:nvSpPr>
          <p:cNvPr id="25" name="TextBox 24"/>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시장·타겟</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12</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자격증 합격이나 고급 실무 교육은 초기 범위에서 제외합니다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타겟 전략  ·  시간 조절 시 생략 가능</a:t>
            </a:r>
          </a:p>
        </p:txBody>
      </p:sp>
      <p:sp>
        <p:nvSpPr>
          <p:cNvPr id="8" name="Rounded Rectangle 7"/>
          <p:cNvSpPr/>
          <p:nvPr/>
        </p:nvSpPr>
        <p:spPr>
          <a:xfrm>
            <a:off x="640080"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현재 집중하지 않음</a:t>
            </a:r>
          </a:p>
        </p:txBody>
      </p:sp>
      <p:sp>
        <p:nvSpPr>
          <p:cNvPr id="10" name="TextBox 9"/>
          <p:cNvSpPr txBox="1"/>
          <p:nvPr/>
        </p:nvSpPr>
        <p:spPr>
          <a:xfrm>
            <a:off x="822959"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자격증 합격 자체가 목적인 고객</a:t>
            </a:r>
          </a:p>
        </p:txBody>
      </p:sp>
      <p:sp>
        <p:nvSpPr>
          <p:cNvPr id="11" name="Rounded Rectangle 10"/>
          <p:cNvSpPr/>
          <p:nvPr/>
        </p:nvSpPr>
        <p:spPr>
          <a:xfrm>
            <a:off x="4340351"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3232"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현재 집중하지 않음</a:t>
            </a:r>
          </a:p>
        </p:txBody>
      </p:sp>
      <p:sp>
        <p:nvSpPr>
          <p:cNvPr id="13" name="TextBox 12"/>
          <p:cNvSpPr txBox="1"/>
          <p:nvPr/>
        </p:nvSpPr>
        <p:spPr>
          <a:xfrm>
            <a:off x="4523232"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고급 도구·전문 컨설팅을 원하는 경력자</a:t>
            </a:r>
          </a:p>
        </p:txBody>
      </p:sp>
      <p:sp>
        <p:nvSpPr>
          <p:cNvPr id="14" name="Rounded Rectangle 13"/>
          <p:cNvSpPr/>
          <p:nvPr/>
        </p:nvSpPr>
        <p:spPr>
          <a:xfrm>
            <a:off x="8040623"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3503"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선택의 기준</a:t>
            </a:r>
          </a:p>
        </p:txBody>
      </p:sp>
      <p:sp>
        <p:nvSpPr>
          <p:cNvPr id="16" name="TextBox 15"/>
          <p:cNvSpPr txBox="1"/>
          <p:nvPr/>
        </p:nvSpPr>
        <p:spPr>
          <a:xfrm>
            <a:off x="8223503"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초보자가 작은 결과물 하나를 완성할 수 있는가</a:t>
            </a:r>
          </a:p>
        </p:txBody>
      </p:sp>
      <p:sp>
        <p:nvSpPr>
          <p:cNvPr id="17" name="Rectangle 16"/>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rPr>
              <a:t>자료: L13 13강 세분화·타겟팅</a:t>
            </a:r>
            <a:r>
              <a:rPr sz="800">
                <a:solidFill>
                  <a:srgbClr val="5E6C79"/>
                </a:solidFill>
                <a:latin typeface="Noto Sans CJK KR"/>
                <a:hlinkClick r:id="rId2"/>
              </a:rPr>
              <a:t>  |  I01 제품 원칙·범위</a:t>
            </a:r>
          </a:p>
        </p:txBody>
      </p:sp>
      <p:sp>
        <p:nvSpPr>
          <p:cNvPr id="19" name="TextBox 18"/>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전략</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13</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단건 구매와 명확한 결과물을 함께 제안합니다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포지셔닝 가설</a:t>
            </a:r>
          </a:p>
        </p:txBody>
      </p:sp>
      <p:sp>
        <p:nvSpPr>
          <p:cNvPr id="8" name="Rounded Rectangle 7"/>
          <p:cNvSpPr/>
          <p:nvPr/>
        </p:nvSpPr>
        <p:spPr>
          <a:xfrm>
            <a:off x="640080" y="2395728"/>
            <a:ext cx="2852928" cy="658368"/>
          </a:xfrm>
          <a:prstGeom prst="roundRect">
            <a:avLst>
              <a:gd name="adj" fmla="val 10000"/>
            </a:avLst>
          </a:prstGeom>
          <a:solidFill>
            <a:srgbClr val="1D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2532888"/>
            <a:ext cx="2468880" cy="411480"/>
          </a:xfrm>
          <a:prstGeom prst="rect">
            <a:avLst/>
          </a:prstGeom>
          <a:noFill/>
        </p:spPr>
        <p:txBody>
          <a:bodyPr wrap="square" lIns="13716" rIns="13716" tIns="18288" bIns="0">
            <a:spAutoFit/>
          </a:bodyPr>
          <a:lstStyle/>
          <a:p>
            <a:pPr algn="l">
              <a:lnSpc>
                <a:spcPct val="117000"/>
              </a:lnSpc>
              <a:spcAft>
                <a:spcPts val="600"/>
              </a:spcAft>
              <a:defRPr sz="1900" b="1">
                <a:solidFill>
                  <a:srgbClr val="FFFFFF"/>
                </a:solidFill>
                <a:latin typeface="Noto Sans CJK KR"/>
              </a:defRPr>
            </a:pPr>
            <a:r>
              <a:t>구매 방식</a:t>
            </a:r>
          </a:p>
        </p:txBody>
      </p:sp>
      <p:sp>
        <p:nvSpPr>
          <p:cNvPr id="10" name="TextBox 9"/>
          <p:cNvSpPr txBox="1"/>
          <p:nvPr/>
        </p:nvSpPr>
        <p:spPr>
          <a:xfrm>
            <a:off x="3703320" y="2478024"/>
            <a:ext cx="7589520" cy="594360"/>
          </a:xfrm>
          <a:prstGeom prst="rect">
            <a:avLst/>
          </a:prstGeom>
          <a:noFill/>
        </p:spPr>
        <p:txBody>
          <a:bodyPr wrap="square" lIns="13716" rIns="13716" tIns="18288" bIns="0">
            <a:spAutoFit/>
          </a:bodyPr>
          <a:lstStyle/>
          <a:p>
            <a:pPr algn="l">
              <a:lnSpc>
                <a:spcPct val="117000"/>
              </a:lnSpc>
              <a:spcAft>
                <a:spcPts val="600"/>
              </a:spcAft>
              <a:defRPr sz="2100" b="0">
                <a:solidFill>
                  <a:srgbClr val="1D2D40"/>
                </a:solidFill>
                <a:latin typeface="Noto Sans CJK KR"/>
              </a:defRPr>
            </a:pPr>
            <a:r>
              <a:t>구독/묶음 ↔ 필요한 한 편</a:t>
            </a:r>
          </a:p>
        </p:txBody>
      </p:sp>
      <p:sp>
        <p:nvSpPr>
          <p:cNvPr id="11" name="Rounded Rectangle 10"/>
          <p:cNvSpPr/>
          <p:nvPr/>
        </p:nvSpPr>
        <p:spPr>
          <a:xfrm>
            <a:off x="640080" y="3273552"/>
            <a:ext cx="2852928" cy="658368"/>
          </a:xfrm>
          <a:prstGeom prst="roundRect">
            <a:avLst>
              <a:gd name="adj" fmla="val 10000"/>
            </a:avLst>
          </a:prstGeom>
          <a:solidFill>
            <a:srgbClr val="1D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3410712"/>
            <a:ext cx="2468880" cy="411480"/>
          </a:xfrm>
          <a:prstGeom prst="rect">
            <a:avLst/>
          </a:prstGeom>
          <a:noFill/>
        </p:spPr>
        <p:txBody>
          <a:bodyPr wrap="square" lIns="13716" rIns="13716" tIns="18288" bIns="0">
            <a:spAutoFit/>
          </a:bodyPr>
          <a:lstStyle/>
          <a:p>
            <a:pPr algn="l">
              <a:lnSpc>
                <a:spcPct val="117000"/>
              </a:lnSpc>
              <a:spcAft>
                <a:spcPts val="600"/>
              </a:spcAft>
              <a:defRPr sz="1900" b="1">
                <a:solidFill>
                  <a:srgbClr val="FFFFFF"/>
                </a:solidFill>
                <a:latin typeface="Noto Sans CJK KR"/>
              </a:defRPr>
            </a:pPr>
            <a:r>
              <a:t>결과물의 명확성</a:t>
            </a:r>
          </a:p>
        </p:txBody>
      </p:sp>
      <p:sp>
        <p:nvSpPr>
          <p:cNvPr id="13" name="TextBox 12"/>
          <p:cNvSpPr txBox="1"/>
          <p:nvPr/>
        </p:nvSpPr>
        <p:spPr>
          <a:xfrm>
            <a:off x="3703320" y="3355848"/>
            <a:ext cx="7589520" cy="594360"/>
          </a:xfrm>
          <a:prstGeom prst="rect">
            <a:avLst/>
          </a:prstGeom>
          <a:noFill/>
        </p:spPr>
        <p:txBody>
          <a:bodyPr wrap="square" lIns="13716" rIns="13716" tIns="18288" bIns="0">
            <a:spAutoFit/>
          </a:bodyPr>
          <a:lstStyle/>
          <a:p>
            <a:pPr algn="l">
              <a:lnSpc>
                <a:spcPct val="117000"/>
              </a:lnSpc>
              <a:spcAft>
                <a:spcPts val="600"/>
              </a:spcAft>
              <a:defRPr sz="2100" b="0">
                <a:solidFill>
                  <a:srgbClr val="1D2D40"/>
                </a:solidFill>
                <a:latin typeface="Noto Sans CJK KR"/>
              </a:defRPr>
            </a:pPr>
            <a:r>
              <a:t>완성할 작업물의 명확성 낮음 ↔ 높음</a:t>
            </a:r>
          </a:p>
        </p:txBody>
      </p:sp>
      <p:sp>
        <p:nvSpPr>
          <p:cNvPr id="14" name="Rounded Rectangle 13"/>
          <p:cNvSpPr/>
          <p:nvPr/>
        </p:nvSpPr>
        <p:spPr>
          <a:xfrm>
            <a:off x="640080" y="4151376"/>
            <a:ext cx="2852928" cy="658368"/>
          </a:xfrm>
          <a:prstGeom prst="roundRect">
            <a:avLst>
              <a:gd name="adj" fmla="val 10000"/>
            </a:avLst>
          </a:prstGeom>
          <a:solidFill>
            <a:srgbClr val="1D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4288536"/>
            <a:ext cx="2468880" cy="411480"/>
          </a:xfrm>
          <a:prstGeom prst="rect">
            <a:avLst/>
          </a:prstGeom>
          <a:noFill/>
        </p:spPr>
        <p:txBody>
          <a:bodyPr wrap="square" lIns="13716" rIns="13716" tIns="18288" bIns="0">
            <a:spAutoFit/>
          </a:bodyPr>
          <a:lstStyle/>
          <a:p>
            <a:pPr algn="l">
              <a:lnSpc>
                <a:spcPct val="117000"/>
              </a:lnSpc>
              <a:spcAft>
                <a:spcPts val="600"/>
              </a:spcAft>
              <a:defRPr sz="1900" b="1">
                <a:solidFill>
                  <a:srgbClr val="FFFFFF"/>
                </a:solidFill>
                <a:latin typeface="Noto Sans CJK KR"/>
              </a:defRPr>
            </a:pPr>
            <a:r>
              <a:t>한클래스의 제안</a:t>
            </a:r>
          </a:p>
        </p:txBody>
      </p:sp>
      <p:sp>
        <p:nvSpPr>
          <p:cNvPr id="16" name="TextBox 15"/>
          <p:cNvSpPr txBox="1"/>
          <p:nvPr/>
        </p:nvSpPr>
        <p:spPr>
          <a:xfrm>
            <a:off x="3703320" y="4233672"/>
            <a:ext cx="7589520" cy="594360"/>
          </a:xfrm>
          <a:prstGeom prst="rect">
            <a:avLst/>
          </a:prstGeom>
          <a:noFill/>
        </p:spPr>
        <p:txBody>
          <a:bodyPr wrap="square" lIns="13716" rIns="13716" tIns="18288" bIns="0">
            <a:spAutoFit/>
          </a:bodyPr>
          <a:lstStyle/>
          <a:p>
            <a:pPr algn="l">
              <a:lnSpc>
                <a:spcPct val="117000"/>
              </a:lnSpc>
              <a:spcAft>
                <a:spcPts val="600"/>
              </a:spcAft>
              <a:defRPr sz="2100" b="1">
                <a:solidFill>
                  <a:srgbClr val="1D2D40"/>
                </a:solidFill>
                <a:latin typeface="Noto Sans CJK KR"/>
              </a:defRPr>
            </a:pPr>
            <a:r>
              <a:t>1편 단건 + 사전에 명시된 결과물 1개</a:t>
            </a:r>
          </a:p>
        </p:txBody>
      </p:sp>
      <p:sp>
        <p:nvSpPr>
          <p:cNvPr id="17" name="Rounded Rectangle 16"/>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시장에 빈칸이 있다는 사실이나 경쟁 우위는 아직 입증하지 않았습니다.</a:t>
            </a:r>
          </a:p>
        </p:txBody>
      </p:sp>
      <p:sp>
        <p:nvSpPr>
          <p:cNvPr id="19" name="Rectangle 18"/>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rPr>
              <a:t>자료: L14 14강 포지셔닝·가치제안</a:t>
            </a:r>
            <a:r>
              <a:rPr sz="800">
                <a:solidFill>
                  <a:srgbClr val="5E6C79"/>
                </a:solidFill>
                <a:latin typeface="Noto Sans CJK KR"/>
                <a:hlinkClick r:id="rId2"/>
              </a:rPr>
              <a:t>  |  I02 6개 강의 데이터·가격</a:t>
            </a:r>
          </a:p>
        </p:txBody>
      </p:sp>
      <p:sp>
        <p:nvSpPr>
          <p:cNvPr id="21" name="TextBox 20"/>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전략</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14</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한 강의에 결과물 하나, 필요한 만큼만 선택합니다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제품 데이터 확인</a:t>
            </a:r>
          </a:p>
        </p:txBody>
      </p:sp>
      <p:sp>
        <p:nvSpPr>
          <p:cNvPr id="8" name="Rectangle 7"/>
          <p:cNvSpPr/>
          <p:nvPr/>
        </p:nvSpPr>
        <p:spPr>
          <a:xfrm>
            <a:off x="658368" y="2523744"/>
            <a:ext cx="64008" cy="34747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414016"/>
            <a:ext cx="10287000" cy="822960"/>
          </a:xfrm>
          <a:prstGeom prst="rect">
            <a:avLst/>
          </a:prstGeom>
          <a:noFill/>
        </p:spPr>
        <p:txBody>
          <a:bodyPr wrap="square" lIns="13716" rIns="13716" tIns="18288" bIns="0">
            <a:spAutoFit/>
          </a:bodyPr>
          <a:lstStyle/>
          <a:p>
            <a:pPr algn="l">
              <a:lnSpc>
                <a:spcPct val="117000"/>
              </a:lnSpc>
              <a:spcAft>
                <a:spcPts val="600"/>
              </a:spcAft>
              <a:defRPr sz="2300" b="1">
                <a:solidFill>
                  <a:srgbClr val="1D2D40"/>
                </a:solidFill>
                <a:latin typeface="Noto Sans CJK KR"/>
              </a:defRPr>
            </a:pPr>
            <a:r>
              <a:t>마케터 취업준비생과 실무 초보에게</a:t>
            </a:r>
          </a:p>
        </p:txBody>
      </p:sp>
      <p:sp>
        <p:nvSpPr>
          <p:cNvPr id="10" name="Rectangle 9"/>
          <p:cNvSpPr/>
          <p:nvPr/>
        </p:nvSpPr>
        <p:spPr>
          <a:xfrm>
            <a:off x="658368" y="3429000"/>
            <a:ext cx="64008" cy="34747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3319272"/>
            <a:ext cx="10287000" cy="822960"/>
          </a:xfrm>
          <a:prstGeom prst="rect">
            <a:avLst/>
          </a:prstGeom>
          <a:noFill/>
        </p:spPr>
        <p:txBody>
          <a:bodyPr wrap="square" lIns="13716" rIns="13716" tIns="18288" bIns="0">
            <a:spAutoFit/>
          </a:bodyPr>
          <a:lstStyle/>
          <a:p>
            <a:pPr algn="l">
              <a:lnSpc>
                <a:spcPct val="117000"/>
              </a:lnSpc>
              <a:spcAft>
                <a:spcPts val="600"/>
              </a:spcAft>
              <a:defRPr sz="2300" b="0">
                <a:solidFill>
                  <a:srgbClr val="1D2D40"/>
                </a:solidFill>
                <a:latin typeface="Noto Sans CJK KR"/>
              </a:defRPr>
            </a:pPr>
            <a:r>
              <a:t>1,000~2,000원의 단건 강의로</a:t>
            </a:r>
          </a:p>
        </p:txBody>
      </p:sp>
      <p:sp>
        <p:nvSpPr>
          <p:cNvPr id="12" name="Rectangle 11"/>
          <p:cNvSpPr/>
          <p:nvPr/>
        </p:nvSpPr>
        <p:spPr>
          <a:xfrm>
            <a:off x="658368" y="4334256"/>
            <a:ext cx="64008" cy="34747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4224528"/>
            <a:ext cx="10287000" cy="822960"/>
          </a:xfrm>
          <a:prstGeom prst="rect">
            <a:avLst/>
          </a:prstGeom>
          <a:noFill/>
        </p:spPr>
        <p:txBody>
          <a:bodyPr wrap="square" lIns="13716" rIns="13716" tIns="18288" bIns="0">
            <a:spAutoFit/>
          </a:bodyPr>
          <a:lstStyle/>
          <a:p>
            <a:pPr algn="l">
              <a:lnSpc>
                <a:spcPct val="117000"/>
              </a:lnSpc>
              <a:spcAft>
                <a:spcPts val="600"/>
              </a:spcAft>
              <a:defRPr sz="2300" b="0">
                <a:solidFill>
                  <a:srgbClr val="1D2D40"/>
                </a:solidFill>
                <a:latin typeface="Noto Sans CJK KR"/>
              </a:defRPr>
            </a:pPr>
            <a:r>
              <a:t>완성할 결과물이 명확한 작은 실습을 제안합니다.</a:t>
            </a:r>
          </a:p>
        </p:txBody>
      </p:sp>
      <p:sp>
        <p:nvSpPr>
          <p:cNvPr id="14" name="Rounded Rectangle 13"/>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근거: 모든 강의 데이터에 outcome·학습 목표·준비물을 정의</a:t>
            </a:r>
          </a:p>
        </p:txBody>
      </p:sp>
      <p:sp>
        <p:nvSpPr>
          <p:cNvPr id="16" name="Rectangle 15"/>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I02 6개 강의 데이터·가격</a:t>
            </a:r>
            <a:r>
              <a:rPr sz="800">
                <a:solidFill>
                  <a:srgbClr val="5E6C79"/>
                </a:solidFill>
                <a:latin typeface="Noto Sans CJK KR"/>
                <a:hlinkClick r:id="rId3"/>
              </a:rPr>
              <a:t>  |  I01 제품 원칙·범위</a:t>
            </a:r>
          </a:p>
        </p:txBody>
      </p:sp>
      <p:sp>
        <p:nvSpPr>
          <p:cNvPr id="18" name="TextBox 17"/>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전략</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15</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학습 목표와 차시를 작게 나누어 설계했습니다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설계 확인 · 연구 미검증  ·  시간 조절 시 생략 가능</a:t>
            </a:r>
          </a:p>
        </p:txBody>
      </p:sp>
      <p:sp>
        <p:nvSpPr>
          <p:cNvPr id="8" name="Rounded Rectangle 7"/>
          <p:cNvSpPr/>
          <p:nvPr/>
        </p:nvSpPr>
        <p:spPr>
          <a:xfrm>
            <a:off x="640080"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강의 단위</a:t>
            </a:r>
          </a:p>
        </p:txBody>
      </p:sp>
      <p:sp>
        <p:nvSpPr>
          <p:cNvPr id="10" name="TextBox 9"/>
          <p:cNvSpPr txBox="1"/>
          <p:nvPr/>
        </p:nvSpPr>
        <p:spPr>
          <a:xfrm>
            <a:off x="822959"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6개 강의에 각각 완성 결과물 정의</a:t>
            </a:r>
          </a:p>
        </p:txBody>
      </p:sp>
      <p:sp>
        <p:nvSpPr>
          <p:cNvPr id="11" name="Rounded Rectangle 10"/>
          <p:cNvSpPr/>
          <p:nvPr/>
        </p:nvSpPr>
        <p:spPr>
          <a:xfrm>
            <a:off x="4340351"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3232"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차시 단위</a:t>
            </a:r>
          </a:p>
        </p:txBody>
      </p:sp>
      <p:sp>
        <p:nvSpPr>
          <p:cNvPr id="13" name="TextBox 12"/>
          <p:cNvSpPr txBox="1"/>
          <p:nvPr/>
        </p:nvSpPr>
        <p:spPr>
          <a:xfrm>
            <a:off x="4523232"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예시 차시 길이 3~8분</a:t>
            </a:r>
          </a:p>
        </p:txBody>
      </p:sp>
      <p:sp>
        <p:nvSpPr>
          <p:cNvPr id="14" name="Rounded Rectangle 13"/>
          <p:cNvSpPr/>
          <p:nvPr/>
        </p:nvSpPr>
        <p:spPr>
          <a:xfrm>
            <a:off x="8040623"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3503"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검증 전제</a:t>
            </a:r>
          </a:p>
        </p:txBody>
      </p:sp>
      <p:sp>
        <p:nvSpPr>
          <p:cNvPr id="16" name="TextBox 15"/>
          <p:cNvSpPr txBox="1"/>
          <p:nvPr/>
        </p:nvSpPr>
        <p:spPr>
          <a:xfrm>
            <a:off x="8223503"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짧은 영상이 곧 학습·취업 효과를 보장하지 않음</a:t>
            </a:r>
          </a:p>
        </p:txBody>
      </p:sp>
      <p:sp>
        <p:nvSpPr>
          <p:cNvPr id="17" name="Rectangle 16"/>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I02 6개 강의 데이터·가격</a:t>
            </a:r>
            <a:r>
              <a:rPr sz="800">
                <a:solidFill>
                  <a:srgbClr val="5E6C79"/>
                </a:solidFill>
                <a:latin typeface="Noto Sans CJK KR"/>
                <a:hlinkClick r:id="rId3"/>
              </a:rPr>
              <a:t>  |  S11 마이크로러닝 논문</a:t>
            </a:r>
          </a:p>
        </p:txBody>
      </p:sp>
      <p:sp>
        <p:nvSpPr>
          <p:cNvPr id="19" name="TextBox 18"/>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15</a:t>
            </a:r>
          </a:p>
        </p:txBody>
      </p:sp>
      <p:sp>
        <p:nvSpPr>
          <p:cNvPr id="20" name="TextBox 19"/>
          <p:cNvSpPr txBox="1"/>
          <p:nvPr/>
        </p:nvSpPr>
        <p:spPr>
          <a:xfrm>
            <a:off x="658368" y="6190488"/>
            <a:ext cx="10698480" cy="182880"/>
          </a:xfrm>
          <a:prstGeom prst="rect">
            <a:avLst/>
          </a:prstGeom>
          <a:noFill/>
        </p:spPr>
        <p:txBody>
          <a:bodyPr wrap="square" lIns="13716" rIns="13716" tIns="18288" bIns="0">
            <a:spAutoFit/>
          </a:bodyPr>
          <a:lstStyle/>
          <a:p>
            <a:pPr algn="l">
              <a:lnSpc>
                <a:spcPct val="117000"/>
              </a:lnSpc>
              <a:spcAft>
                <a:spcPts val="600"/>
              </a:spcAft>
              <a:defRPr sz="800" b="0">
                <a:solidFill>
                  <a:srgbClr val="5E6C79"/>
                </a:solidFill>
                <a:latin typeface="Noto Sans CJK KR"/>
              </a:defRPr>
            </a:pPr>
            <a:r>
              <a:t>외부 원문 미검증 수치는 본문에서 보류했습니다.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전략</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16</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작은 선택·명확한 범위·완성 결과물로 메시지를 통일합니다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메시지 제안</a:t>
            </a:r>
          </a:p>
        </p:txBody>
      </p:sp>
      <p:sp>
        <p:nvSpPr>
          <p:cNvPr id="8" name="Rounded Rectangle 7"/>
          <p:cNvSpPr/>
          <p:nvPr/>
        </p:nvSpPr>
        <p:spPr>
          <a:xfrm>
            <a:off x="640080"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작은 선택</a:t>
            </a:r>
          </a:p>
        </p:txBody>
      </p:sp>
      <p:sp>
        <p:nvSpPr>
          <p:cNvPr id="10" name="TextBox 9"/>
          <p:cNvSpPr txBox="1"/>
          <p:nvPr/>
        </p:nvSpPr>
        <p:spPr>
          <a:xfrm>
            <a:off x="822959"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구독 없이 강의당 1,000~2,000원</a:t>
            </a:r>
          </a:p>
        </p:txBody>
      </p:sp>
      <p:sp>
        <p:nvSpPr>
          <p:cNvPr id="11" name="Rounded Rectangle 10"/>
          <p:cNvSpPr/>
          <p:nvPr/>
        </p:nvSpPr>
        <p:spPr>
          <a:xfrm>
            <a:off x="4340351"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3232"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명확한 범위</a:t>
            </a:r>
          </a:p>
        </p:txBody>
      </p:sp>
      <p:sp>
        <p:nvSpPr>
          <p:cNvPr id="13" name="TextBox 12"/>
          <p:cNvSpPr txBox="1"/>
          <p:nvPr/>
        </p:nvSpPr>
        <p:spPr>
          <a:xfrm>
            <a:off x="4523232"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이번 강의에서 풀 문제와 준비물 안내</a:t>
            </a:r>
          </a:p>
        </p:txBody>
      </p:sp>
      <p:sp>
        <p:nvSpPr>
          <p:cNvPr id="14" name="Rounded Rectangle 13"/>
          <p:cNvSpPr/>
          <p:nvPr/>
        </p:nvSpPr>
        <p:spPr>
          <a:xfrm>
            <a:off x="8040623"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3503"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완성 결과물</a:t>
            </a:r>
          </a:p>
        </p:txBody>
      </p:sp>
      <p:sp>
        <p:nvSpPr>
          <p:cNvPr id="16" name="TextBox 15"/>
          <p:cNvSpPr txBox="1"/>
          <p:nvPr/>
        </p:nvSpPr>
        <p:spPr>
          <a:xfrm>
            <a:off x="8223503"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끝나면 만들 파일·문서가 무엇인지 제시</a:t>
            </a:r>
          </a:p>
        </p:txBody>
      </p:sp>
      <p:sp>
        <p:nvSpPr>
          <p:cNvPr id="17" name="Rounded Rectangle 16"/>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지금 필요한 실무, 한 강씩.  /  말투: 명확한 · 다정한 · 현실적인</a:t>
            </a:r>
          </a:p>
        </p:txBody>
      </p:sp>
      <p:sp>
        <p:nvSpPr>
          <p:cNvPr id="19" name="Rectangle 18"/>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rPr>
              <a:t>자료: L17 17강 캠페인 컨셉</a:t>
            </a:r>
            <a:r>
              <a:rPr sz="800">
                <a:solidFill>
                  <a:srgbClr val="5E6C79"/>
                </a:solidFill>
                <a:latin typeface="Noto Sans CJK KR"/>
                <a:hlinkClick r:id="rId2"/>
              </a:rPr>
              <a:t>  |  I02 6개 강의 데이터·가격</a:t>
            </a:r>
          </a:p>
        </p:txBody>
      </p:sp>
      <p:sp>
        <p:nvSpPr>
          <p:cNvPr id="21" name="TextBox 20"/>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전략</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17</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확인할 수 없는 신뢰 신호는 넣지 않았습니다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규칙·코드 확인</a:t>
            </a:r>
          </a:p>
        </p:txBody>
      </p:sp>
      <p:sp>
        <p:nvSpPr>
          <p:cNvPr id="8" name="Rounded Rectangle 7"/>
          <p:cNvSpPr/>
          <p:nvPr/>
        </p:nvSpPr>
        <p:spPr>
          <a:xfrm>
            <a:off x="640080"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제외 원칙</a:t>
            </a:r>
          </a:p>
        </p:txBody>
      </p:sp>
      <p:sp>
        <p:nvSpPr>
          <p:cNvPr id="10" name="TextBox 9"/>
          <p:cNvSpPr txBox="1"/>
          <p:nvPr/>
        </p:nvSpPr>
        <p:spPr>
          <a:xfrm>
            <a:off x="822959"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가짜 후기·별점·수강생 수·강사 경력·취업 보장</a:t>
            </a:r>
          </a:p>
        </p:txBody>
      </p:sp>
      <p:sp>
        <p:nvSpPr>
          <p:cNvPr id="11" name="Rounded Rectangle 10"/>
          <p:cNvSpPr/>
          <p:nvPr/>
        </p:nvSpPr>
        <p:spPr>
          <a:xfrm>
            <a:off x="4340351"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3232"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현재 표시</a:t>
            </a:r>
          </a:p>
        </p:txBody>
      </p:sp>
      <p:sp>
        <p:nvSpPr>
          <p:cNvPr id="13" name="TextBox 12"/>
          <p:cNvSpPr txBox="1"/>
          <p:nvPr/>
        </p:nvSpPr>
        <p:spPr>
          <a:xfrm>
            <a:off x="4523232"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데모 고지·준비 중 상태·결과물·환불 안내</a:t>
            </a:r>
          </a:p>
        </p:txBody>
      </p:sp>
      <p:sp>
        <p:nvSpPr>
          <p:cNvPr id="14" name="Rounded Rectangle 13"/>
          <p:cNvSpPr/>
          <p:nvPr/>
        </p:nvSpPr>
        <p:spPr>
          <a:xfrm>
            <a:off x="8040623"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3503"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남은 개선</a:t>
            </a:r>
          </a:p>
        </p:txBody>
      </p:sp>
      <p:sp>
        <p:nvSpPr>
          <p:cNvPr id="16" name="TextBox 15"/>
          <p:cNvSpPr txBox="1"/>
          <p:nvPr/>
        </p:nvSpPr>
        <p:spPr>
          <a:xfrm>
            <a:off x="8223503"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실제 판매 전 문구·권한·운영정책 재점검</a:t>
            </a:r>
          </a:p>
        </p:txBody>
      </p:sp>
      <p:sp>
        <p:nvSpPr>
          <p:cNvPr id="17" name="Rectangle 16"/>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I03 디자인·삭제 원칙</a:t>
            </a:r>
            <a:r>
              <a:rPr sz="800">
                <a:solidFill>
                  <a:srgbClr val="5E6C79"/>
                </a:solidFill>
                <a:latin typeface="Noto Sans CJK KR"/>
                <a:hlinkClick r:id="rId3"/>
              </a:rPr>
              <a:t>  |  I01 제품 원칙·범위</a:t>
            </a:r>
          </a:p>
        </p:txBody>
      </p:sp>
      <p:sp>
        <p:nvSpPr>
          <p:cNvPr id="19" name="TextBox 18"/>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경험·시연</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18</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선택 전의 불확실성과 학습 후의 중단을 줄이려 합니다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여정 가설</a:t>
            </a:r>
          </a:p>
        </p:txBody>
      </p:sp>
      <p:sp>
        <p:nvSpPr>
          <p:cNvPr id="8" name="Rounded Rectangle 7"/>
          <p:cNvSpPr/>
          <p:nvPr/>
        </p:nvSpPr>
        <p:spPr>
          <a:xfrm>
            <a:off x="640080"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인지</a:t>
            </a:r>
          </a:p>
        </p:txBody>
      </p:sp>
      <p:sp>
        <p:nvSpPr>
          <p:cNvPr id="10" name="TextBox 9"/>
          <p:cNvSpPr txBox="1"/>
          <p:nvPr/>
        </p:nvSpPr>
        <p:spPr>
          <a:xfrm>
            <a:off x="804671"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이 서비스가 나에게 필요한가?</a:t>
            </a:r>
          </a:p>
        </p:txBody>
      </p:sp>
      <p:sp>
        <p:nvSpPr>
          <p:cNvPr id="11" name="TextBox 10"/>
          <p:cNvSpPr txBox="1"/>
          <p:nvPr/>
        </p:nvSpPr>
        <p:spPr>
          <a:xfrm>
            <a:off x="3200399"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12" name="Rounded Rectangle 11"/>
          <p:cNvSpPr/>
          <p:nvPr/>
        </p:nvSpPr>
        <p:spPr>
          <a:xfrm>
            <a:off x="3433572"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8164"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고려</a:t>
            </a:r>
          </a:p>
        </p:txBody>
      </p:sp>
      <p:sp>
        <p:nvSpPr>
          <p:cNvPr id="14" name="TextBox 13"/>
          <p:cNvSpPr txBox="1"/>
          <p:nvPr/>
        </p:nvSpPr>
        <p:spPr>
          <a:xfrm>
            <a:off x="3598164"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무엇을 만들고 무엇이 필요한가?</a:t>
            </a:r>
          </a:p>
        </p:txBody>
      </p:sp>
      <p:sp>
        <p:nvSpPr>
          <p:cNvPr id="15" name="TextBox 14"/>
          <p:cNvSpPr txBox="1"/>
          <p:nvPr/>
        </p:nvSpPr>
        <p:spPr>
          <a:xfrm>
            <a:off x="5993892"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16" name="Rounded Rectangle 15"/>
          <p:cNvSpPr/>
          <p:nvPr/>
        </p:nvSpPr>
        <p:spPr>
          <a:xfrm>
            <a:off x="6227064"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1655"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사용</a:t>
            </a:r>
          </a:p>
        </p:txBody>
      </p:sp>
      <p:sp>
        <p:nvSpPr>
          <p:cNvPr id="18" name="TextBox 17"/>
          <p:cNvSpPr txBox="1"/>
          <p:nvPr/>
        </p:nvSpPr>
        <p:spPr>
          <a:xfrm>
            <a:off x="6391655"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강의를 보고 내 결과물까지 완성하는가?</a:t>
            </a:r>
          </a:p>
        </p:txBody>
      </p:sp>
      <p:sp>
        <p:nvSpPr>
          <p:cNvPr id="19" name="TextBox 18"/>
          <p:cNvSpPr txBox="1"/>
          <p:nvPr/>
        </p:nvSpPr>
        <p:spPr>
          <a:xfrm>
            <a:off x="8787384"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20" name="Rounded Rectangle 19"/>
          <p:cNvSpPr/>
          <p:nvPr/>
        </p:nvSpPr>
        <p:spPr>
          <a:xfrm>
            <a:off x="9020555"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5147"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재방문</a:t>
            </a:r>
          </a:p>
        </p:txBody>
      </p:sp>
      <p:sp>
        <p:nvSpPr>
          <p:cNvPr id="22" name="TextBox 21"/>
          <p:cNvSpPr txBox="1"/>
          <p:nvPr/>
        </p:nvSpPr>
        <p:spPr>
          <a:xfrm>
            <a:off x="9185147"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다음으로 필요한 실무는 무엇인가?</a:t>
            </a:r>
          </a:p>
        </p:txBody>
      </p:sp>
      <p:sp>
        <p:nvSpPr>
          <p:cNvPr id="23" name="Rounded Rectangle 22"/>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불안·이탈 지점은 가설입니다. 감정 곡선을 관측 데이터처럼 그리지 않습니다.</a:t>
            </a:r>
          </a:p>
        </p:txBody>
      </p:sp>
      <p:sp>
        <p:nvSpPr>
          <p:cNvPr id="25" name="Rectangle 24"/>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rPr>
              <a:t>자료: L16 16강 고객여정맵</a:t>
            </a:r>
            <a:r>
              <a:rPr sz="800">
                <a:solidFill>
                  <a:srgbClr val="5E6C79"/>
                </a:solidFill>
                <a:latin typeface="Noto Sans CJK KR"/>
                <a:hlinkClick r:id="rId2"/>
              </a:rPr>
              <a:t>  |  I01 제품 원칙·범위</a:t>
            </a:r>
          </a:p>
        </p:txBody>
      </p:sp>
      <p:sp>
        <p:nvSpPr>
          <p:cNvPr id="27" name="TextBox 26"/>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경험·시연</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19</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상세에서 배울 내용과 구매 전 확인 정보를 보여줍니다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화면 확인</a:t>
            </a:r>
          </a:p>
        </p:txBody>
      </p:sp>
      <p:sp>
        <p:nvSpPr>
          <p:cNvPr id="8" name="Rounded Rectangle 7"/>
          <p:cNvSpPr/>
          <p:nvPr/>
        </p:nvSpPr>
        <p:spPr>
          <a:xfrm>
            <a:off x="612647" y="2276856"/>
            <a:ext cx="6135624" cy="363016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urchase-info.png"/>
          <p:cNvPicPr>
            <a:picLocks noChangeAspect="1"/>
          </p:cNvPicPr>
          <p:nvPr/>
        </p:nvPicPr>
        <p:blipFill>
          <a:blip r:embed="rId2"/>
          <a:stretch>
            <a:fillRect/>
          </a:stretch>
        </p:blipFill>
        <p:spPr>
          <a:xfrm>
            <a:off x="640080" y="2304288"/>
            <a:ext cx="6080760" cy="3568738"/>
          </a:xfrm>
          <a:prstGeom prst="rect">
            <a:avLst/>
          </a:prstGeom>
        </p:spPr>
      </p:pic>
      <p:sp>
        <p:nvSpPr>
          <p:cNvPr id="10" name="TextBox 9"/>
          <p:cNvSpPr txBox="1"/>
          <p:nvPr/>
        </p:nvSpPr>
        <p:spPr>
          <a:xfrm>
            <a:off x="7022592" y="2459736"/>
            <a:ext cx="4261104" cy="813816"/>
          </a:xfrm>
          <a:prstGeom prst="rect">
            <a:avLst/>
          </a:prstGeom>
          <a:noFill/>
        </p:spPr>
        <p:txBody>
          <a:bodyPr wrap="square" lIns="13716" rIns="13716" tIns="18288" bIns="0">
            <a:spAutoFit/>
          </a:bodyPr>
          <a:lstStyle/>
          <a:p>
            <a:pPr algn="l">
              <a:lnSpc>
                <a:spcPct val="117000"/>
              </a:lnSpc>
              <a:spcAft>
                <a:spcPts val="600"/>
              </a:spcAft>
              <a:defRPr sz="1900" b="1">
                <a:solidFill>
                  <a:srgbClr val="1D2D40"/>
                </a:solidFill>
                <a:latin typeface="Noto Sans CJK KR"/>
              </a:defRPr>
            </a:pPr>
            <a:r>
              <a:t>학습 목표·추천 대상·커리큘럼·결과물·준비물</a:t>
            </a:r>
          </a:p>
        </p:txBody>
      </p:sp>
      <p:sp>
        <p:nvSpPr>
          <p:cNvPr id="11" name="TextBox 10"/>
          <p:cNvSpPr txBox="1"/>
          <p:nvPr/>
        </p:nvSpPr>
        <p:spPr>
          <a:xfrm>
            <a:off x="7022592" y="3401568"/>
            <a:ext cx="4261104" cy="81381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추가 도구 비용·수강 기간·환불 규정</a:t>
            </a:r>
          </a:p>
        </p:txBody>
      </p:sp>
      <p:sp>
        <p:nvSpPr>
          <p:cNvPr id="12" name="TextBox 11"/>
          <p:cNvSpPr txBox="1"/>
          <p:nvPr/>
        </p:nvSpPr>
        <p:spPr>
          <a:xfrm>
            <a:off x="7022592" y="4343400"/>
            <a:ext cx="4261104" cy="81381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실제 판매 전 고정 버튼과 사전 안내 동선을 함께 점검</a:t>
            </a:r>
          </a:p>
        </p:txBody>
      </p:sp>
      <p:sp>
        <p:nvSpPr>
          <p:cNvPr id="13" name="TextBox 12"/>
          <p:cNvSpPr txBox="1"/>
          <p:nvPr/>
        </p:nvSpPr>
        <p:spPr>
          <a:xfrm>
            <a:off x="667512" y="5971032"/>
            <a:ext cx="6217920" cy="182880"/>
          </a:xfrm>
          <a:prstGeom prst="rect">
            <a:avLst/>
          </a:prstGeom>
          <a:noFill/>
        </p:spPr>
        <p:txBody>
          <a:bodyPr wrap="square" lIns="13716" rIns="13716" tIns="18288" bIns="0">
            <a:spAutoFit/>
          </a:bodyPr>
          <a:lstStyle/>
          <a:p>
            <a:pPr algn="l">
              <a:lnSpc>
                <a:spcPct val="117000"/>
              </a:lnSpc>
              <a:spcAft>
                <a:spcPts val="600"/>
              </a:spcAft>
              <a:defRPr sz="800" b="0">
                <a:solidFill>
                  <a:srgbClr val="5E6C79"/>
                </a:solidFill>
                <a:latin typeface="Noto Sans CJK KR"/>
              </a:defRPr>
            </a:pPr>
            <a:r>
              <a:t>실제 코드의 로컬 화면 · 서버 연결 정보 미주입 · 유료 콘텐츠 없음</a:t>
            </a:r>
          </a:p>
        </p:txBody>
      </p:sp>
      <p:sp>
        <p:nvSpPr>
          <p:cNvPr id="14" name="Rectangle 13"/>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3"/>
              </a:rPr>
              <a:t>자료: I04 상세 구매전 안내</a:t>
            </a:r>
          </a:p>
        </p:txBody>
      </p:sp>
      <p:sp>
        <p:nvSpPr>
          <p:cNvPr id="16" name="TextBox 15"/>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경험·시연</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20</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맛보기와 환불 안내는 구매 판단을 돕는 별개의 장치입니다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법률 원문 재확인 필요</a:t>
            </a:r>
          </a:p>
        </p:txBody>
      </p:sp>
      <p:sp>
        <p:nvSpPr>
          <p:cNvPr id="8" name="Rounded Rectangle 7"/>
          <p:cNvSpPr/>
          <p:nvPr/>
        </p:nvSpPr>
        <p:spPr>
          <a:xfrm>
            <a:off x="640080"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마케팅 설계</a:t>
            </a:r>
          </a:p>
        </p:txBody>
      </p:sp>
      <p:sp>
        <p:nvSpPr>
          <p:cNvPr id="10" name="TextBox 9"/>
          <p:cNvSpPr txBox="1"/>
          <p:nvPr/>
        </p:nvSpPr>
        <p:spPr>
          <a:xfrm>
            <a:off x="822959"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설명 방식과 결과물 수준을 사전에 판단</a:t>
            </a:r>
          </a:p>
        </p:txBody>
      </p:sp>
      <p:sp>
        <p:nvSpPr>
          <p:cNvPr id="11" name="Rounded Rectangle 10"/>
          <p:cNvSpPr/>
          <p:nvPr/>
        </p:nvSpPr>
        <p:spPr>
          <a:xfrm>
            <a:off x="4340351"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3232"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법률 검토</a:t>
            </a:r>
          </a:p>
        </p:txBody>
      </p:sp>
      <p:sp>
        <p:nvSpPr>
          <p:cNvPr id="13" name="TextBox 12"/>
          <p:cNvSpPr txBox="1"/>
          <p:nvPr/>
        </p:nvSpPr>
        <p:spPr>
          <a:xfrm>
            <a:off x="4523232"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디지털콘텐츠의 제공 개시·철회 제한 조건 확인</a:t>
            </a:r>
          </a:p>
        </p:txBody>
      </p:sp>
      <p:sp>
        <p:nvSpPr>
          <p:cNvPr id="14" name="Rounded Rectangle 13"/>
          <p:cNvSpPr/>
          <p:nvPr/>
        </p:nvSpPr>
        <p:spPr>
          <a:xfrm>
            <a:off x="8040623"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3503"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현재 상태</a:t>
            </a:r>
          </a:p>
        </p:txBody>
      </p:sp>
      <p:sp>
        <p:nvSpPr>
          <p:cNvPr id="16" name="TextBox 15"/>
          <p:cNvSpPr txBox="1"/>
          <p:nvPr/>
        </p:nvSpPr>
        <p:spPr>
          <a:xfrm>
            <a:off x="8223503"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맛보기 차시는 정의됐지만 영상·재생은 준비 중</a:t>
            </a:r>
          </a:p>
        </p:txBody>
      </p:sp>
      <p:sp>
        <p:nvSpPr>
          <p:cNvPr id="17" name="Rounded Rectangle 16"/>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“무료 맛보기가 항상 법적으로 필수” 또는 “재생하면 무조건 환불 불가”로 단정하지 않습니다.</a:t>
            </a:r>
          </a:p>
        </p:txBody>
      </p:sp>
      <p:sp>
        <p:nvSpPr>
          <p:cNvPr id="19" name="Rectangle 18"/>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S10 전자상거래법 제17조</a:t>
            </a:r>
            <a:r>
              <a:rPr sz="800">
                <a:solidFill>
                  <a:srgbClr val="5E6C79"/>
                </a:solidFill>
                <a:latin typeface="Noto Sans CJK KR"/>
                <a:hlinkClick r:id="rId3"/>
              </a:rPr>
              <a:t>  |  I05 수강·재생 준비중 표시</a:t>
            </a:r>
          </a:p>
        </p:txBody>
      </p:sp>
      <p:sp>
        <p:nvSpPr>
          <p:cNvPr id="21" name="TextBox 20"/>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20</a:t>
            </a:r>
          </a:p>
        </p:txBody>
      </p:sp>
      <p:sp>
        <p:nvSpPr>
          <p:cNvPr id="22" name="TextBox 21"/>
          <p:cNvSpPr txBox="1"/>
          <p:nvPr/>
        </p:nvSpPr>
        <p:spPr>
          <a:xfrm>
            <a:off x="658368" y="6190488"/>
            <a:ext cx="10698480" cy="182880"/>
          </a:xfrm>
          <a:prstGeom prst="rect">
            <a:avLst/>
          </a:prstGeom>
          <a:noFill/>
        </p:spPr>
        <p:txBody>
          <a:bodyPr wrap="square" lIns="13716" rIns="13716" tIns="18288" bIns="0">
            <a:spAutoFit/>
          </a:bodyPr>
          <a:lstStyle/>
          <a:p>
            <a:pPr algn="l">
              <a:lnSpc>
                <a:spcPct val="117000"/>
              </a:lnSpc>
              <a:spcAft>
                <a:spcPts val="600"/>
              </a:spcAft>
              <a:defRPr sz="800" b="0">
                <a:solidFill>
                  <a:srgbClr val="5E6C79"/>
                </a:solidFill>
                <a:latin typeface="Noto Sans CJK KR"/>
              </a:defRPr>
            </a:pPr>
            <a:r>
              <a:t>외부 원문 미검증 수치는 본문에서 보류했습니다.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경험·시연</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21</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완성 체크는 성취 경험을 확인하려는 자기보고 기능입니다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코드 확인 · 효과 미검증</a:t>
            </a:r>
          </a:p>
        </p:txBody>
      </p:sp>
      <p:sp>
        <p:nvSpPr>
          <p:cNvPr id="8" name="Rounded Rectangle 7"/>
          <p:cNvSpPr/>
          <p:nvPr/>
        </p:nvSpPr>
        <p:spPr>
          <a:xfrm>
            <a:off x="612647" y="2276856"/>
            <a:ext cx="6135624" cy="363016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earn.png"/>
          <p:cNvPicPr>
            <a:picLocks noChangeAspect="1"/>
          </p:cNvPicPr>
          <p:nvPr/>
        </p:nvPicPr>
        <p:blipFill>
          <a:blip r:embed="rId2"/>
          <a:stretch>
            <a:fillRect/>
          </a:stretch>
        </p:blipFill>
        <p:spPr>
          <a:xfrm>
            <a:off x="988466" y="2304288"/>
            <a:ext cx="5383987" cy="3575304"/>
          </a:xfrm>
          <a:prstGeom prst="rect">
            <a:avLst/>
          </a:prstGeom>
        </p:spPr>
      </p:pic>
      <p:sp>
        <p:nvSpPr>
          <p:cNvPr id="10" name="TextBox 9"/>
          <p:cNvSpPr txBox="1"/>
          <p:nvPr/>
        </p:nvSpPr>
        <p:spPr>
          <a:xfrm>
            <a:off x="7022592" y="2459736"/>
            <a:ext cx="4261104" cy="813816"/>
          </a:xfrm>
          <a:prstGeom prst="rect">
            <a:avLst/>
          </a:prstGeom>
          <a:noFill/>
        </p:spPr>
        <p:txBody>
          <a:bodyPr wrap="square" lIns="13716" rIns="13716" tIns="18288" bIns="0">
            <a:spAutoFit/>
          </a:bodyPr>
          <a:lstStyle/>
          <a:p>
            <a:pPr algn="l">
              <a:lnSpc>
                <a:spcPct val="117000"/>
              </a:lnSpc>
              <a:spcAft>
                <a:spcPts val="600"/>
              </a:spcAft>
              <a:defRPr sz="1900" b="1">
                <a:solidFill>
                  <a:srgbClr val="1D2D40"/>
                </a:solidFill>
                <a:latin typeface="Noto Sans CJK KR"/>
              </a:defRPr>
            </a:pPr>
            <a:r>
              <a:t>데모 신청 강의의 결과물을 완성했다고 표시</a:t>
            </a:r>
          </a:p>
        </p:txBody>
      </p:sp>
      <p:sp>
        <p:nvSpPr>
          <p:cNvPr id="11" name="TextBox 10"/>
          <p:cNvSpPr txBox="1"/>
          <p:nvPr/>
        </p:nvSpPr>
        <p:spPr>
          <a:xfrm>
            <a:off x="7022592" y="3401568"/>
            <a:ext cx="4261104" cy="81381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체크·취소·저장 실패 상태를 구분</a:t>
            </a:r>
          </a:p>
        </p:txBody>
      </p:sp>
      <p:sp>
        <p:nvSpPr>
          <p:cNvPr id="12" name="TextBox 11"/>
          <p:cNvSpPr txBox="1"/>
          <p:nvPr/>
        </p:nvSpPr>
        <p:spPr>
          <a:xfrm>
            <a:off x="7022592" y="4343400"/>
            <a:ext cx="4261104" cy="81381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체크만으로 실제 역량·결과물 품질을 입증하지 않음</a:t>
            </a:r>
          </a:p>
        </p:txBody>
      </p:sp>
      <p:sp>
        <p:nvSpPr>
          <p:cNvPr id="13" name="TextBox 12"/>
          <p:cNvSpPr txBox="1"/>
          <p:nvPr/>
        </p:nvSpPr>
        <p:spPr>
          <a:xfrm>
            <a:off x="667512" y="5971032"/>
            <a:ext cx="6217920" cy="182880"/>
          </a:xfrm>
          <a:prstGeom prst="rect">
            <a:avLst/>
          </a:prstGeom>
          <a:noFill/>
        </p:spPr>
        <p:txBody>
          <a:bodyPr wrap="square" lIns="13716" rIns="13716" tIns="18288" bIns="0">
            <a:spAutoFit/>
          </a:bodyPr>
          <a:lstStyle/>
          <a:p>
            <a:pPr algn="l">
              <a:lnSpc>
                <a:spcPct val="117000"/>
              </a:lnSpc>
              <a:spcAft>
                <a:spcPts val="600"/>
              </a:spcAft>
              <a:defRPr sz="800" b="0">
                <a:solidFill>
                  <a:srgbClr val="5E6C79"/>
                </a:solidFill>
                <a:latin typeface="Noto Sans CJK KR"/>
              </a:defRPr>
            </a:pPr>
            <a:r>
              <a:t>실제 코드의 로컬 화면 · 서버 연결 정보 미주입 · 유료 콘텐츠 없음</a:t>
            </a:r>
          </a:p>
        </p:txBody>
      </p:sp>
      <p:sp>
        <p:nvSpPr>
          <p:cNvPr id="14" name="Rectangle 13"/>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3"/>
              </a:rPr>
              <a:t>자료: I05 수강·재생 준비중 표시</a:t>
            </a:r>
            <a:r>
              <a:rPr sz="800">
                <a:solidFill>
                  <a:srgbClr val="5E6C79"/>
                </a:solidFill>
                <a:latin typeface="Noto Sans CJK KR"/>
                <a:hlinkClick r:id="rId4"/>
              </a:rPr>
              <a:t>  |  I06 서버 연결 완료 기록</a:t>
            </a:r>
            <a:r>
              <a:rPr sz="800">
                <a:solidFill>
                  <a:srgbClr val="5E6C79"/>
                </a:solidFill>
                <a:latin typeface="Noto Sans CJK KR"/>
              </a:rPr>
              <a:t>  |  L16 16강 고객여정맵</a:t>
            </a:r>
          </a:p>
        </p:txBody>
      </p:sp>
      <p:sp>
        <p:nvSpPr>
          <p:cNvPr id="16" name="TextBox 15"/>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경험·시연</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22</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탐색부터 내 강의실까지 데모 동선을 연결했습니다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7개 페이지 코드 확인</a:t>
            </a:r>
          </a:p>
        </p:txBody>
      </p:sp>
      <p:sp>
        <p:nvSpPr>
          <p:cNvPr id="8" name="Rounded Rectangle 7"/>
          <p:cNvSpPr/>
          <p:nvPr/>
        </p:nvSpPr>
        <p:spPr>
          <a:xfrm>
            <a:off x="640080"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1~2</a:t>
            </a:r>
          </a:p>
        </p:txBody>
      </p:sp>
      <p:sp>
        <p:nvSpPr>
          <p:cNvPr id="10" name="TextBox 9"/>
          <p:cNvSpPr txBox="1"/>
          <p:nvPr/>
        </p:nvSpPr>
        <p:spPr>
          <a:xfrm>
            <a:off x="804671"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메인 → 강의 검색·분야</a:t>
            </a:r>
          </a:p>
        </p:txBody>
      </p:sp>
      <p:sp>
        <p:nvSpPr>
          <p:cNvPr id="11" name="TextBox 10"/>
          <p:cNvSpPr txBox="1"/>
          <p:nvPr/>
        </p:nvSpPr>
        <p:spPr>
          <a:xfrm>
            <a:off x="3200399"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12" name="Rounded Rectangle 11"/>
          <p:cNvSpPr/>
          <p:nvPr/>
        </p:nvSpPr>
        <p:spPr>
          <a:xfrm>
            <a:off x="3433572"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8164"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3~4</a:t>
            </a:r>
          </a:p>
        </p:txBody>
      </p:sp>
      <p:sp>
        <p:nvSpPr>
          <p:cNvPr id="14" name="TextBox 13"/>
          <p:cNvSpPr txBox="1"/>
          <p:nvPr/>
        </p:nvSpPr>
        <p:spPr>
          <a:xfrm>
            <a:off x="3598164"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상세 확인 → 장바구니</a:t>
            </a:r>
          </a:p>
        </p:txBody>
      </p:sp>
      <p:sp>
        <p:nvSpPr>
          <p:cNvPr id="15" name="TextBox 14"/>
          <p:cNvSpPr txBox="1"/>
          <p:nvPr/>
        </p:nvSpPr>
        <p:spPr>
          <a:xfrm>
            <a:off x="5993892"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16" name="Rounded Rectangle 15"/>
          <p:cNvSpPr/>
          <p:nvPr/>
        </p:nvSpPr>
        <p:spPr>
          <a:xfrm>
            <a:off x="6227064"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1655"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5~6</a:t>
            </a:r>
          </a:p>
        </p:txBody>
      </p:sp>
      <p:sp>
        <p:nvSpPr>
          <p:cNvPr id="18" name="TextBox 17"/>
          <p:cNvSpPr txBox="1"/>
          <p:nvPr/>
        </p:nvSpPr>
        <p:spPr>
          <a:xfrm>
            <a:off x="6391655"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데모 주문 → 수강 화면</a:t>
            </a:r>
          </a:p>
        </p:txBody>
      </p:sp>
      <p:sp>
        <p:nvSpPr>
          <p:cNvPr id="19" name="TextBox 18"/>
          <p:cNvSpPr txBox="1"/>
          <p:nvPr/>
        </p:nvSpPr>
        <p:spPr>
          <a:xfrm>
            <a:off x="8787384"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20" name="Rounded Rectangle 19"/>
          <p:cNvSpPr/>
          <p:nvPr/>
        </p:nvSpPr>
        <p:spPr>
          <a:xfrm>
            <a:off x="9020555"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5147"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7</a:t>
            </a:r>
          </a:p>
        </p:txBody>
      </p:sp>
      <p:sp>
        <p:nvSpPr>
          <p:cNvPr id="22" name="TextBox 21"/>
          <p:cNvSpPr txBox="1"/>
          <p:nvPr/>
        </p:nvSpPr>
        <p:spPr>
          <a:xfrm>
            <a:off x="9185147"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카카오 로그인 기반 내 강의실</a:t>
            </a:r>
          </a:p>
        </p:txBody>
      </p:sp>
      <p:sp>
        <p:nvSpPr>
          <p:cNvPr id="23" name="Rounded Rectangle 22"/>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실제 결제 없음 · 영상/실습 파일 준비 중 · 서버 실연결은 저장소 완료 기록 확인</a:t>
            </a:r>
          </a:p>
        </p:txBody>
      </p:sp>
      <p:sp>
        <p:nvSpPr>
          <p:cNvPr id="25" name="Rectangle 24"/>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I07 7개 페이지·동선</a:t>
            </a:r>
            <a:r>
              <a:rPr sz="800">
                <a:solidFill>
                  <a:srgbClr val="5E6C79"/>
                </a:solidFill>
                <a:latin typeface="Noto Sans CJK KR"/>
                <a:hlinkClick r:id="rId3"/>
              </a:rPr>
              <a:t>  |  I06 서버 연결 완료 기록</a:t>
            </a:r>
          </a:p>
        </p:txBody>
      </p:sp>
      <p:sp>
        <p:nvSpPr>
          <p:cNvPr id="27" name="TextBox 26"/>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경험·시연</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23</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추천 순서와 광고 보고서 예시로 실습의 쓰임을 연결합니다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코드 확인  ·  시간 조절 시 생략 가능</a:t>
            </a:r>
          </a:p>
        </p:txBody>
      </p:sp>
      <p:sp>
        <p:nvSpPr>
          <p:cNvPr id="8" name="Rounded Rectangle 7"/>
          <p:cNvSpPr/>
          <p:nvPr/>
        </p:nvSpPr>
        <p:spPr>
          <a:xfrm>
            <a:off x="640080"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기획</a:t>
            </a:r>
          </a:p>
        </p:txBody>
      </p:sp>
      <p:sp>
        <p:nvSpPr>
          <p:cNvPr id="10" name="TextBox 9"/>
          <p:cNvSpPr txBox="1"/>
          <p:nvPr/>
        </p:nvSpPr>
        <p:spPr>
          <a:xfrm>
            <a:off x="804671"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마케팅 기초</a:t>
            </a:r>
          </a:p>
        </p:txBody>
      </p:sp>
      <p:sp>
        <p:nvSpPr>
          <p:cNvPr id="11" name="TextBox 10"/>
          <p:cNvSpPr txBox="1"/>
          <p:nvPr/>
        </p:nvSpPr>
        <p:spPr>
          <a:xfrm>
            <a:off x="3200399"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12" name="Rounded Rectangle 11"/>
          <p:cNvSpPr/>
          <p:nvPr/>
        </p:nvSpPr>
        <p:spPr>
          <a:xfrm>
            <a:off x="3433572"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8164"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정리</a:t>
            </a:r>
          </a:p>
        </p:txBody>
      </p:sp>
      <p:sp>
        <p:nvSpPr>
          <p:cNvPr id="14" name="TextBox 13"/>
          <p:cNvSpPr txBox="1"/>
          <p:nvPr/>
        </p:nvSpPr>
        <p:spPr>
          <a:xfrm>
            <a:off x="3598164"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엑셀 표 합치기</a:t>
            </a:r>
          </a:p>
        </p:txBody>
      </p:sp>
      <p:sp>
        <p:nvSpPr>
          <p:cNvPr id="15" name="TextBox 14"/>
          <p:cNvSpPr txBox="1"/>
          <p:nvPr/>
        </p:nvSpPr>
        <p:spPr>
          <a:xfrm>
            <a:off x="5993892"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16" name="Rounded Rectangle 15"/>
          <p:cNvSpPr/>
          <p:nvPr/>
        </p:nvSpPr>
        <p:spPr>
          <a:xfrm>
            <a:off x="6227064"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1655"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해석</a:t>
            </a:r>
          </a:p>
        </p:txBody>
      </p:sp>
      <p:sp>
        <p:nvSpPr>
          <p:cNvPr id="18" name="TextBox 17"/>
          <p:cNvSpPr txBox="1"/>
          <p:nvPr/>
        </p:nvSpPr>
        <p:spPr>
          <a:xfrm>
            <a:off x="6391655"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광고 보고서</a:t>
            </a:r>
          </a:p>
        </p:txBody>
      </p:sp>
      <p:sp>
        <p:nvSpPr>
          <p:cNvPr id="19" name="TextBox 18"/>
          <p:cNvSpPr txBox="1"/>
          <p:nvPr/>
        </p:nvSpPr>
        <p:spPr>
          <a:xfrm>
            <a:off x="8787384"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20" name="Rounded Rectangle 19"/>
          <p:cNvSpPr/>
          <p:nvPr/>
        </p:nvSpPr>
        <p:spPr>
          <a:xfrm>
            <a:off x="9020555"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5147"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전달</a:t>
            </a:r>
          </a:p>
        </p:txBody>
      </p:sp>
      <p:sp>
        <p:nvSpPr>
          <p:cNvPr id="22" name="TextBox 21"/>
          <p:cNvSpPr txBox="1"/>
          <p:nvPr/>
        </p:nvSpPr>
        <p:spPr>
          <a:xfrm>
            <a:off x="9185147"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PPT 슬라이드</a:t>
            </a:r>
          </a:p>
        </p:txBody>
      </p:sp>
      <p:sp>
        <p:nvSpPr>
          <p:cNvPr id="23" name="Rounded Rectangle 22"/>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Adporter는 별도 로그인 서비스이며, 표시 수치는 가상 실습 데이터입니다.</a:t>
            </a:r>
          </a:p>
        </p:txBody>
      </p:sp>
      <p:sp>
        <p:nvSpPr>
          <p:cNvPr id="25" name="Rectangle 24"/>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I08 추천·외부 보고서 연결</a:t>
            </a:r>
          </a:p>
        </p:txBody>
      </p:sp>
      <p:sp>
        <p:nvSpPr>
          <p:cNvPr id="27" name="TextBox 26"/>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경험·시연</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24</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모집 상태는 색과 문구를 함께 써서 구분합니다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코드·검토 실행 확인  ·  시간 조절 시 생략 가능</a:t>
            </a:r>
          </a:p>
        </p:txBody>
      </p:sp>
      <p:sp>
        <p:nvSpPr>
          <p:cNvPr id="8" name="Rounded Rectangle 7"/>
          <p:cNvSpPr/>
          <p:nvPr/>
        </p:nvSpPr>
        <p:spPr>
          <a:xfrm>
            <a:off x="640080"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모집 중</a:t>
            </a:r>
          </a:p>
        </p:txBody>
      </p:sp>
      <p:sp>
        <p:nvSpPr>
          <p:cNvPr id="10" name="TextBox 9"/>
          <p:cNvSpPr txBox="1"/>
          <p:nvPr/>
        </p:nvSpPr>
        <p:spPr>
          <a:xfrm>
            <a:off x="822959"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담기·데모 신청 가능</a:t>
            </a:r>
          </a:p>
        </p:txBody>
      </p:sp>
      <p:sp>
        <p:nvSpPr>
          <p:cNvPr id="11" name="Rounded Rectangle 10"/>
          <p:cNvSpPr/>
          <p:nvPr/>
        </p:nvSpPr>
        <p:spPr>
          <a:xfrm>
            <a:off x="4340351"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3232"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모집 예정</a:t>
            </a:r>
          </a:p>
        </p:txBody>
      </p:sp>
      <p:sp>
        <p:nvSpPr>
          <p:cNvPr id="13" name="TextBox 12"/>
          <p:cNvSpPr txBox="1"/>
          <p:nvPr/>
        </p:nvSpPr>
        <p:spPr>
          <a:xfrm>
            <a:off x="4523232"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시작 전에는 신청 제한</a:t>
            </a:r>
          </a:p>
        </p:txBody>
      </p:sp>
      <p:sp>
        <p:nvSpPr>
          <p:cNvPr id="14" name="Rounded Rectangle 13"/>
          <p:cNvSpPr/>
          <p:nvPr/>
        </p:nvSpPr>
        <p:spPr>
          <a:xfrm>
            <a:off x="8040623"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3503"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마감</a:t>
            </a:r>
          </a:p>
        </p:txBody>
      </p:sp>
      <p:sp>
        <p:nvSpPr>
          <p:cNvPr id="16" name="TextBox 15"/>
          <p:cNvSpPr txBox="1"/>
          <p:nvPr/>
        </p:nvSpPr>
        <p:spPr>
          <a:xfrm>
            <a:off x="8223503"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기간 종료 뒤 신청 제한</a:t>
            </a:r>
          </a:p>
        </p:txBody>
      </p:sp>
      <p:sp>
        <p:nvSpPr>
          <p:cNvPr id="17" name="Rounded Rectangle 16"/>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제작 예정은 별도 상태입니다. 색만으로 의미를 전달하지 않습니다.</a:t>
            </a:r>
          </a:p>
        </p:txBody>
      </p:sp>
      <p:sp>
        <p:nvSpPr>
          <p:cNvPr id="19" name="Rectangle 18"/>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I09 모집상태·제한</a:t>
            </a:r>
          </a:p>
        </p:txBody>
      </p:sp>
      <p:sp>
        <p:nvSpPr>
          <p:cNvPr id="21" name="TextBox 20"/>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실행 계획</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25</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채널은 타겟의 실제 정보 탐색 행동으로 고르겠습니다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채널 가설</a:t>
            </a:r>
          </a:p>
        </p:txBody>
      </p:sp>
      <p:sp>
        <p:nvSpPr>
          <p:cNvPr id="8" name="Rounded Rectangle 7"/>
          <p:cNvSpPr/>
          <p:nvPr/>
        </p:nvSpPr>
        <p:spPr>
          <a:xfrm>
            <a:off x="640080"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초기 후보</a:t>
            </a:r>
          </a:p>
        </p:txBody>
      </p:sp>
      <p:sp>
        <p:nvSpPr>
          <p:cNvPr id="10" name="TextBox 9"/>
          <p:cNvSpPr txBox="1"/>
          <p:nvPr/>
        </p:nvSpPr>
        <p:spPr>
          <a:xfrm>
            <a:off x="822959"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유튜브 쇼츠·검색·취준 커뮤니티</a:t>
            </a:r>
          </a:p>
        </p:txBody>
      </p:sp>
      <p:sp>
        <p:nvSpPr>
          <p:cNvPr id="11" name="Rounded Rectangle 10"/>
          <p:cNvSpPr/>
          <p:nvPr/>
        </p:nvSpPr>
        <p:spPr>
          <a:xfrm>
            <a:off x="4340351"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3232"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먼저 확인</a:t>
            </a:r>
          </a:p>
        </p:txBody>
      </p:sp>
      <p:sp>
        <p:nvSpPr>
          <p:cNvPr id="13" name="TextBox 12"/>
          <p:cNvSpPr txBox="1"/>
          <p:nvPr/>
        </p:nvSpPr>
        <p:spPr>
          <a:xfrm>
            <a:off x="4523232"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최근 이용 채널·찾은 정보·다음 행동 인터뷰</a:t>
            </a:r>
          </a:p>
        </p:txBody>
      </p:sp>
      <p:sp>
        <p:nvSpPr>
          <p:cNvPr id="14" name="Rounded Rectangle 13"/>
          <p:cNvSpPr/>
          <p:nvPr/>
        </p:nvSpPr>
        <p:spPr>
          <a:xfrm>
            <a:off x="8040623"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3503"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검증 방식</a:t>
            </a:r>
          </a:p>
        </p:txBody>
      </p:sp>
      <p:sp>
        <p:nvSpPr>
          <p:cNvPr id="16" name="TextBox 15"/>
          <p:cNvSpPr txBox="1"/>
          <p:nvPr/>
        </p:nvSpPr>
        <p:spPr>
          <a:xfrm>
            <a:off x="8223503"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작은 콘텐츠 실험과 유입 후 상세 탐색 비교</a:t>
            </a:r>
          </a:p>
        </p:txBody>
      </p:sp>
      <p:sp>
        <p:nvSpPr>
          <p:cNvPr id="17" name="Rounded Rectangle 16"/>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유튜브 62% 등 원고의 수치는 원문 검증 전 예산 배분 근거로 쓰지 않습니다.</a:t>
            </a:r>
          </a:p>
        </p:txBody>
      </p:sp>
      <p:sp>
        <p:nvSpPr>
          <p:cNvPr id="19" name="Rectangle 18"/>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S08 취업 정보 채널</a:t>
            </a:r>
            <a:r>
              <a:rPr sz="800">
                <a:solidFill>
                  <a:srgbClr val="5E6C79"/>
                </a:solidFill>
                <a:latin typeface="Noto Sans CJK KR"/>
                <a:hlinkClick r:id="rId3"/>
              </a:rPr>
              <a:t>  |  S09 숏폼 이용률</a:t>
            </a:r>
            <a:r>
              <a:rPr sz="800">
                <a:solidFill>
                  <a:srgbClr val="5E6C79"/>
                </a:solidFill>
                <a:latin typeface="Noto Sans CJK KR"/>
              </a:rPr>
              <a:t>  |  L18 18강 캠페인·채널</a:t>
            </a:r>
          </a:p>
        </p:txBody>
      </p:sp>
      <p:sp>
        <p:nvSpPr>
          <p:cNvPr id="21" name="TextBox 20"/>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25</a:t>
            </a:r>
          </a:p>
        </p:txBody>
      </p:sp>
      <p:sp>
        <p:nvSpPr>
          <p:cNvPr id="22" name="TextBox 21"/>
          <p:cNvSpPr txBox="1"/>
          <p:nvPr/>
        </p:nvSpPr>
        <p:spPr>
          <a:xfrm>
            <a:off x="658368" y="6190488"/>
            <a:ext cx="10698480" cy="182880"/>
          </a:xfrm>
          <a:prstGeom prst="rect">
            <a:avLst/>
          </a:prstGeom>
          <a:noFill/>
        </p:spPr>
        <p:txBody>
          <a:bodyPr wrap="square" lIns="13716" rIns="13716" tIns="18288" bIns="0">
            <a:spAutoFit/>
          </a:bodyPr>
          <a:lstStyle/>
          <a:p>
            <a:pPr algn="l">
              <a:lnSpc>
                <a:spcPct val="117000"/>
              </a:lnSpc>
              <a:spcAft>
                <a:spcPts val="600"/>
              </a:spcAft>
              <a:defRPr sz="800" b="0">
                <a:solidFill>
                  <a:srgbClr val="5E6C79"/>
                </a:solidFill>
                <a:latin typeface="Noto Sans CJK KR"/>
              </a:defRPr>
            </a:pPr>
            <a:r>
              <a:t>외부 원문 미검증 수치는 본문에서 보류했습니다.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실행 계획</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26</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인지·고려·신청·사용을 하나의 동선으로 연결합니다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실행 계획</a:t>
            </a:r>
          </a:p>
        </p:txBody>
      </p:sp>
      <p:sp>
        <p:nvSpPr>
          <p:cNvPr id="8" name="Rounded Rectangle 7"/>
          <p:cNvSpPr/>
          <p:nvPr/>
        </p:nvSpPr>
        <p:spPr>
          <a:xfrm>
            <a:off x="640080"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인지</a:t>
            </a:r>
          </a:p>
        </p:txBody>
      </p:sp>
      <p:sp>
        <p:nvSpPr>
          <p:cNvPr id="10" name="TextBox 9"/>
          <p:cNvSpPr txBox="1"/>
          <p:nvPr/>
        </p:nvSpPr>
        <p:spPr>
          <a:xfrm>
            <a:off x="804671"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짧은 결과물 제작 과정</a:t>
            </a:r>
          </a:p>
        </p:txBody>
      </p:sp>
      <p:sp>
        <p:nvSpPr>
          <p:cNvPr id="11" name="TextBox 10"/>
          <p:cNvSpPr txBox="1"/>
          <p:nvPr/>
        </p:nvSpPr>
        <p:spPr>
          <a:xfrm>
            <a:off x="3200399"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12" name="Rounded Rectangle 11"/>
          <p:cNvSpPr/>
          <p:nvPr/>
        </p:nvSpPr>
        <p:spPr>
          <a:xfrm>
            <a:off x="3433572"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8164"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고려</a:t>
            </a:r>
          </a:p>
        </p:txBody>
      </p:sp>
      <p:sp>
        <p:nvSpPr>
          <p:cNvPr id="14" name="TextBox 13"/>
          <p:cNvSpPr txBox="1"/>
          <p:nvPr/>
        </p:nvSpPr>
        <p:spPr>
          <a:xfrm>
            <a:off x="3598164"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검색·상세·맛보기</a:t>
            </a:r>
          </a:p>
        </p:txBody>
      </p:sp>
      <p:sp>
        <p:nvSpPr>
          <p:cNvPr id="15" name="TextBox 14"/>
          <p:cNvSpPr txBox="1"/>
          <p:nvPr/>
        </p:nvSpPr>
        <p:spPr>
          <a:xfrm>
            <a:off x="5993892"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16" name="Rounded Rectangle 15"/>
          <p:cNvSpPr/>
          <p:nvPr/>
        </p:nvSpPr>
        <p:spPr>
          <a:xfrm>
            <a:off x="6227064"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1655"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신청</a:t>
            </a:r>
          </a:p>
        </p:txBody>
      </p:sp>
      <p:sp>
        <p:nvSpPr>
          <p:cNvPr id="18" name="TextBox 17"/>
          <p:cNvSpPr txBox="1"/>
          <p:nvPr/>
        </p:nvSpPr>
        <p:spPr>
          <a:xfrm>
            <a:off x="6391655"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데모 흐름 확인 → 향후 실제판매 검토</a:t>
            </a:r>
          </a:p>
        </p:txBody>
      </p:sp>
      <p:sp>
        <p:nvSpPr>
          <p:cNvPr id="19" name="TextBox 18"/>
          <p:cNvSpPr txBox="1"/>
          <p:nvPr/>
        </p:nvSpPr>
        <p:spPr>
          <a:xfrm>
            <a:off x="8787384"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20" name="Rounded Rectangle 19"/>
          <p:cNvSpPr/>
          <p:nvPr/>
        </p:nvSpPr>
        <p:spPr>
          <a:xfrm>
            <a:off x="9020555"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5147"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사용</a:t>
            </a:r>
          </a:p>
        </p:txBody>
      </p:sp>
      <p:sp>
        <p:nvSpPr>
          <p:cNvPr id="22" name="TextBox 21"/>
          <p:cNvSpPr txBox="1"/>
          <p:nvPr/>
        </p:nvSpPr>
        <p:spPr>
          <a:xfrm>
            <a:off x="9185147"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결과물 체크와 다음 실무 안내</a:t>
            </a:r>
          </a:p>
        </p:txBody>
      </p:sp>
      <p:sp>
        <p:nvSpPr>
          <p:cNvPr id="23" name="Rounded Rectangle 22"/>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후기·맛보기·리타겟팅은 실제 준비와 동의·정책 검토 후 실행합니다.</a:t>
            </a:r>
          </a:p>
        </p:txBody>
      </p:sp>
      <p:sp>
        <p:nvSpPr>
          <p:cNvPr id="25" name="Rectangle 24"/>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rPr>
              <a:t>자료: L18 18강 캠페인·채널</a:t>
            </a:r>
            <a:r>
              <a:rPr sz="800">
                <a:solidFill>
                  <a:srgbClr val="5E6C79"/>
                </a:solidFill>
                <a:latin typeface="Noto Sans CJK KR"/>
                <a:hlinkClick r:id="rId2"/>
              </a:rPr>
              <a:t>  |  I10 GA4 계획·미수집</a:t>
            </a:r>
          </a:p>
        </p:txBody>
      </p:sp>
      <p:sp>
        <p:nvSpPr>
          <p:cNvPr id="27" name="TextBox 26"/>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실행 계획</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27</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광고 소재는 문제 하나와 결과물 하나로 설명합니다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소재 시안  ·  시간 조절 시 생략 가능</a:t>
            </a:r>
          </a:p>
        </p:txBody>
      </p:sp>
      <p:sp>
        <p:nvSpPr>
          <p:cNvPr id="8" name="Rectangle 7"/>
          <p:cNvSpPr/>
          <p:nvPr/>
        </p:nvSpPr>
        <p:spPr>
          <a:xfrm>
            <a:off x="658368" y="2523744"/>
            <a:ext cx="64008" cy="34747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414016"/>
            <a:ext cx="10287000" cy="822960"/>
          </a:xfrm>
          <a:prstGeom prst="rect">
            <a:avLst/>
          </a:prstGeom>
          <a:noFill/>
        </p:spPr>
        <p:txBody>
          <a:bodyPr wrap="square" lIns="13716" rIns="13716" tIns="18288" bIns="0">
            <a:spAutoFit/>
          </a:bodyPr>
          <a:lstStyle/>
          <a:p>
            <a:pPr algn="l">
              <a:lnSpc>
                <a:spcPct val="117000"/>
              </a:lnSpc>
              <a:spcAft>
                <a:spcPts val="600"/>
              </a:spcAft>
              <a:defRPr sz="2300" b="1">
                <a:solidFill>
                  <a:srgbClr val="1D2D40"/>
                </a:solidFill>
                <a:latin typeface="Noto Sans CJK KR"/>
              </a:defRPr>
            </a:pPr>
            <a:r>
              <a:t>후크: “표를 합치는 데 시간을 쓰고 있나요?”</a:t>
            </a:r>
          </a:p>
        </p:txBody>
      </p:sp>
      <p:sp>
        <p:nvSpPr>
          <p:cNvPr id="10" name="Rectangle 9"/>
          <p:cNvSpPr/>
          <p:nvPr/>
        </p:nvSpPr>
        <p:spPr>
          <a:xfrm>
            <a:off x="658368" y="3429000"/>
            <a:ext cx="64008" cy="34747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3319272"/>
            <a:ext cx="10287000" cy="822960"/>
          </a:xfrm>
          <a:prstGeom prst="rect">
            <a:avLst/>
          </a:prstGeom>
          <a:noFill/>
        </p:spPr>
        <p:txBody>
          <a:bodyPr wrap="square" lIns="13716" rIns="13716" tIns="18288" bIns="0">
            <a:spAutoFit/>
          </a:bodyPr>
          <a:lstStyle/>
          <a:p>
            <a:pPr algn="l">
              <a:lnSpc>
                <a:spcPct val="117000"/>
              </a:lnSpc>
              <a:spcAft>
                <a:spcPts val="600"/>
              </a:spcAft>
              <a:defRPr sz="2300" b="0">
                <a:solidFill>
                  <a:srgbClr val="1D2D40"/>
                </a:solidFill>
                <a:latin typeface="Noto Sans CJK KR"/>
              </a:defRPr>
            </a:pPr>
            <a:r>
              <a:t>바디: XLOOKUP으로 두 표를 합친 파일 하나 · 1,000원</a:t>
            </a:r>
          </a:p>
        </p:txBody>
      </p:sp>
      <p:sp>
        <p:nvSpPr>
          <p:cNvPr id="12" name="Rectangle 11"/>
          <p:cNvSpPr/>
          <p:nvPr/>
        </p:nvSpPr>
        <p:spPr>
          <a:xfrm>
            <a:off x="658368" y="4334256"/>
            <a:ext cx="64008" cy="34747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4224528"/>
            <a:ext cx="10287000" cy="822960"/>
          </a:xfrm>
          <a:prstGeom prst="rect">
            <a:avLst/>
          </a:prstGeom>
          <a:noFill/>
        </p:spPr>
        <p:txBody>
          <a:bodyPr wrap="square" lIns="13716" rIns="13716" tIns="18288" bIns="0">
            <a:spAutoFit/>
          </a:bodyPr>
          <a:lstStyle/>
          <a:p>
            <a:pPr algn="l">
              <a:lnSpc>
                <a:spcPct val="117000"/>
              </a:lnSpc>
              <a:spcAft>
                <a:spcPts val="600"/>
              </a:spcAft>
              <a:defRPr sz="2300" b="0">
                <a:solidFill>
                  <a:srgbClr val="1D2D40"/>
                </a:solidFill>
                <a:latin typeface="Noto Sans CJK KR"/>
              </a:defRPr>
            </a:pPr>
            <a:r>
              <a:t>CTA: “강의 구성 보기” — 맛보기 제작 후에만 재생 CTA 사용</a:t>
            </a:r>
          </a:p>
        </p:txBody>
      </p:sp>
      <p:sp>
        <p:nvSpPr>
          <p:cNvPr id="14" name="Rounded Rectangle 13"/>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제작 예정 강의임을 고지하고, 실제 없는 영상으로 유도하지 않습니다.</a:t>
            </a:r>
          </a:p>
        </p:txBody>
      </p:sp>
      <p:sp>
        <p:nvSpPr>
          <p:cNvPr id="16" name="Rectangle 15"/>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I02 6개 강의 데이터·가격</a:t>
            </a:r>
            <a:r>
              <a:rPr sz="800">
                <a:solidFill>
                  <a:srgbClr val="5E6C79"/>
                </a:solidFill>
                <a:latin typeface="Noto Sans CJK KR"/>
              </a:rPr>
              <a:t>  |  L18 18강 캠페인·채널</a:t>
            </a:r>
          </a:p>
        </p:txBody>
      </p:sp>
      <p:sp>
        <p:nvSpPr>
          <p:cNvPr id="18" name="TextBox 17"/>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측정 계획</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28</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주간 완성 체크는 가치 경험을 추정하는 후보 지표입니다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측정 설계</a:t>
            </a:r>
          </a:p>
        </p:txBody>
      </p:sp>
      <p:sp>
        <p:nvSpPr>
          <p:cNvPr id="8" name="Rectangle 7"/>
          <p:cNvSpPr/>
          <p:nvPr/>
        </p:nvSpPr>
        <p:spPr>
          <a:xfrm>
            <a:off x="658368" y="2523744"/>
            <a:ext cx="64008" cy="34747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414016"/>
            <a:ext cx="10287000" cy="822960"/>
          </a:xfrm>
          <a:prstGeom prst="rect">
            <a:avLst/>
          </a:prstGeom>
          <a:noFill/>
        </p:spPr>
        <p:txBody>
          <a:bodyPr wrap="square" lIns="13716" rIns="13716" tIns="18288" bIns="0">
            <a:spAutoFit/>
          </a:bodyPr>
          <a:lstStyle/>
          <a:p>
            <a:pPr algn="l">
              <a:lnSpc>
                <a:spcPct val="117000"/>
              </a:lnSpc>
              <a:spcAft>
                <a:spcPts val="600"/>
              </a:spcAft>
              <a:defRPr sz="2300" b="1">
                <a:solidFill>
                  <a:srgbClr val="1D2D40"/>
                </a:solidFill>
                <a:latin typeface="Noto Sans CJK KR"/>
              </a:defRPr>
            </a:pPr>
            <a:r>
              <a:t>측정 후보: 주간 활성 학습의 사용자–강의 쌍 중 완성 체크된 쌍 수</a:t>
            </a:r>
          </a:p>
        </p:txBody>
      </p:sp>
      <p:sp>
        <p:nvSpPr>
          <p:cNvPr id="10" name="Rectangle 9"/>
          <p:cNvSpPr/>
          <p:nvPr/>
        </p:nvSpPr>
        <p:spPr>
          <a:xfrm>
            <a:off x="658368" y="3429000"/>
            <a:ext cx="64008" cy="34747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3319272"/>
            <a:ext cx="10287000" cy="822960"/>
          </a:xfrm>
          <a:prstGeom prst="rect">
            <a:avLst/>
          </a:prstGeom>
          <a:noFill/>
        </p:spPr>
        <p:txBody>
          <a:bodyPr wrap="square" lIns="13716" rIns="13716" tIns="18288" bIns="0">
            <a:spAutoFit/>
          </a:bodyPr>
          <a:lstStyle/>
          <a:p>
            <a:pPr algn="l">
              <a:lnSpc>
                <a:spcPct val="117000"/>
              </a:lnSpc>
              <a:spcAft>
                <a:spcPts val="600"/>
              </a:spcAft>
              <a:defRPr sz="2300" b="0">
                <a:solidFill>
                  <a:srgbClr val="1D2D40"/>
                </a:solidFill>
                <a:latin typeface="Noto Sans CJK KR"/>
              </a:defRPr>
            </a:pPr>
            <a:r>
              <a:t>한 사람이 여러 강의를 완성할 수 있으므로 집계 단위를 고정</a:t>
            </a:r>
          </a:p>
        </p:txBody>
      </p:sp>
      <p:sp>
        <p:nvSpPr>
          <p:cNvPr id="12" name="Rectangle 11"/>
          <p:cNvSpPr/>
          <p:nvPr/>
        </p:nvSpPr>
        <p:spPr>
          <a:xfrm>
            <a:off x="658368" y="4334256"/>
            <a:ext cx="64008" cy="34747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4224528"/>
            <a:ext cx="10287000" cy="822960"/>
          </a:xfrm>
          <a:prstGeom prst="rect">
            <a:avLst/>
          </a:prstGeom>
          <a:noFill/>
        </p:spPr>
        <p:txBody>
          <a:bodyPr wrap="square" lIns="13716" rIns="13716" tIns="18288" bIns="0">
            <a:spAutoFit/>
          </a:bodyPr>
          <a:lstStyle/>
          <a:p>
            <a:pPr algn="l">
              <a:lnSpc>
                <a:spcPct val="117000"/>
              </a:lnSpc>
              <a:spcAft>
                <a:spcPts val="600"/>
              </a:spcAft>
              <a:defRPr sz="2300" b="0">
                <a:solidFill>
                  <a:srgbClr val="1D2D40"/>
                </a:solidFill>
                <a:latin typeface="Noto Sans CJK KR"/>
              </a:defRPr>
            </a:pPr>
            <a:r>
              <a:t>자기보고 체크는 실제 결과물 제출·품질 검증과 구분</a:t>
            </a:r>
          </a:p>
        </p:txBody>
      </p:sp>
      <p:sp>
        <p:nvSpPr>
          <p:cNvPr id="14" name="Rounded Rectangle 13"/>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현재는 GA4 수집 전입니다. “후보 노스스타”로 제안하고 타당성을 확인합니다.</a:t>
            </a:r>
          </a:p>
        </p:txBody>
      </p:sp>
      <p:sp>
        <p:nvSpPr>
          <p:cNvPr id="16" name="Rectangle 15"/>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rPr>
              <a:t>자료: L19 19강 KPI·측정</a:t>
            </a:r>
            <a:r>
              <a:rPr sz="800">
                <a:solidFill>
                  <a:srgbClr val="5E6C79"/>
                </a:solidFill>
                <a:latin typeface="Noto Sans CJK KR"/>
                <a:hlinkClick r:id="rId2"/>
              </a:rPr>
              <a:t>  |  I06 서버 연결 완료 기록</a:t>
            </a:r>
            <a:r>
              <a:rPr sz="800">
                <a:solidFill>
                  <a:srgbClr val="5E6C79"/>
                </a:solidFill>
                <a:latin typeface="Noto Sans CJK KR"/>
                <a:hlinkClick r:id="rId3"/>
              </a:rPr>
              <a:t>  |  I10 GA4 계획·미수집</a:t>
            </a:r>
          </a:p>
        </p:txBody>
      </p:sp>
      <p:sp>
        <p:nvSpPr>
          <p:cNvPr id="18" name="TextBox 17"/>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측정 계획</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29</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같은 단위와 기간으로 KPI 트리를 분해합니다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측정 설계</a:t>
            </a:r>
          </a:p>
        </p:txBody>
      </p:sp>
      <p:sp>
        <p:nvSpPr>
          <p:cNvPr id="8" name="Rounded Rectangle 7"/>
          <p:cNvSpPr/>
          <p:nvPr/>
        </p:nvSpPr>
        <p:spPr>
          <a:xfrm>
            <a:off x="1993392" y="2395728"/>
            <a:ext cx="8229600" cy="877824"/>
          </a:xfrm>
          <a:prstGeom prst="roundRect">
            <a:avLst>
              <a:gd name="adj" fmla="val 10000"/>
            </a:avLst>
          </a:prstGeom>
          <a:solidFill>
            <a:srgbClr val="1D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94560" y="2578608"/>
            <a:ext cx="7818120" cy="548640"/>
          </a:xfrm>
          <a:prstGeom prst="rect">
            <a:avLst/>
          </a:prstGeom>
          <a:noFill/>
        </p:spPr>
        <p:txBody>
          <a:bodyPr wrap="square" lIns="13716" rIns="13716" tIns="18288" bIns="0">
            <a:spAutoFit/>
          </a:bodyPr>
          <a:lstStyle/>
          <a:p>
            <a:pPr algn="ctr">
              <a:lnSpc>
                <a:spcPct val="117000"/>
              </a:lnSpc>
              <a:spcAft>
                <a:spcPts val="600"/>
              </a:spcAft>
              <a:defRPr sz="2200" b="1">
                <a:solidFill>
                  <a:srgbClr val="FFFFFF"/>
                </a:solidFill>
                <a:latin typeface="Noto Sans CJK KR"/>
              </a:defRPr>
            </a:pPr>
            <a:r>
              <a:t>주간 활성 학습 중 완성 체크된 사용자–강의 쌍</a:t>
            </a:r>
          </a:p>
        </p:txBody>
      </p:sp>
      <p:sp>
        <p:nvSpPr>
          <p:cNvPr id="10" name="Rounded Rectangle 9"/>
          <p:cNvSpPr/>
          <p:nvPr/>
        </p:nvSpPr>
        <p:spPr>
          <a:xfrm>
            <a:off x="685800" y="3749039"/>
            <a:ext cx="5230368" cy="1444752"/>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3904487"/>
            <a:ext cx="4828032" cy="365760"/>
          </a:xfrm>
          <a:prstGeom prst="rect">
            <a:avLst/>
          </a:prstGeom>
          <a:noFill/>
        </p:spPr>
        <p:txBody>
          <a:bodyPr wrap="square" lIns="13716" rIns="13716" tIns="18288" bIns="0">
            <a:spAutoFit/>
          </a:bodyPr>
          <a:lstStyle/>
          <a:p>
            <a:pPr algn="l">
              <a:lnSpc>
                <a:spcPct val="117000"/>
              </a:lnSpc>
              <a:spcAft>
                <a:spcPts val="600"/>
              </a:spcAft>
              <a:defRPr sz="1700" b="1">
                <a:solidFill>
                  <a:srgbClr val="23578C"/>
                </a:solidFill>
                <a:latin typeface="Noto Sans CJK KR"/>
              </a:defRPr>
            </a:pPr>
            <a:r>
              <a:t>동인 A</a:t>
            </a:r>
          </a:p>
        </p:txBody>
      </p:sp>
      <p:sp>
        <p:nvSpPr>
          <p:cNvPr id="12" name="TextBox 11"/>
          <p:cNvSpPr txBox="1"/>
          <p:nvPr/>
        </p:nvSpPr>
        <p:spPr>
          <a:xfrm>
            <a:off x="886968" y="4434840"/>
            <a:ext cx="4828032" cy="640080"/>
          </a:xfrm>
          <a:prstGeom prst="rect">
            <a:avLst/>
          </a:prstGeom>
          <a:noFill/>
        </p:spPr>
        <p:txBody>
          <a:bodyPr wrap="square" lIns="13716" rIns="13716" tIns="18288" bIns="0">
            <a:spAutoFit/>
          </a:bodyPr>
          <a:lstStyle/>
          <a:p>
            <a:pPr algn="l">
              <a:lnSpc>
                <a:spcPct val="117000"/>
              </a:lnSpc>
              <a:spcAft>
                <a:spcPts val="600"/>
              </a:spcAft>
              <a:defRPr sz="2100" b="1">
                <a:solidFill>
                  <a:srgbClr val="1D2D40"/>
                </a:solidFill>
                <a:latin typeface="Noto Sans CJK KR"/>
              </a:defRPr>
            </a:pPr>
            <a:r>
              <a:t>주간 학습 화면 진입 사용자–강의 쌍 수</a:t>
            </a:r>
          </a:p>
        </p:txBody>
      </p:sp>
      <p:sp>
        <p:nvSpPr>
          <p:cNvPr id="13" name="Rounded Rectangle 12"/>
          <p:cNvSpPr/>
          <p:nvPr/>
        </p:nvSpPr>
        <p:spPr>
          <a:xfrm>
            <a:off x="6263640" y="3749039"/>
            <a:ext cx="5230368" cy="1444752"/>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7" y="3904487"/>
            <a:ext cx="4828032" cy="365760"/>
          </a:xfrm>
          <a:prstGeom prst="rect">
            <a:avLst/>
          </a:prstGeom>
          <a:noFill/>
        </p:spPr>
        <p:txBody>
          <a:bodyPr wrap="square" lIns="13716" rIns="13716" tIns="18288" bIns="0">
            <a:spAutoFit/>
          </a:bodyPr>
          <a:lstStyle/>
          <a:p>
            <a:pPr algn="l">
              <a:lnSpc>
                <a:spcPct val="117000"/>
              </a:lnSpc>
              <a:spcAft>
                <a:spcPts val="600"/>
              </a:spcAft>
              <a:defRPr sz="1700" b="1">
                <a:solidFill>
                  <a:srgbClr val="23578C"/>
                </a:solidFill>
                <a:latin typeface="Noto Sans CJK KR"/>
              </a:defRPr>
            </a:pPr>
            <a:r>
              <a:t>동인 B</a:t>
            </a:r>
          </a:p>
        </p:txBody>
      </p:sp>
      <p:sp>
        <p:nvSpPr>
          <p:cNvPr id="15" name="TextBox 14"/>
          <p:cNvSpPr txBox="1"/>
          <p:nvPr/>
        </p:nvSpPr>
        <p:spPr>
          <a:xfrm>
            <a:off x="6464807" y="4434840"/>
            <a:ext cx="4828032" cy="640080"/>
          </a:xfrm>
          <a:prstGeom prst="rect">
            <a:avLst/>
          </a:prstGeom>
          <a:noFill/>
        </p:spPr>
        <p:txBody>
          <a:bodyPr wrap="square" lIns="13716" rIns="13716" tIns="18288" bIns="0">
            <a:spAutoFit/>
          </a:bodyPr>
          <a:lstStyle/>
          <a:p>
            <a:pPr algn="l">
              <a:lnSpc>
                <a:spcPct val="117000"/>
              </a:lnSpc>
              <a:spcAft>
                <a:spcPts val="600"/>
              </a:spcAft>
              <a:defRPr sz="2100" b="1">
                <a:solidFill>
                  <a:srgbClr val="1D2D40"/>
                </a:solidFill>
                <a:latin typeface="Noto Sans CJK KR"/>
              </a:defRPr>
            </a:pPr>
            <a:r>
              <a:t>같은 집단·기간의 완성 체크 비율</a:t>
            </a:r>
          </a:p>
        </p:txBody>
      </p:sp>
      <p:sp>
        <p:nvSpPr>
          <p:cNvPr id="16" name="TextBox 15"/>
          <p:cNvSpPr txBox="1"/>
          <p:nvPr/>
        </p:nvSpPr>
        <p:spPr>
          <a:xfrm>
            <a:off x="5815584" y="4160520"/>
            <a:ext cx="548640" cy="502920"/>
          </a:xfrm>
          <a:prstGeom prst="rect">
            <a:avLst/>
          </a:prstGeom>
          <a:noFill/>
        </p:spPr>
        <p:txBody>
          <a:bodyPr wrap="square" lIns="13716" rIns="13716" tIns="18288" bIns="0">
            <a:spAutoFit/>
          </a:bodyPr>
          <a:lstStyle/>
          <a:p>
            <a:pPr algn="ctr">
              <a:lnSpc>
                <a:spcPct val="117000"/>
              </a:lnSpc>
              <a:spcAft>
                <a:spcPts val="600"/>
              </a:spcAft>
              <a:defRPr sz="3000" b="1">
                <a:solidFill>
                  <a:srgbClr val="B63E2A"/>
                </a:solidFill>
                <a:latin typeface="Noto Sans CJK KR"/>
              </a:defRPr>
            </a:pPr>
            <a:r>
              <a:t>×</a:t>
            </a:r>
          </a:p>
        </p:txBody>
      </p:sp>
      <p:sp>
        <p:nvSpPr>
          <p:cNvPr id="17" name="Rounded Rectangle 16"/>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완성 체크된 쌍 수 = 활성 학습 쌍 수 × 완성 체크 비율</a:t>
            </a:r>
          </a:p>
        </p:txBody>
      </p:sp>
      <p:sp>
        <p:nvSpPr>
          <p:cNvPr id="19" name="Rectangle 18"/>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rPr>
              <a:t>자료: L19 19강 KPI·측정</a:t>
            </a:r>
            <a:r>
              <a:rPr sz="800">
                <a:solidFill>
                  <a:srgbClr val="5E6C79"/>
                </a:solidFill>
                <a:latin typeface="Noto Sans CJK KR"/>
                <a:hlinkClick r:id="rId2"/>
              </a:rPr>
              <a:t>  |  I06 서버 연결 완료 기록</a:t>
            </a:r>
          </a:p>
        </p:txBody>
      </p:sp>
      <p:sp>
        <p:nvSpPr>
          <p:cNvPr id="21" name="TextBox 20"/>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측정 계획</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30</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이벤트는 구현 상태와 수집 상태를 구분합니다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아직 수집하지 않음  ·  시간 조절 시 생략 가능</a:t>
            </a:r>
          </a:p>
        </p:txBody>
      </p:sp>
      <p:sp>
        <p:nvSpPr>
          <p:cNvPr id="8" name="Rounded Rectangle 7"/>
          <p:cNvSpPr/>
          <p:nvPr/>
        </p:nvSpPr>
        <p:spPr>
          <a:xfrm>
            <a:off x="640080" y="2331720"/>
            <a:ext cx="10917936" cy="67208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423160"/>
            <a:ext cx="1819656" cy="576072"/>
          </a:xfrm>
          <a:prstGeom prst="rect">
            <a:avLst/>
          </a:prstGeom>
          <a:noFill/>
        </p:spPr>
        <p:txBody>
          <a:bodyPr wrap="square" lIns="13716" rIns="13716" tIns="18288" bIns="0">
            <a:spAutoFit/>
          </a:bodyPr>
          <a:lstStyle/>
          <a:p>
            <a:pPr algn="l">
              <a:lnSpc>
                <a:spcPct val="117000"/>
              </a:lnSpc>
              <a:spcAft>
                <a:spcPts val="600"/>
              </a:spcAft>
              <a:defRPr sz="1600" b="1">
                <a:solidFill>
                  <a:srgbClr val="23578C"/>
                </a:solidFill>
                <a:latin typeface="Noto Sans CJK KR"/>
              </a:defRPr>
            </a:pPr>
            <a:r>
              <a:t>탐색</a:t>
            </a:r>
          </a:p>
        </p:txBody>
      </p:sp>
      <p:sp>
        <p:nvSpPr>
          <p:cNvPr id="10" name="TextBox 9"/>
          <p:cNvSpPr txBox="1"/>
          <p:nvPr/>
        </p:nvSpPr>
        <p:spPr>
          <a:xfrm>
            <a:off x="2715768" y="2423160"/>
            <a:ext cx="4809744" cy="576072"/>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view_item_list / select_item / view_item</a:t>
            </a:r>
          </a:p>
        </p:txBody>
      </p:sp>
      <p:sp>
        <p:nvSpPr>
          <p:cNvPr id="11" name="TextBox 10"/>
          <p:cNvSpPr txBox="1"/>
          <p:nvPr/>
        </p:nvSpPr>
        <p:spPr>
          <a:xfrm>
            <a:off x="7671816" y="2423160"/>
            <a:ext cx="3849624" cy="576072"/>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기존 설계</a:t>
            </a:r>
          </a:p>
        </p:txBody>
      </p:sp>
      <p:sp>
        <p:nvSpPr>
          <p:cNvPr id="12" name="Rounded Rectangle 11"/>
          <p:cNvSpPr/>
          <p:nvPr/>
        </p:nvSpPr>
        <p:spPr>
          <a:xfrm>
            <a:off x="640080" y="3035808"/>
            <a:ext cx="10917936" cy="672084"/>
          </a:xfrm>
          <a:prstGeom prst="roundRect">
            <a:avLst>
              <a:gd name="adj" fmla="val 10000"/>
            </a:avLst>
          </a:prstGeom>
          <a:solidFill>
            <a:srgbClr val="EE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3127248"/>
            <a:ext cx="1819656" cy="576072"/>
          </a:xfrm>
          <a:prstGeom prst="rect">
            <a:avLst/>
          </a:prstGeom>
          <a:noFill/>
        </p:spPr>
        <p:txBody>
          <a:bodyPr wrap="square" lIns="13716" rIns="13716" tIns="18288" bIns="0">
            <a:spAutoFit/>
          </a:bodyPr>
          <a:lstStyle/>
          <a:p>
            <a:pPr algn="l">
              <a:lnSpc>
                <a:spcPct val="117000"/>
              </a:lnSpc>
              <a:spcAft>
                <a:spcPts val="600"/>
              </a:spcAft>
              <a:defRPr sz="1600" b="1">
                <a:solidFill>
                  <a:srgbClr val="23578C"/>
                </a:solidFill>
                <a:latin typeface="Noto Sans CJK KR"/>
              </a:defRPr>
            </a:pPr>
            <a:r>
              <a:t>검색·필터</a:t>
            </a:r>
          </a:p>
        </p:txBody>
      </p:sp>
      <p:sp>
        <p:nvSpPr>
          <p:cNvPr id="14" name="TextBox 13"/>
          <p:cNvSpPr txBox="1"/>
          <p:nvPr/>
        </p:nvSpPr>
        <p:spPr>
          <a:xfrm>
            <a:off x="2715768" y="3127248"/>
            <a:ext cx="4809744" cy="576072"/>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course_search / course_filter</a:t>
            </a:r>
          </a:p>
        </p:txBody>
      </p:sp>
      <p:sp>
        <p:nvSpPr>
          <p:cNvPr id="15" name="TextBox 14"/>
          <p:cNvSpPr txBox="1"/>
          <p:nvPr/>
        </p:nvSpPr>
        <p:spPr>
          <a:xfrm>
            <a:off x="7671816" y="3127248"/>
            <a:ext cx="3849624" cy="576072"/>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기존 설계</a:t>
            </a:r>
          </a:p>
        </p:txBody>
      </p:sp>
      <p:sp>
        <p:nvSpPr>
          <p:cNvPr id="16" name="Rounded Rectangle 15"/>
          <p:cNvSpPr/>
          <p:nvPr/>
        </p:nvSpPr>
        <p:spPr>
          <a:xfrm>
            <a:off x="640080" y="3739896"/>
            <a:ext cx="10917936" cy="67208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831335"/>
            <a:ext cx="1819656" cy="576072"/>
          </a:xfrm>
          <a:prstGeom prst="rect">
            <a:avLst/>
          </a:prstGeom>
          <a:noFill/>
        </p:spPr>
        <p:txBody>
          <a:bodyPr wrap="square" lIns="13716" rIns="13716" tIns="18288" bIns="0">
            <a:spAutoFit/>
          </a:bodyPr>
          <a:lstStyle/>
          <a:p>
            <a:pPr algn="l">
              <a:lnSpc>
                <a:spcPct val="117000"/>
              </a:lnSpc>
              <a:spcAft>
                <a:spcPts val="600"/>
              </a:spcAft>
              <a:defRPr sz="1600" b="1">
                <a:solidFill>
                  <a:srgbClr val="23578C"/>
                </a:solidFill>
                <a:latin typeface="Noto Sans CJK KR"/>
              </a:defRPr>
            </a:pPr>
            <a:r>
              <a:t>외부 보고서</a:t>
            </a:r>
          </a:p>
        </p:txBody>
      </p:sp>
      <p:sp>
        <p:nvSpPr>
          <p:cNvPr id="18" name="TextBox 17"/>
          <p:cNvSpPr txBox="1"/>
          <p:nvPr/>
        </p:nvSpPr>
        <p:spPr>
          <a:xfrm>
            <a:off x="2715768" y="3831335"/>
            <a:ext cx="4809744" cy="576072"/>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report_example_open</a:t>
            </a:r>
          </a:p>
        </p:txBody>
      </p:sp>
      <p:sp>
        <p:nvSpPr>
          <p:cNvPr id="19" name="TextBox 18"/>
          <p:cNvSpPr txBox="1"/>
          <p:nvPr/>
        </p:nvSpPr>
        <p:spPr>
          <a:xfrm>
            <a:off x="7671816" y="3831335"/>
            <a:ext cx="3849624" cy="576072"/>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기존 설계</a:t>
            </a:r>
          </a:p>
        </p:txBody>
      </p:sp>
      <p:sp>
        <p:nvSpPr>
          <p:cNvPr id="20" name="Rounded Rectangle 19"/>
          <p:cNvSpPr/>
          <p:nvPr/>
        </p:nvSpPr>
        <p:spPr>
          <a:xfrm>
            <a:off x="640080" y="4443983"/>
            <a:ext cx="10917936" cy="672084"/>
          </a:xfrm>
          <a:prstGeom prst="roundRect">
            <a:avLst>
              <a:gd name="adj" fmla="val 10000"/>
            </a:avLst>
          </a:prstGeom>
          <a:solidFill>
            <a:srgbClr val="EE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535423"/>
            <a:ext cx="1819656" cy="576072"/>
          </a:xfrm>
          <a:prstGeom prst="rect">
            <a:avLst/>
          </a:prstGeom>
          <a:noFill/>
        </p:spPr>
        <p:txBody>
          <a:bodyPr wrap="square" lIns="13716" rIns="13716" tIns="18288" bIns="0">
            <a:spAutoFit/>
          </a:bodyPr>
          <a:lstStyle/>
          <a:p>
            <a:pPr algn="l">
              <a:lnSpc>
                <a:spcPct val="117000"/>
              </a:lnSpc>
              <a:spcAft>
                <a:spcPts val="600"/>
              </a:spcAft>
              <a:defRPr sz="1600" b="1">
                <a:solidFill>
                  <a:srgbClr val="23578C"/>
                </a:solidFill>
                <a:latin typeface="Noto Sans CJK KR"/>
              </a:defRPr>
            </a:pPr>
            <a:r>
              <a:t>완성</a:t>
            </a:r>
          </a:p>
        </p:txBody>
      </p:sp>
      <p:sp>
        <p:nvSpPr>
          <p:cNvPr id="22" name="TextBox 21"/>
          <p:cNvSpPr txBox="1"/>
          <p:nvPr/>
        </p:nvSpPr>
        <p:spPr>
          <a:xfrm>
            <a:off x="2715768" y="4535423"/>
            <a:ext cx="4809744" cy="576072"/>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outcome_marked / outcome_unmarked</a:t>
            </a:r>
          </a:p>
        </p:txBody>
      </p:sp>
      <p:sp>
        <p:nvSpPr>
          <p:cNvPr id="23" name="TextBox 22"/>
          <p:cNvSpPr txBox="1"/>
          <p:nvPr/>
        </p:nvSpPr>
        <p:spPr>
          <a:xfrm>
            <a:off x="7671816" y="4535423"/>
            <a:ext cx="3849624" cy="576072"/>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추가 제안</a:t>
            </a:r>
          </a:p>
        </p:txBody>
      </p:sp>
      <p:sp>
        <p:nvSpPr>
          <p:cNvPr id="24" name="Rounded Rectangle 23"/>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원문 검색어·이메일·기업명·자소서·경험 입력은 전송하지 않습니다.</a:t>
            </a:r>
          </a:p>
        </p:txBody>
      </p:sp>
      <p:sp>
        <p:nvSpPr>
          <p:cNvPr id="26" name="Rectangle 25"/>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I10 GA4 계획·미수집</a:t>
            </a:r>
          </a:p>
        </p:txBody>
      </p:sp>
      <p:sp>
        <p:nvSpPr>
          <p:cNvPr id="28" name="TextBox 27"/>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바이브 코딩</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31</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구현량보다 재현 가능한 검증을 남겼습니다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직접 검증</a:t>
            </a:r>
          </a:p>
        </p:txBody>
      </p:sp>
      <p:sp>
        <p:nvSpPr>
          <p:cNvPr id="8" name="Rounded Rectangle 7"/>
          <p:cNvSpPr/>
          <p:nvPr/>
        </p:nvSpPr>
        <p:spPr>
          <a:xfrm>
            <a:off x="640080" y="2432304"/>
            <a:ext cx="3502152" cy="271576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660904"/>
            <a:ext cx="3136392" cy="1417320"/>
          </a:xfrm>
          <a:prstGeom prst="rect">
            <a:avLst/>
          </a:prstGeom>
          <a:noFill/>
        </p:spPr>
        <p:txBody>
          <a:bodyPr wrap="square" lIns="13716" rIns="13716" tIns="18288" bIns="0">
            <a:spAutoFit/>
          </a:bodyPr>
          <a:lstStyle/>
          <a:p>
            <a:pPr algn="ctr">
              <a:lnSpc>
                <a:spcPct val="117000"/>
              </a:lnSpc>
              <a:spcAft>
                <a:spcPts val="600"/>
              </a:spcAft>
              <a:defRPr sz="7000" b="1">
                <a:solidFill>
                  <a:srgbClr val="23578C"/>
                </a:solidFill>
                <a:latin typeface="Noto Sans CJK KR"/>
              </a:defRPr>
            </a:pPr>
            <a:r>
              <a:t>7</a:t>
            </a:r>
          </a:p>
        </p:txBody>
      </p:sp>
      <p:sp>
        <p:nvSpPr>
          <p:cNvPr id="10" name="TextBox 9"/>
          <p:cNvSpPr txBox="1"/>
          <p:nvPr/>
        </p:nvSpPr>
        <p:spPr>
          <a:xfrm>
            <a:off x="822959" y="4315968"/>
            <a:ext cx="3136392" cy="548640"/>
          </a:xfrm>
          <a:prstGeom prst="rect">
            <a:avLst/>
          </a:prstGeom>
          <a:noFill/>
        </p:spPr>
        <p:txBody>
          <a:bodyPr wrap="square" lIns="13716" rIns="13716" tIns="18288" bIns="0">
            <a:spAutoFit/>
          </a:bodyPr>
          <a:lstStyle/>
          <a:p>
            <a:pPr algn="ctr">
              <a:lnSpc>
                <a:spcPct val="117000"/>
              </a:lnSpc>
              <a:spcAft>
                <a:spcPts val="600"/>
              </a:spcAft>
              <a:defRPr sz="2100" b="1">
                <a:solidFill>
                  <a:srgbClr val="1D2D40"/>
                </a:solidFill>
                <a:latin typeface="Noto Sans CJK KR"/>
              </a:defRPr>
            </a:pPr>
            <a:r>
              <a:t>HTML 페이지</a:t>
            </a:r>
          </a:p>
        </p:txBody>
      </p:sp>
      <p:sp>
        <p:nvSpPr>
          <p:cNvPr id="11" name="Rounded Rectangle 10"/>
          <p:cNvSpPr/>
          <p:nvPr/>
        </p:nvSpPr>
        <p:spPr>
          <a:xfrm>
            <a:off x="4343400" y="2432304"/>
            <a:ext cx="3502152" cy="271576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2660904"/>
            <a:ext cx="3136392" cy="1417320"/>
          </a:xfrm>
          <a:prstGeom prst="rect">
            <a:avLst/>
          </a:prstGeom>
          <a:noFill/>
        </p:spPr>
        <p:txBody>
          <a:bodyPr wrap="square" lIns="13716" rIns="13716" tIns="18288" bIns="0">
            <a:spAutoFit/>
          </a:bodyPr>
          <a:lstStyle/>
          <a:p>
            <a:pPr algn="ctr">
              <a:lnSpc>
                <a:spcPct val="117000"/>
              </a:lnSpc>
              <a:spcAft>
                <a:spcPts val="600"/>
              </a:spcAft>
              <a:defRPr sz="7000" b="1">
                <a:solidFill>
                  <a:srgbClr val="23578C"/>
                </a:solidFill>
                <a:latin typeface="Noto Sans CJK KR"/>
              </a:defRPr>
            </a:pPr>
            <a:r>
              <a:t>6</a:t>
            </a:r>
          </a:p>
        </p:txBody>
      </p:sp>
      <p:sp>
        <p:nvSpPr>
          <p:cNvPr id="13" name="TextBox 12"/>
          <p:cNvSpPr txBox="1"/>
          <p:nvPr/>
        </p:nvSpPr>
        <p:spPr>
          <a:xfrm>
            <a:off x="4526280" y="4315968"/>
            <a:ext cx="3136392" cy="548640"/>
          </a:xfrm>
          <a:prstGeom prst="rect">
            <a:avLst/>
          </a:prstGeom>
          <a:noFill/>
        </p:spPr>
        <p:txBody>
          <a:bodyPr wrap="square" lIns="13716" rIns="13716" tIns="18288" bIns="0">
            <a:spAutoFit/>
          </a:bodyPr>
          <a:lstStyle/>
          <a:p>
            <a:pPr algn="ctr">
              <a:lnSpc>
                <a:spcPct val="117000"/>
              </a:lnSpc>
              <a:spcAft>
                <a:spcPts val="600"/>
              </a:spcAft>
              <a:defRPr sz="2100" b="1">
                <a:solidFill>
                  <a:srgbClr val="1D2D40"/>
                </a:solidFill>
                <a:latin typeface="Noto Sans CJK KR"/>
              </a:defRPr>
            </a:pPr>
            <a:r>
              <a:t>예시 강의</a:t>
            </a:r>
          </a:p>
        </p:txBody>
      </p:sp>
      <p:sp>
        <p:nvSpPr>
          <p:cNvPr id="14" name="Rounded Rectangle 13"/>
          <p:cNvSpPr/>
          <p:nvPr/>
        </p:nvSpPr>
        <p:spPr>
          <a:xfrm>
            <a:off x="8046719" y="2432304"/>
            <a:ext cx="3502152" cy="271576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9" y="2660904"/>
            <a:ext cx="3136392" cy="1417320"/>
          </a:xfrm>
          <a:prstGeom prst="rect">
            <a:avLst/>
          </a:prstGeom>
          <a:noFill/>
        </p:spPr>
        <p:txBody>
          <a:bodyPr wrap="square" lIns="13716" rIns="13716" tIns="18288" bIns="0">
            <a:spAutoFit/>
          </a:bodyPr>
          <a:lstStyle/>
          <a:p>
            <a:pPr algn="ctr">
              <a:lnSpc>
                <a:spcPct val="117000"/>
              </a:lnSpc>
              <a:spcAft>
                <a:spcPts val="600"/>
              </a:spcAft>
              <a:defRPr sz="7000" b="1">
                <a:solidFill>
                  <a:srgbClr val="23578C"/>
                </a:solidFill>
                <a:latin typeface="Noto Sans CJK KR"/>
              </a:defRPr>
            </a:pPr>
            <a:r>
              <a:t>278</a:t>
            </a:r>
          </a:p>
        </p:txBody>
      </p:sp>
      <p:sp>
        <p:nvSpPr>
          <p:cNvPr id="16" name="TextBox 15"/>
          <p:cNvSpPr txBox="1"/>
          <p:nvPr/>
        </p:nvSpPr>
        <p:spPr>
          <a:xfrm>
            <a:off x="8229599" y="4315968"/>
            <a:ext cx="3136392" cy="548640"/>
          </a:xfrm>
          <a:prstGeom prst="rect">
            <a:avLst/>
          </a:prstGeom>
          <a:noFill/>
        </p:spPr>
        <p:txBody>
          <a:bodyPr wrap="square" lIns="13716" rIns="13716" tIns="18288" bIns="0">
            <a:spAutoFit/>
          </a:bodyPr>
          <a:lstStyle/>
          <a:p>
            <a:pPr algn="ctr">
              <a:lnSpc>
                <a:spcPct val="117000"/>
              </a:lnSpc>
              <a:spcAft>
                <a:spcPts val="600"/>
              </a:spcAft>
              <a:defRPr sz="2100" b="1">
                <a:solidFill>
                  <a:srgbClr val="1D2D40"/>
                </a:solidFill>
                <a:latin typeface="Noto Sans CJK KR"/>
              </a:defRPr>
            </a:pPr>
            <a:r>
              <a:t>통과한 자동 테스트</a:t>
            </a:r>
          </a:p>
        </p:txBody>
      </p:sp>
      <p:sp>
        <p:nvSpPr>
          <p:cNvPr id="17" name="Rounded Rectangle 16"/>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기준 ba055b9 · 2026-10-16 스냅샷 · 19개 커밋 / 테스트·빌드 직접 재실행</a:t>
            </a:r>
          </a:p>
        </p:txBody>
      </p:sp>
      <p:sp>
        <p:nvSpPr>
          <p:cNvPr id="19" name="Rectangle 18"/>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I11 테스트·빌드·검토 실행</a:t>
            </a:r>
          </a:p>
        </p:txBody>
      </p:sp>
      <p:sp>
        <p:nvSpPr>
          <p:cNvPr id="21" name="TextBox 20"/>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바이브 코딩</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32</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AI 작업 지시도 목적과 제약이 있는 브리프였습니다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문서 확인 · 회고</a:t>
            </a:r>
          </a:p>
        </p:txBody>
      </p:sp>
      <p:sp>
        <p:nvSpPr>
          <p:cNvPr id="8" name="Rounded Rectangle 7"/>
          <p:cNvSpPr/>
          <p:nvPr/>
        </p:nvSpPr>
        <p:spPr>
          <a:xfrm>
            <a:off x="640080"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목적</a:t>
            </a:r>
          </a:p>
        </p:txBody>
      </p:sp>
      <p:sp>
        <p:nvSpPr>
          <p:cNvPr id="10" name="TextBox 9"/>
          <p:cNvSpPr txBox="1"/>
          <p:nvPr/>
        </p:nvSpPr>
        <p:spPr>
          <a:xfrm>
            <a:off x="804671"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누구의 어떤 문제를 풀지</a:t>
            </a:r>
          </a:p>
        </p:txBody>
      </p:sp>
      <p:sp>
        <p:nvSpPr>
          <p:cNvPr id="11" name="TextBox 10"/>
          <p:cNvSpPr txBox="1"/>
          <p:nvPr/>
        </p:nvSpPr>
        <p:spPr>
          <a:xfrm>
            <a:off x="3200399"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12" name="Rounded Rectangle 11"/>
          <p:cNvSpPr/>
          <p:nvPr/>
        </p:nvSpPr>
        <p:spPr>
          <a:xfrm>
            <a:off x="3433572"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8164"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범위</a:t>
            </a:r>
          </a:p>
        </p:txBody>
      </p:sp>
      <p:sp>
        <p:nvSpPr>
          <p:cNvPr id="14" name="TextBox 13"/>
          <p:cNvSpPr txBox="1"/>
          <p:nvPr/>
        </p:nvSpPr>
        <p:spPr>
          <a:xfrm>
            <a:off x="3598164"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이번에 만들 것과 제외할 것</a:t>
            </a:r>
          </a:p>
        </p:txBody>
      </p:sp>
      <p:sp>
        <p:nvSpPr>
          <p:cNvPr id="15" name="TextBox 14"/>
          <p:cNvSpPr txBox="1"/>
          <p:nvPr/>
        </p:nvSpPr>
        <p:spPr>
          <a:xfrm>
            <a:off x="5993892"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16" name="Rounded Rectangle 15"/>
          <p:cNvSpPr/>
          <p:nvPr/>
        </p:nvSpPr>
        <p:spPr>
          <a:xfrm>
            <a:off x="6227064"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1655"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기준</a:t>
            </a:r>
          </a:p>
        </p:txBody>
      </p:sp>
      <p:sp>
        <p:nvSpPr>
          <p:cNvPr id="18" name="TextBox 17"/>
          <p:cNvSpPr txBox="1"/>
          <p:nvPr/>
        </p:nvSpPr>
        <p:spPr>
          <a:xfrm>
            <a:off x="6391655"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결과물·금지 표현·데모 원칙</a:t>
            </a:r>
          </a:p>
        </p:txBody>
      </p:sp>
      <p:sp>
        <p:nvSpPr>
          <p:cNvPr id="19" name="TextBox 18"/>
          <p:cNvSpPr txBox="1"/>
          <p:nvPr/>
        </p:nvSpPr>
        <p:spPr>
          <a:xfrm>
            <a:off x="8787384"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20" name="Rounded Rectangle 19"/>
          <p:cNvSpPr/>
          <p:nvPr/>
        </p:nvSpPr>
        <p:spPr>
          <a:xfrm>
            <a:off x="9020555"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5147"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검증</a:t>
            </a:r>
          </a:p>
        </p:txBody>
      </p:sp>
      <p:sp>
        <p:nvSpPr>
          <p:cNvPr id="22" name="TextBox 21"/>
          <p:cNvSpPr txBox="1"/>
          <p:nvPr/>
        </p:nvSpPr>
        <p:spPr>
          <a:xfrm>
            <a:off x="9185147"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테스트·화면·커밋 승인</a:t>
            </a:r>
          </a:p>
        </p:txBody>
      </p:sp>
      <p:sp>
        <p:nvSpPr>
          <p:cNvPr id="23" name="Rectangle 22"/>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I01 제품 원칙·범위</a:t>
            </a:r>
            <a:r>
              <a:rPr sz="800">
                <a:solidFill>
                  <a:srgbClr val="5E6C79"/>
                </a:solidFill>
                <a:latin typeface="Noto Sans CJK KR"/>
              </a:rPr>
              <a:t>  |  L17 17강 캠페인 컨셉</a:t>
            </a:r>
          </a:p>
        </p:txBody>
      </p:sp>
      <p:sp>
        <p:nvSpPr>
          <p:cNvPr id="25" name="TextBox 24"/>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바이브 코딩</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33</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테스트는 무엇을 성공으로 볼지 미리 정하는 도구였습니다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검증 결과 · 회고</a:t>
            </a:r>
          </a:p>
        </p:txBody>
      </p:sp>
      <p:sp>
        <p:nvSpPr>
          <p:cNvPr id="8" name="Rounded Rectangle 7"/>
          <p:cNvSpPr/>
          <p:nvPr/>
        </p:nvSpPr>
        <p:spPr>
          <a:xfrm>
            <a:off x="640080"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명시한 조건</a:t>
            </a:r>
          </a:p>
        </p:txBody>
      </p:sp>
      <p:sp>
        <p:nvSpPr>
          <p:cNvPr id="10" name="TextBox 9"/>
          <p:cNvSpPr txBox="1"/>
          <p:nvPr/>
        </p:nvSpPr>
        <p:spPr>
          <a:xfrm>
            <a:off x="822959"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중복 담기·신청·상태 전이·기간 경계</a:t>
            </a:r>
          </a:p>
        </p:txBody>
      </p:sp>
      <p:sp>
        <p:nvSpPr>
          <p:cNvPr id="11" name="Rounded Rectangle 10"/>
          <p:cNvSpPr/>
          <p:nvPr/>
        </p:nvSpPr>
        <p:spPr>
          <a:xfrm>
            <a:off x="4340351"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3232"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재실행 결과</a:t>
            </a:r>
          </a:p>
        </p:txBody>
      </p:sp>
      <p:sp>
        <p:nvSpPr>
          <p:cNvPr id="13" name="TextBox 12"/>
          <p:cNvSpPr txBox="1"/>
          <p:nvPr/>
        </p:nvSpPr>
        <p:spPr>
          <a:xfrm>
            <a:off x="4523232"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14개 테스트 파일 · 278개 통과</a:t>
            </a:r>
          </a:p>
        </p:txBody>
      </p:sp>
      <p:sp>
        <p:nvSpPr>
          <p:cNvPr id="14" name="Rounded Rectangle 13"/>
          <p:cNvSpPr/>
          <p:nvPr/>
        </p:nvSpPr>
        <p:spPr>
          <a:xfrm>
            <a:off x="8040623"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3503"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한계</a:t>
            </a:r>
          </a:p>
        </p:txBody>
      </p:sp>
      <p:sp>
        <p:nvSpPr>
          <p:cNvPr id="16" name="TextBox 15"/>
          <p:cNvSpPr txBox="1"/>
          <p:nvPr/>
        </p:nvSpPr>
        <p:spPr>
          <a:xfrm>
            <a:off x="8223503"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자동 테스트만으로 실서비스 보안·사용성·학습 효과 보장 불가</a:t>
            </a:r>
          </a:p>
        </p:txBody>
      </p:sp>
      <p:sp>
        <p:nvSpPr>
          <p:cNvPr id="17" name="Rectangle 16"/>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I11 테스트·빌드·검토 실행</a:t>
            </a:r>
            <a:r>
              <a:rPr sz="800">
                <a:solidFill>
                  <a:srgbClr val="5E6C79"/>
                </a:solidFill>
                <a:latin typeface="Noto Sans CJK KR"/>
              </a:rPr>
              <a:t>  |  L15 15강 퍼널·AARRR·그로스</a:t>
            </a:r>
            <a:r>
              <a:rPr sz="800">
                <a:solidFill>
                  <a:srgbClr val="5E6C79"/>
                </a:solidFill>
                <a:latin typeface="Noto Sans CJK KR"/>
              </a:rPr>
              <a:t>  |  L19 19강 KPI·측정</a:t>
            </a:r>
          </a:p>
        </p:txBody>
      </p:sp>
      <p:sp>
        <p:nvSpPr>
          <p:cNvPr id="19" name="TextBox 18"/>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바이브 코딩</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34</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AI 시안을 그대로 쓰지 않고 제품의 약속과 맞췄습니다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문서 확인 · 회고</a:t>
            </a:r>
          </a:p>
        </p:txBody>
      </p:sp>
      <p:sp>
        <p:nvSpPr>
          <p:cNvPr id="8" name="Rounded Rectangle 7"/>
          <p:cNvSpPr/>
          <p:nvPr/>
        </p:nvSpPr>
        <p:spPr>
          <a:xfrm>
            <a:off x="640080"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삭제 기준</a:t>
            </a:r>
          </a:p>
        </p:txBody>
      </p:sp>
      <p:sp>
        <p:nvSpPr>
          <p:cNvPr id="10" name="TextBox 9"/>
          <p:cNvSpPr txBox="1"/>
          <p:nvPr/>
        </p:nvSpPr>
        <p:spPr>
          <a:xfrm>
            <a:off x="822959"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근거 없는 성과·후기·경력·압박 문구</a:t>
            </a:r>
          </a:p>
        </p:txBody>
      </p:sp>
      <p:sp>
        <p:nvSpPr>
          <p:cNvPr id="11" name="Rounded Rectangle 10"/>
          <p:cNvSpPr/>
          <p:nvPr/>
        </p:nvSpPr>
        <p:spPr>
          <a:xfrm>
            <a:off x="4340351"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3232"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추가 기준</a:t>
            </a:r>
          </a:p>
        </p:txBody>
      </p:sp>
      <p:sp>
        <p:nvSpPr>
          <p:cNvPr id="13" name="TextBox 12"/>
          <p:cNvSpPr txBox="1"/>
          <p:nvPr/>
        </p:nvSpPr>
        <p:spPr>
          <a:xfrm>
            <a:off x="4523232"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가격·결과물·준비물·현재 개발 상태</a:t>
            </a:r>
          </a:p>
        </p:txBody>
      </p:sp>
      <p:sp>
        <p:nvSpPr>
          <p:cNvPr id="14" name="Rounded Rectangle 13"/>
          <p:cNvSpPr/>
          <p:nvPr/>
        </p:nvSpPr>
        <p:spPr>
          <a:xfrm>
            <a:off x="8040623"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3503"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판단의 책임</a:t>
            </a:r>
          </a:p>
        </p:txBody>
      </p:sp>
      <p:sp>
        <p:nvSpPr>
          <p:cNvPr id="16" name="TextBox 15"/>
          <p:cNvSpPr txBox="1"/>
          <p:nvPr/>
        </p:nvSpPr>
        <p:spPr>
          <a:xfrm>
            <a:off x="8223503"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사실 검증과 범위 결정은 제작자에게</a:t>
            </a:r>
          </a:p>
        </p:txBody>
      </p:sp>
      <p:sp>
        <p:nvSpPr>
          <p:cNvPr id="17" name="Rectangle 16"/>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I03 디자인·삭제 원칙</a:t>
            </a:r>
            <a:r>
              <a:rPr sz="800">
                <a:solidFill>
                  <a:srgbClr val="5E6C79"/>
                </a:solidFill>
                <a:latin typeface="Noto Sans CJK KR"/>
              </a:rPr>
              <a:t>  |  L12 12강 전략 프레임·시장 분석</a:t>
            </a:r>
            <a:r>
              <a:rPr sz="800">
                <a:solidFill>
                  <a:srgbClr val="5E6C79"/>
                </a:solidFill>
                <a:latin typeface="Noto Sans CJK KR"/>
              </a:rPr>
              <a:t>  |  L18 18강 캠페인·채널</a:t>
            </a:r>
          </a:p>
        </p:txBody>
      </p:sp>
      <p:sp>
        <p:nvSpPr>
          <p:cNvPr id="19" name="TextBox 18"/>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바이브 코딩</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35</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여러 AI 세션에는 역할과 변경 권한을 나눠야 했습니다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커밋 확인 · 회고</a:t>
            </a:r>
          </a:p>
        </p:txBody>
      </p:sp>
      <p:sp>
        <p:nvSpPr>
          <p:cNvPr id="8" name="Rounded Rectangle 7"/>
          <p:cNvSpPr/>
          <p:nvPr/>
        </p:nvSpPr>
        <p:spPr>
          <a:xfrm>
            <a:off x="640080"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발생한 문제</a:t>
            </a:r>
          </a:p>
        </p:txBody>
      </p:sp>
      <p:sp>
        <p:nvSpPr>
          <p:cNvPr id="10" name="TextBox 9"/>
          <p:cNvSpPr txBox="1"/>
          <p:nvPr/>
        </p:nvSpPr>
        <p:spPr>
          <a:xfrm>
            <a:off x="804671"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동시 변경·병합 충돌 보고</a:t>
            </a:r>
          </a:p>
        </p:txBody>
      </p:sp>
      <p:sp>
        <p:nvSpPr>
          <p:cNvPr id="11" name="TextBox 10"/>
          <p:cNvSpPr txBox="1"/>
          <p:nvPr/>
        </p:nvSpPr>
        <p:spPr>
          <a:xfrm>
            <a:off x="3200399"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12" name="Rounded Rectangle 11"/>
          <p:cNvSpPr/>
          <p:nvPr/>
        </p:nvSpPr>
        <p:spPr>
          <a:xfrm>
            <a:off x="3433572"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8164"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구현 담당</a:t>
            </a:r>
          </a:p>
        </p:txBody>
      </p:sp>
      <p:sp>
        <p:nvSpPr>
          <p:cNvPr id="14" name="TextBox 13"/>
          <p:cNvSpPr txBox="1"/>
          <p:nvPr/>
        </p:nvSpPr>
        <p:spPr>
          <a:xfrm>
            <a:off x="3598164"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한 세션에서 파일 수정·커밋·푸시</a:t>
            </a:r>
          </a:p>
        </p:txBody>
      </p:sp>
      <p:sp>
        <p:nvSpPr>
          <p:cNvPr id="15" name="TextBox 14"/>
          <p:cNvSpPr txBox="1"/>
          <p:nvPr/>
        </p:nvSpPr>
        <p:spPr>
          <a:xfrm>
            <a:off x="5993892"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16" name="Rounded Rectangle 15"/>
          <p:cNvSpPr/>
          <p:nvPr/>
        </p:nvSpPr>
        <p:spPr>
          <a:xfrm>
            <a:off x="6227064"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1655"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기획·검토 담당</a:t>
            </a:r>
          </a:p>
        </p:txBody>
      </p:sp>
      <p:sp>
        <p:nvSpPr>
          <p:cNvPr id="18" name="TextBox 17"/>
          <p:cNvSpPr txBox="1"/>
          <p:nvPr/>
        </p:nvSpPr>
        <p:spPr>
          <a:xfrm>
            <a:off x="6391655"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제안·검증·별도 자료 제작</a:t>
            </a:r>
          </a:p>
        </p:txBody>
      </p:sp>
      <p:sp>
        <p:nvSpPr>
          <p:cNvPr id="19" name="TextBox 18"/>
          <p:cNvSpPr txBox="1"/>
          <p:nvPr/>
        </p:nvSpPr>
        <p:spPr>
          <a:xfrm>
            <a:off x="8787384"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20" name="Rounded Rectangle 19"/>
          <p:cNvSpPr/>
          <p:nvPr/>
        </p:nvSpPr>
        <p:spPr>
          <a:xfrm>
            <a:off x="9020555"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5147"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남긴 규칙</a:t>
            </a:r>
          </a:p>
        </p:txBody>
      </p:sp>
      <p:sp>
        <p:nvSpPr>
          <p:cNvPr id="22" name="TextBox 21"/>
          <p:cNvSpPr txBox="1"/>
          <p:nvPr/>
        </p:nvSpPr>
        <p:spPr>
          <a:xfrm>
            <a:off x="9185147"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담당 범위와 인계 기준 명시</a:t>
            </a:r>
          </a:p>
        </p:txBody>
      </p:sp>
      <p:sp>
        <p:nvSpPr>
          <p:cNvPr id="23" name="Rectangle 22"/>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I12 다중 세션 협업 규칙 커밋</a:t>
            </a:r>
            <a:r>
              <a:rPr sz="800">
                <a:solidFill>
                  <a:srgbClr val="5E6C79"/>
                </a:solidFill>
                <a:latin typeface="Noto Sans CJK KR"/>
              </a:rPr>
              <a:t>  |  L16 16강 고객여정맵</a:t>
            </a:r>
            <a:r>
              <a:rPr sz="800">
                <a:solidFill>
                  <a:srgbClr val="5E6C79"/>
                </a:solidFill>
                <a:latin typeface="Noto Sans CJK KR"/>
              </a:rPr>
              <a:t>  |  L19 19강 KPI·측정</a:t>
            </a:r>
          </a:p>
        </p:txBody>
      </p:sp>
      <p:sp>
        <p:nvSpPr>
          <p:cNvPr id="25" name="TextBox 24"/>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바이브 코딩</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36</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작업을 나누고 검증한 뒤 다음 단계로 갔습니다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과정 회고  ·  시간 조절 시 생략 가능</a:t>
            </a:r>
          </a:p>
        </p:txBody>
      </p:sp>
      <p:sp>
        <p:nvSpPr>
          <p:cNvPr id="8" name="Rounded Rectangle 7"/>
          <p:cNvSpPr/>
          <p:nvPr/>
        </p:nvSpPr>
        <p:spPr>
          <a:xfrm>
            <a:off x="640080"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작업 정의</a:t>
            </a:r>
          </a:p>
        </p:txBody>
      </p:sp>
      <p:sp>
        <p:nvSpPr>
          <p:cNvPr id="10" name="TextBox 9"/>
          <p:cNvSpPr txBox="1"/>
          <p:nvPr/>
        </p:nvSpPr>
        <p:spPr>
          <a:xfrm>
            <a:off x="804671"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기능과 제외 범위</a:t>
            </a:r>
          </a:p>
        </p:txBody>
      </p:sp>
      <p:sp>
        <p:nvSpPr>
          <p:cNvPr id="11" name="TextBox 10"/>
          <p:cNvSpPr txBox="1"/>
          <p:nvPr/>
        </p:nvSpPr>
        <p:spPr>
          <a:xfrm>
            <a:off x="3200399"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12" name="Rounded Rectangle 11"/>
          <p:cNvSpPr/>
          <p:nvPr/>
        </p:nvSpPr>
        <p:spPr>
          <a:xfrm>
            <a:off x="3433572"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8164"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구현</a:t>
            </a:r>
          </a:p>
        </p:txBody>
      </p:sp>
      <p:sp>
        <p:nvSpPr>
          <p:cNvPr id="14" name="TextBox 13"/>
          <p:cNvSpPr txBox="1"/>
          <p:nvPr/>
        </p:nvSpPr>
        <p:spPr>
          <a:xfrm>
            <a:off x="3598164"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데이터·상태·화면</a:t>
            </a:r>
          </a:p>
        </p:txBody>
      </p:sp>
      <p:sp>
        <p:nvSpPr>
          <p:cNvPr id="15" name="TextBox 14"/>
          <p:cNvSpPr txBox="1"/>
          <p:nvPr/>
        </p:nvSpPr>
        <p:spPr>
          <a:xfrm>
            <a:off x="5993892"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16" name="Rounded Rectangle 15"/>
          <p:cNvSpPr/>
          <p:nvPr/>
        </p:nvSpPr>
        <p:spPr>
          <a:xfrm>
            <a:off x="6227064"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1655"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검증</a:t>
            </a:r>
          </a:p>
        </p:txBody>
      </p:sp>
      <p:sp>
        <p:nvSpPr>
          <p:cNvPr id="18" name="TextBox 17"/>
          <p:cNvSpPr txBox="1"/>
          <p:nvPr/>
        </p:nvSpPr>
        <p:spPr>
          <a:xfrm>
            <a:off x="6391655"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조건·테스트·빌드</a:t>
            </a:r>
          </a:p>
        </p:txBody>
      </p:sp>
      <p:sp>
        <p:nvSpPr>
          <p:cNvPr id="19" name="TextBox 18"/>
          <p:cNvSpPr txBox="1"/>
          <p:nvPr/>
        </p:nvSpPr>
        <p:spPr>
          <a:xfrm>
            <a:off x="8787384"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20" name="Rounded Rectangle 19"/>
          <p:cNvSpPr/>
          <p:nvPr/>
        </p:nvSpPr>
        <p:spPr>
          <a:xfrm>
            <a:off x="9020555"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5147"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학습</a:t>
            </a:r>
          </a:p>
        </p:txBody>
      </p:sp>
      <p:sp>
        <p:nvSpPr>
          <p:cNvPr id="22" name="TextBox 21"/>
          <p:cNvSpPr txBox="1"/>
          <p:nvPr/>
        </p:nvSpPr>
        <p:spPr>
          <a:xfrm>
            <a:off x="9185147"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수정 이유·남은 문제 기록</a:t>
            </a:r>
          </a:p>
        </p:txBody>
      </p:sp>
      <p:sp>
        <p:nvSpPr>
          <p:cNvPr id="23" name="Rectangle 22"/>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I11 테스트·빌드·검토 실행</a:t>
            </a:r>
            <a:r>
              <a:rPr sz="800">
                <a:solidFill>
                  <a:srgbClr val="5E6C79"/>
                </a:solidFill>
                <a:latin typeface="Noto Sans CJK KR"/>
              </a:rPr>
              <a:t>  |  L15 15강 퍼널·AARRR·그로스</a:t>
            </a:r>
          </a:p>
        </p:txBody>
      </p:sp>
      <p:sp>
        <p:nvSpPr>
          <p:cNvPr id="25" name="TextBox 24"/>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마무리</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37</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무료 대안·가격·운영 준비에 먼저 답하겠습니다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사실·가설 구분</a:t>
            </a:r>
          </a:p>
        </p:txBody>
      </p:sp>
      <p:sp>
        <p:nvSpPr>
          <p:cNvPr id="8" name="Rounded Rectangle 7"/>
          <p:cNvSpPr/>
          <p:nvPr/>
        </p:nvSpPr>
        <p:spPr>
          <a:xfrm>
            <a:off x="640080"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무료 자료와 차이?</a:t>
            </a:r>
          </a:p>
        </p:txBody>
      </p:sp>
      <p:sp>
        <p:nvSpPr>
          <p:cNvPr id="10" name="TextBox 9"/>
          <p:cNvSpPr txBox="1"/>
          <p:nvPr/>
        </p:nvSpPr>
        <p:spPr>
          <a:xfrm>
            <a:off x="822959"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선택 범위·결과물·준비물을 명확히 하려는 설계입니다. 우월성은 미검증입니다.</a:t>
            </a:r>
          </a:p>
        </p:txBody>
      </p:sp>
      <p:sp>
        <p:nvSpPr>
          <p:cNvPr id="11" name="Rounded Rectangle 10"/>
          <p:cNvSpPr/>
          <p:nvPr/>
        </p:nvSpPr>
        <p:spPr>
          <a:xfrm>
            <a:off x="4340351"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3232"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1,000원으로 운영 가능?</a:t>
            </a:r>
          </a:p>
        </p:txBody>
      </p:sp>
      <p:sp>
        <p:nvSpPr>
          <p:cNvPr id="13" name="TextBox 12"/>
          <p:cNvSpPr txBox="1"/>
          <p:nvPr/>
        </p:nvSpPr>
        <p:spPr>
          <a:xfrm>
            <a:off x="4523232"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제작시간·환불·결제 수수료·도구비를 넣어 손익부터 검증합니다.</a:t>
            </a:r>
          </a:p>
        </p:txBody>
      </p:sp>
      <p:sp>
        <p:nvSpPr>
          <p:cNvPr id="14" name="Rounded Rectangle 13"/>
          <p:cNvSpPr/>
          <p:nvPr/>
        </p:nvSpPr>
        <p:spPr>
          <a:xfrm>
            <a:off x="8040623" y="2359152"/>
            <a:ext cx="3517391" cy="285292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3503" y="2496312"/>
            <a:ext cx="3151631"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로그인·결제는?</a:t>
            </a:r>
          </a:p>
        </p:txBody>
      </p:sp>
      <p:sp>
        <p:nvSpPr>
          <p:cNvPr id="16" name="TextBox 15"/>
          <p:cNvSpPr txBox="1"/>
          <p:nvPr/>
        </p:nvSpPr>
        <p:spPr>
          <a:xfrm>
            <a:off x="8223503" y="3008376"/>
            <a:ext cx="3151631" cy="209397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카카오·서버 데모 기록 코드는 존재합니다. 실제 결제·유료 본문은 제외했습니다.</a:t>
            </a:r>
          </a:p>
        </p:txBody>
      </p:sp>
      <p:sp>
        <p:nvSpPr>
          <p:cNvPr id="17" name="Rectangle 16"/>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I01 제품 원칙·범위</a:t>
            </a:r>
            <a:r>
              <a:rPr sz="800">
                <a:solidFill>
                  <a:srgbClr val="5E6C79"/>
                </a:solidFill>
                <a:latin typeface="Noto Sans CJK KR"/>
                <a:hlinkClick r:id="rId3"/>
              </a:rPr>
              <a:t>  |  I06 서버 연결 완료 기록</a:t>
            </a:r>
            <a:r>
              <a:rPr sz="800">
                <a:solidFill>
                  <a:srgbClr val="5E6C79"/>
                </a:solidFill>
                <a:latin typeface="Noto Sans CJK KR"/>
                <a:hlinkClick r:id="rId4"/>
              </a:rPr>
              <a:t>  |  I07 7개 페이지·동선</a:t>
            </a:r>
          </a:p>
        </p:txBody>
      </p:sp>
      <p:sp>
        <p:nvSpPr>
          <p:cNvPr id="19" name="TextBox 18"/>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마무리</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38</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가격·사용자·학습 효과는 아직 검증하지 못했습니다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미검증 범위  ·  시간 조절 시 생략 가능</a:t>
            </a:r>
          </a:p>
        </p:txBody>
      </p:sp>
      <p:sp>
        <p:nvSpPr>
          <p:cNvPr id="8" name="Rounded Rectangle 7"/>
          <p:cNvSpPr/>
          <p:nvPr/>
        </p:nvSpPr>
        <p:spPr>
          <a:xfrm>
            <a:off x="640080" y="2359152"/>
            <a:ext cx="5367528"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96312"/>
            <a:ext cx="5001768"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고객</a:t>
            </a:r>
          </a:p>
        </p:txBody>
      </p:sp>
      <p:sp>
        <p:nvSpPr>
          <p:cNvPr id="10" name="TextBox 9"/>
          <p:cNvSpPr txBox="1"/>
          <p:nvPr/>
        </p:nvSpPr>
        <p:spPr>
          <a:xfrm>
            <a:off x="822959" y="3008376"/>
            <a:ext cx="5001768"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페르소나·실제 불편·채널 행동</a:t>
            </a:r>
          </a:p>
        </p:txBody>
      </p:sp>
      <p:sp>
        <p:nvSpPr>
          <p:cNvPr id="11" name="Rounded Rectangle 10"/>
          <p:cNvSpPr/>
          <p:nvPr/>
        </p:nvSpPr>
        <p:spPr>
          <a:xfrm>
            <a:off x="6190488" y="2359152"/>
            <a:ext cx="5367528"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2496312"/>
            <a:ext cx="5001768"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사업</a:t>
            </a:r>
          </a:p>
        </p:txBody>
      </p:sp>
      <p:sp>
        <p:nvSpPr>
          <p:cNvPr id="13" name="TextBox 12"/>
          <p:cNvSpPr txBox="1"/>
          <p:nvPr/>
        </p:nvSpPr>
        <p:spPr>
          <a:xfrm>
            <a:off x="6373368" y="3008376"/>
            <a:ext cx="5001768"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단건 선호·가격 수용성·손익</a:t>
            </a:r>
          </a:p>
        </p:txBody>
      </p:sp>
      <p:sp>
        <p:nvSpPr>
          <p:cNvPr id="14" name="Rounded Rectangle 13"/>
          <p:cNvSpPr/>
          <p:nvPr/>
        </p:nvSpPr>
        <p:spPr>
          <a:xfrm>
            <a:off x="640080" y="3950208"/>
            <a:ext cx="5367528"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4087368"/>
            <a:ext cx="5001768"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학습</a:t>
            </a:r>
          </a:p>
        </p:txBody>
      </p:sp>
      <p:sp>
        <p:nvSpPr>
          <p:cNvPr id="16" name="TextBox 15"/>
          <p:cNvSpPr txBox="1"/>
          <p:nvPr/>
        </p:nvSpPr>
        <p:spPr>
          <a:xfrm>
            <a:off x="822959" y="4599432"/>
            <a:ext cx="5001768"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실제 완성도·사용 지속·다음 강의 선택</a:t>
            </a:r>
          </a:p>
        </p:txBody>
      </p:sp>
      <p:sp>
        <p:nvSpPr>
          <p:cNvPr id="17" name="Rounded Rectangle 16"/>
          <p:cNvSpPr/>
          <p:nvPr/>
        </p:nvSpPr>
        <p:spPr>
          <a:xfrm>
            <a:off x="6190488" y="3950208"/>
            <a:ext cx="5367528"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3368" y="4087368"/>
            <a:ext cx="5001768"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운영</a:t>
            </a:r>
          </a:p>
        </p:txBody>
      </p:sp>
      <p:sp>
        <p:nvSpPr>
          <p:cNvPr id="19" name="TextBox 18"/>
          <p:cNvSpPr txBox="1"/>
          <p:nvPr/>
        </p:nvSpPr>
        <p:spPr>
          <a:xfrm>
            <a:off x="6373368" y="4599432"/>
            <a:ext cx="5001768"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법률·환불·수강 기간·유료 권한</a:t>
            </a:r>
          </a:p>
        </p:txBody>
      </p:sp>
      <p:sp>
        <p:nvSpPr>
          <p:cNvPr id="20" name="Rectangle 19"/>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I01 제품 원칙·범위</a:t>
            </a:r>
            <a:r>
              <a:rPr sz="800">
                <a:solidFill>
                  <a:srgbClr val="5E6C79"/>
                </a:solidFill>
                <a:latin typeface="Noto Sans CJK KR"/>
                <a:hlinkClick r:id="rId3"/>
              </a:rPr>
              <a:t>  |  S10 전자상거래법 제17조</a:t>
            </a:r>
          </a:p>
        </p:txBody>
      </p:sp>
      <p:sp>
        <p:nvSpPr>
          <p:cNvPr id="22" name="TextBox 21"/>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38</a:t>
            </a:r>
          </a:p>
        </p:txBody>
      </p:sp>
      <p:sp>
        <p:nvSpPr>
          <p:cNvPr id="23" name="TextBox 22"/>
          <p:cNvSpPr txBox="1"/>
          <p:nvPr/>
        </p:nvSpPr>
        <p:spPr>
          <a:xfrm>
            <a:off x="658368" y="6190488"/>
            <a:ext cx="10698480" cy="182880"/>
          </a:xfrm>
          <a:prstGeom prst="rect">
            <a:avLst/>
          </a:prstGeom>
          <a:noFill/>
        </p:spPr>
        <p:txBody>
          <a:bodyPr wrap="square" lIns="13716" rIns="13716" tIns="18288" bIns="0">
            <a:spAutoFit/>
          </a:bodyPr>
          <a:lstStyle/>
          <a:p>
            <a:pPr algn="l">
              <a:lnSpc>
                <a:spcPct val="117000"/>
              </a:lnSpc>
              <a:spcAft>
                <a:spcPts val="600"/>
              </a:spcAft>
              <a:defRPr sz="800" b="0">
                <a:solidFill>
                  <a:srgbClr val="5E6C79"/>
                </a:solidFill>
                <a:latin typeface="Noto Sans CJK KR"/>
              </a:defRPr>
            </a:pPr>
            <a:r>
              <a:t>외부 원문 미검증 수치는 본문에서 보류했습니다.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마무리</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39</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다음은 강의 제작과 사용자 관찰, 측정 연결입니다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다음 단계 제안</a:t>
            </a:r>
          </a:p>
        </p:txBody>
      </p:sp>
      <p:sp>
        <p:nvSpPr>
          <p:cNvPr id="8" name="Rounded Rectangle 7"/>
          <p:cNvSpPr/>
          <p:nvPr/>
        </p:nvSpPr>
        <p:spPr>
          <a:xfrm>
            <a:off x="640080"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1</a:t>
            </a:r>
          </a:p>
        </p:txBody>
      </p:sp>
      <p:sp>
        <p:nvSpPr>
          <p:cNvPr id="10" name="TextBox 9"/>
          <p:cNvSpPr txBox="1"/>
          <p:nvPr/>
        </p:nvSpPr>
        <p:spPr>
          <a:xfrm>
            <a:off x="804671"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맛보기 포함 실제 강의 제작</a:t>
            </a:r>
          </a:p>
        </p:txBody>
      </p:sp>
      <p:sp>
        <p:nvSpPr>
          <p:cNvPr id="11" name="TextBox 10"/>
          <p:cNvSpPr txBox="1"/>
          <p:nvPr/>
        </p:nvSpPr>
        <p:spPr>
          <a:xfrm>
            <a:off x="3200399"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12" name="Rounded Rectangle 11"/>
          <p:cNvSpPr/>
          <p:nvPr/>
        </p:nvSpPr>
        <p:spPr>
          <a:xfrm>
            <a:off x="3433572"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8164"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2</a:t>
            </a:r>
          </a:p>
        </p:txBody>
      </p:sp>
      <p:sp>
        <p:nvSpPr>
          <p:cNvPr id="14" name="TextBox 13"/>
          <p:cNvSpPr txBox="1"/>
          <p:nvPr/>
        </p:nvSpPr>
        <p:spPr>
          <a:xfrm>
            <a:off x="3598164"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취준생의 탐색·이해·실습 관찰</a:t>
            </a:r>
          </a:p>
        </p:txBody>
      </p:sp>
      <p:sp>
        <p:nvSpPr>
          <p:cNvPr id="15" name="TextBox 14"/>
          <p:cNvSpPr txBox="1"/>
          <p:nvPr/>
        </p:nvSpPr>
        <p:spPr>
          <a:xfrm>
            <a:off x="5993892"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16" name="Rounded Rectangle 15"/>
          <p:cNvSpPr/>
          <p:nvPr/>
        </p:nvSpPr>
        <p:spPr>
          <a:xfrm>
            <a:off x="6227064"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1655"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3</a:t>
            </a:r>
          </a:p>
        </p:txBody>
      </p:sp>
      <p:sp>
        <p:nvSpPr>
          <p:cNvPr id="18" name="TextBox 17"/>
          <p:cNvSpPr txBox="1"/>
          <p:nvPr/>
        </p:nvSpPr>
        <p:spPr>
          <a:xfrm>
            <a:off x="6391655"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GA4 설계 갱신·개인정보 안내 후 연결</a:t>
            </a:r>
          </a:p>
        </p:txBody>
      </p:sp>
      <p:sp>
        <p:nvSpPr>
          <p:cNvPr id="19" name="TextBox 18"/>
          <p:cNvSpPr txBox="1"/>
          <p:nvPr/>
        </p:nvSpPr>
        <p:spPr>
          <a:xfrm>
            <a:off x="8787384" y="3355848"/>
            <a:ext cx="210312" cy="329184"/>
          </a:xfrm>
          <a:prstGeom prst="rect">
            <a:avLst/>
          </a:prstGeom>
          <a:noFill/>
        </p:spPr>
        <p:txBody>
          <a:bodyPr wrap="square" lIns="13716" rIns="13716" tIns="18288" bIns="0">
            <a:spAutoFit/>
          </a:bodyPr>
          <a:lstStyle/>
          <a:p>
            <a:pPr algn="ctr">
              <a:lnSpc>
                <a:spcPct val="117000"/>
              </a:lnSpc>
              <a:spcAft>
                <a:spcPts val="600"/>
              </a:spcAft>
              <a:defRPr sz="2200" b="1">
                <a:solidFill>
                  <a:srgbClr val="B63E2A"/>
                </a:solidFill>
                <a:latin typeface="Noto Sans CJK KR"/>
              </a:defRPr>
            </a:pPr>
            <a:r>
              <a:t>›</a:t>
            </a:r>
          </a:p>
        </p:txBody>
      </p:sp>
      <p:sp>
        <p:nvSpPr>
          <p:cNvPr id="20" name="Rounded Rectangle 19"/>
          <p:cNvSpPr/>
          <p:nvPr/>
        </p:nvSpPr>
        <p:spPr>
          <a:xfrm>
            <a:off x="9020555" y="2633472"/>
            <a:ext cx="2537460" cy="2240280"/>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5147" y="2816352"/>
            <a:ext cx="2208276" cy="502920"/>
          </a:xfrm>
          <a:prstGeom prst="rect">
            <a:avLst/>
          </a:prstGeom>
          <a:noFill/>
        </p:spPr>
        <p:txBody>
          <a:bodyPr wrap="square" lIns="13716" rIns="13716" tIns="18288" bIns="0">
            <a:spAutoFit/>
          </a:bodyPr>
          <a:lstStyle/>
          <a:p>
            <a:pPr algn="l">
              <a:lnSpc>
                <a:spcPct val="117000"/>
              </a:lnSpc>
              <a:spcAft>
                <a:spcPts val="600"/>
              </a:spcAft>
              <a:defRPr sz="2100" b="1">
                <a:solidFill>
                  <a:srgbClr val="23578C"/>
                </a:solidFill>
                <a:latin typeface="Noto Sans CJK KR"/>
              </a:defRPr>
            </a:pPr>
            <a:r>
              <a:t>4</a:t>
            </a:r>
          </a:p>
        </p:txBody>
      </p:sp>
      <p:sp>
        <p:nvSpPr>
          <p:cNvPr id="22" name="TextBox 21"/>
          <p:cNvSpPr txBox="1"/>
          <p:nvPr/>
        </p:nvSpPr>
        <p:spPr>
          <a:xfrm>
            <a:off x="9185147" y="3502152"/>
            <a:ext cx="2208276" cy="1088136"/>
          </a:xfrm>
          <a:prstGeom prst="rect">
            <a:avLst/>
          </a:prstGeom>
          <a:noFill/>
        </p:spPr>
        <p:txBody>
          <a:bodyPr wrap="square" lIns="13716" rIns="13716" tIns="18288" bIns="0">
            <a:spAutoFit/>
          </a:bodyPr>
          <a:lstStyle/>
          <a:p>
            <a:pPr algn="l">
              <a:lnSpc>
                <a:spcPct val="117000"/>
              </a:lnSpc>
              <a:spcAft>
                <a:spcPts val="600"/>
              </a:spcAft>
              <a:defRPr sz="1900" b="0">
                <a:solidFill>
                  <a:srgbClr val="1D2D40"/>
                </a:solidFill>
                <a:latin typeface="Noto Sans CJK KR"/>
              </a:defRPr>
            </a:pPr>
            <a:r>
              <a:t>서류 도우미·실제판매 조건 순차 검토</a:t>
            </a:r>
          </a:p>
        </p:txBody>
      </p:sp>
      <p:sp>
        <p:nvSpPr>
          <p:cNvPr id="23" name="Rounded Rectangle 22"/>
          <p:cNvSpPr/>
          <p:nvPr/>
        </p:nvSpPr>
        <p:spPr>
          <a:xfrm>
            <a:off x="640080" y="5596128"/>
            <a:ext cx="10917936" cy="484632"/>
          </a:xfrm>
          <a:prstGeom prst="roundRect">
            <a:avLst>
              <a:gd name="adj" fmla="val 10000"/>
            </a:avLst>
          </a:prstGeom>
          <a:solidFill>
            <a:srgbClr val="F8E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669280"/>
            <a:ext cx="10533888" cy="356616"/>
          </a:xfrm>
          <a:prstGeom prst="rect">
            <a:avLst/>
          </a:prstGeom>
          <a:noFill/>
        </p:spPr>
        <p:txBody>
          <a:bodyPr wrap="square" lIns="13716" rIns="13716" tIns="18288" bIns="0">
            <a:spAutoFit/>
          </a:bodyPr>
          <a:lstStyle/>
          <a:p>
            <a:pPr algn="l">
              <a:lnSpc>
                <a:spcPct val="117000"/>
              </a:lnSpc>
              <a:spcAft>
                <a:spcPts val="600"/>
              </a:spcAft>
              <a:defRPr sz="1300" b="1">
                <a:solidFill>
                  <a:srgbClr val="B63E2A"/>
                </a:solidFill>
                <a:latin typeface="Noto Sans CJK KR"/>
              </a:defRPr>
            </a:pPr>
            <a:r>
              <a:t>서버 연결은 저장소에 완료 기록이 있습니다. 새 연결보다 실환경 재점검을 우선합니다.</a:t>
            </a:r>
          </a:p>
        </p:txBody>
      </p:sp>
      <p:sp>
        <p:nvSpPr>
          <p:cNvPr id="25" name="Rectangle 24"/>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I06 서버 연결 완료 기록</a:t>
            </a:r>
            <a:r>
              <a:rPr sz="800">
                <a:solidFill>
                  <a:srgbClr val="5E6C79"/>
                </a:solidFill>
                <a:latin typeface="Noto Sans CJK KR"/>
                <a:hlinkClick r:id="rId3"/>
              </a:rPr>
              <a:t>  |  I10 GA4 계획·미수집</a:t>
            </a:r>
            <a:r>
              <a:rPr sz="800">
                <a:solidFill>
                  <a:srgbClr val="5E6C79"/>
                </a:solidFill>
                <a:latin typeface="Noto Sans CJK KR"/>
                <a:hlinkClick r:id="rId4"/>
              </a:rPr>
              <a:t>  |  G03 Google 공식 Gemini Cookbook</a:t>
            </a:r>
          </a:p>
        </p:txBody>
      </p:sp>
      <p:sp>
        <p:nvSpPr>
          <p:cNvPr id="27" name="TextBox 26"/>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마무리</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40</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한 강의 끝에, 설명할 수 있는 결과물 하나.</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발표 요청</a:t>
            </a:r>
          </a:p>
        </p:txBody>
      </p:sp>
      <p:sp>
        <p:nvSpPr>
          <p:cNvPr id="8" name="Rectangle 7"/>
          <p:cNvSpPr/>
          <p:nvPr/>
        </p:nvSpPr>
        <p:spPr>
          <a:xfrm>
            <a:off x="658368" y="2523744"/>
            <a:ext cx="64008" cy="34747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414016"/>
            <a:ext cx="10287000" cy="822960"/>
          </a:xfrm>
          <a:prstGeom prst="rect">
            <a:avLst/>
          </a:prstGeom>
          <a:noFill/>
        </p:spPr>
        <p:txBody>
          <a:bodyPr wrap="square" lIns="13716" rIns="13716" tIns="18288" bIns="0">
            <a:spAutoFit/>
          </a:bodyPr>
          <a:lstStyle/>
          <a:p>
            <a:pPr algn="l">
              <a:lnSpc>
                <a:spcPct val="117000"/>
              </a:lnSpc>
              <a:spcAft>
                <a:spcPts val="600"/>
              </a:spcAft>
              <a:defRPr sz="2500" b="1">
                <a:solidFill>
                  <a:srgbClr val="1D2D40"/>
                </a:solidFill>
                <a:latin typeface="Noto Sans CJK KR"/>
              </a:defRPr>
            </a:pPr>
            <a:r>
              <a:t>지금 필요한 실무, 한 강씩.</a:t>
            </a:r>
          </a:p>
        </p:txBody>
      </p:sp>
      <p:sp>
        <p:nvSpPr>
          <p:cNvPr id="10" name="Rectangle 9"/>
          <p:cNvSpPr/>
          <p:nvPr/>
        </p:nvSpPr>
        <p:spPr>
          <a:xfrm>
            <a:off x="658368" y="3429000"/>
            <a:ext cx="64008" cy="34747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3319272"/>
            <a:ext cx="10287000" cy="822960"/>
          </a:xfrm>
          <a:prstGeom prst="rect">
            <a:avLst/>
          </a:prstGeom>
          <a:noFill/>
        </p:spPr>
        <p:txBody>
          <a:bodyPr wrap="square" lIns="13716" rIns="13716" tIns="18288" bIns="0">
            <a:spAutoFit/>
          </a:bodyPr>
          <a:lstStyle/>
          <a:p>
            <a:pPr algn="l">
              <a:lnSpc>
                <a:spcPct val="117000"/>
              </a:lnSpc>
              <a:spcAft>
                <a:spcPts val="600"/>
              </a:spcAft>
              <a:defRPr sz="2500" b="0">
                <a:solidFill>
                  <a:srgbClr val="1D2D40"/>
                </a:solidFill>
                <a:latin typeface="Noto Sans CJK KR"/>
              </a:defRPr>
            </a:pPr>
            <a:r>
              <a:t>오늘의 요청: 강의 상세 하나를 보고, 만들 결과물과 준비물을 설명해 주세요.</a:t>
            </a:r>
          </a:p>
        </p:txBody>
      </p:sp>
      <p:sp>
        <p:nvSpPr>
          <p:cNvPr id="12" name="Rectangle 11"/>
          <p:cNvSpPr/>
          <p:nvPr/>
        </p:nvSpPr>
        <p:spPr>
          <a:xfrm>
            <a:off x="658368" y="4334256"/>
            <a:ext cx="64008" cy="34747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4224528"/>
            <a:ext cx="10287000" cy="822960"/>
          </a:xfrm>
          <a:prstGeom prst="rect">
            <a:avLst/>
          </a:prstGeom>
          <a:noFill/>
        </p:spPr>
        <p:txBody>
          <a:bodyPr wrap="square" lIns="13716" rIns="13716" tIns="18288" bIns="0">
            <a:spAutoFit/>
          </a:bodyPr>
          <a:lstStyle/>
          <a:p>
            <a:pPr algn="l">
              <a:lnSpc>
                <a:spcPct val="117000"/>
              </a:lnSpc>
              <a:spcAft>
                <a:spcPts val="600"/>
              </a:spcAft>
              <a:defRPr sz="2500" b="0">
                <a:solidFill>
                  <a:srgbClr val="1D2D40"/>
                </a:solidFill>
                <a:latin typeface="Noto Sans CJK KR"/>
              </a:defRPr>
            </a:pPr>
            <a:r>
              <a:t>설명하기 어려웠던 지점을 다음 개선의 출발점으로 삼겠습니다.</a:t>
            </a:r>
          </a:p>
        </p:txBody>
      </p:sp>
      <p:sp>
        <p:nvSpPr>
          <p:cNvPr id="14" name="Rectangle 13"/>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I01 제품 원칙·범위</a:t>
            </a:r>
          </a:p>
        </p:txBody>
      </p:sp>
      <p:sp>
        <p:nvSpPr>
          <p:cNvPr id="16" name="TextBox 15"/>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부록 · 원고 출처</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A1</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기사·통계·논문은 원문 재확인이 필요합니다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외부 미검증 목록</a:t>
            </a:r>
          </a:p>
        </p:txBody>
      </p:sp>
      <p:sp>
        <p:nvSpPr>
          <p:cNvPr id="8" name="Rounded Rectangle 7"/>
          <p:cNvSpPr/>
          <p:nvPr/>
        </p:nvSpPr>
        <p:spPr>
          <a:xfrm>
            <a:off x="640080" y="2331720"/>
            <a:ext cx="10917936" cy="67208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423160"/>
            <a:ext cx="1819656" cy="576072"/>
          </a:xfrm>
          <a:prstGeom prst="rect">
            <a:avLst/>
          </a:prstGeom>
          <a:noFill/>
        </p:spPr>
        <p:txBody>
          <a:bodyPr wrap="square" lIns="13716" rIns="13716" tIns="18288" bIns="0">
            <a:spAutoFit/>
          </a:bodyPr>
          <a:lstStyle/>
          <a:p>
            <a:pPr algn="l">
              <a:lnSpc>
                <a:spcPct val="117000"/>
              </a:lnSpc>
              <a:spcAft>
                <a:spcPts val="600"/>
              </a:spcAft>
              <a:defRPr sz="1400" b="1">
                <a:solidFill>
                  <a:srgbClr val="23578C"/>
                </a:solidFill>
                <a:latin typeface="Noto Sans CJK KR"/>
              </a:defRPr>
            </a:pPr>
            <a:r>
              <a:t>S01~S03</a:t>
            </a:r>
          </a:p>
        </p:txBody>
      </p:sp>
      <p:sp>
        <p:nvSpPr>
          <p:cNvPr id="10" name="TextBox 9"/>
          <p:cNvSpPr txBox="1"/>
          <p:nvPr/>
        </p:nvSpPr>
        <p:spPr>
          <a:xfrm>
            <a:off x="2715768" y="2423160"/>
            <a:ext cx="4809744" cy="576072"/>
          </a:xfrm>
          <a:prstGeom prst="rect">
            <a:avLst/>
          </a:prstGeom>
          <a:noFill/>
        </p:spPr>
        <p:txBody>
          <a:bodyPr wrap="square" lIns="13716" rIns="13716" tIns="18288" bIns="0">
            <a:spAutoFit/>
          </a:bodyPr>
          <a:lstStyle/>
          <a:p>
            <a:pPr algn="l">
              <a:lnSpc>
                <a:spcPct val="117000"/>
              </a:lnSpc>
              <a:spcAft>
                <a:spcPts val="600"/>
              </a:spcAft>
              <a:defRPr sz="1400" b="0">
                <a:solidFill>
                  <a:srgbClr val="1D2D40"/>
                </a:solidFill>
                <a:latin typeface="Noto Sans CJK KR"/>
              </a:defRPr>
            </a:pPr>
            <a:r>
              <a:t>채용 기준·경력 우대·중고 신입</a:t>
            </a:r>
          </a:p>
        </p:txBody>
      </p:sp>
      <p:sp>
        <p:nvSpPr>
          <p:cNvPr id="11" name="TextBox 10"/>
          <p:cNvSpPr txBox="1"/>
          <p:nvPr/>
        </p:nvSpPr>
        <p:spPr>
          <a:xfrm>
            <a:off x="7671816" y="2423160"/>
            <a:ext cx="3849624" cy="576072"/>
          </a:xfrm>
          <a:prstGeom prst="rect">
            <a:avLst/>
          </a:prstGeom>
          <a:noFill/>
        </p:spPr>
        <p:txBody>
          <a:bodyPr wrap="square" lIns="13716" rIns="13716" tIns="18288" bIns="0">
            <a:spAutoFit/>
          </a:bodyPr>
          <a:lstStyle/>
          <a:p>
            <a:pPr algn="l">
              <a:lnSpc>
                <a:spcPct val="117000"/>
              </a:lnSpc>
              <a:spcAft>
                <a:spcPts val="600"/>
              </a:spcAft>
              <a:defRPr sz="1400" b="0">
                <a:solidFill>
                  <a:srgbClr val="1D2D40"/>
                </a:solidFill>
                <a:latin typeface="Noto Sans CJK KR"/>
              </a:defRPr>
            </a:pPr>
            <a:r>
              <a:t>원고 링크 제시 / 현재 접근 차단</a:t>
            </a:r>
          </a:p>
        </p:txBody>
      </p:sp>
      <p:sp>
        <p:nvSpPr>
          <p:cNvPr id="12" name="Rounded Rectangle 11"/>
          <p:cNvSpPr/>
          <p:nvPr/>
        </p:nvSpPr>
        <p:spPr>
          <a:xfrm>
            <a:off x="640080" y="3035808"/>
            <a:ext cx="10917936" cy="672084"/>
          </a:xfrm>
          <a:prstGeom prst="roundRect">
            <a:avLst>
              <a:gd name="adj" fmla="val 10000"/>
            </a:avLst>
          </a:prstGeom>
          <a:solidFill>
            <a:srgbClr val="EE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3127248"/>
            <a:ext cx="1819656" cy="576072"/>
          </a:xfrm>
          <a:prstGeom prst="rect">
            <a:avLst/>
          </a:prstGeom>
          <a:noFill/>
        </p:spPr>
        <p:txBody>
          <a:bodyPr wrap="square" lIns="13716" rIns="13716" tIns="18288" bIns="0">
            <a:spAutoFit/>
          </a:bodyPr>
          <a:lstStyle/>
          <a:p>
            <a:pPr algn="l">
              <a:lnSpc>
                <a:spcPct val="117000"/>
              </a:lnSpc>
              <a:spcAft>
                <a:spcPts val="600"/>
              </a:spcAft>
              <a:defRPr sz="1400" b="1">
                <a:solidFill>
                  <a:srgbClr val="23578C"/>
                </a:solidFill>
                <a:latin typeface="Noto Sans CJK KR"/>
              </a:defRPr>
            </a:pPr>
            <a:r>
              <a:t>S04~S06</a:t>
            </a:r>
          </a:p>
        </p:txBody>
      </p:sp>
      <p:sp>
        <p:nvSpPr>
          <p:cNvPr id="14" name="TextBox 13"/>
          <p:cNvSpPr txBox="1"/>
          <p:nvPr/>
        </p:nvSpPr>
        <p:spPr>
          <a:xfrm>
            <a:off x="2715768" y="3127248"/>
            <a:ext cx="4809744" cy="576072"/>
          </a:xfrm>
          <a:prstGeom prst="rect">
            <a:avLst/>
          </a:prstGeom>
          <a:noFill/>
        </p:spPr>
        <p:txBody>
          <a:bodyPr wrap="square" lIns="13716" rIns="13716" tIns="18288" bIns="0">
            <a:spAutoFit/>
          </a:bodyPr>
          <a:lstStyle/>
          <a:p>
            <a:pPr algn="l">
              <a:lnSpc>
                <a:spcPct val="117000"/>
              </a:lnSpc>
              <a:spcAft>
                <a:spcPts val="600"/>
              </a:spcAft>
              <a:defRPr sz="1400" b="0">
                <a:solidFill>
                  <a:srgbClr val="1D2D40"/>
                </a:solidFill>
                <a:latin typeface="Noto Sans CJK KR"/>
              </a:defRPr>
            </a:pPr>
            <a:r>
              <a:t>채용 역량·취업 준비 비용</a:t>
            </a:r>
          </a:p>
        </p:txBody>
      </p:sp>
      <p:sp>
        <p:nvSpPr>
          <p:cNvPr id="15" name="TextBox 14"/>
          <p:cNvSpPr txBox="1"/>
          <p:nvPr/>
        </p:nvSpPr>
        <p:spPr>
          <a:xfrm>
            <a:off x="7671816" y="3127248"/>
            <a:ext cx="3849624" cy="576072"/>
          </a:xfrm>
          <a:prstGeom prst="rect">
            <a:avLst/>
          </a:prstGeom>
          <a:noFill/>
        </p:spPr>
        <p:txBody>
          <a:bodyPr wrap="square" lIns="13716" rIns="13716" tIns="18288" bIns="0">
            <a:spAutoFit/>
          </a:bodyPr>
          <a:lstStyle/>
          <a:p>
            <a:pPr algn="l">
              <a:lnSpc>
                <a:spcPct val="117000"/>
              </a:lnSpc>
              <a:spcAft>
                <a:spcPts val="600"/>
              </a:spcAft>
              <a:defRPr sz="1400" b="0">
                <a:solidFill>
                  <a:srgbClr val="1D2D40"/>
                </a:solidFill>
                <a:latin typeface="Noto Sans CJK KR"/>
              </a:defRPr>
            </a:pPr>
            <a:r>
              <a:t>질문·모집단·기간 확인 전 보류</a:t>
            </a:r>
          </a:p>
        </p:txBody>
      </p:sp>
      <p:sp>
        <p:nvSpPr>
          <p:cNvPr id="16" name="Rounded Rectangle 15"/>
          <p:cNvSpPr/>
          <p:nvPr/>
        </p:nvSpPr>
        <p:spPr>
          <a:xfrm>
            <a:off x="640080" y="3739896"/>
            <a:ext cx="10917936" cy="67208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831335"/>
            <a:ext cx="1819656" cy="576072"/>
          </a:xfrm>
          <a:prstGeom prst="rect">
            <a:avLst/>
          </a:prstGeom>
          <a:noFill/>
        </p:spPr>
        <p:txBody>
          <a:bodyPr wrap="square" lIns="13716" rIns="13716" tIns="18288" bIns="0">
            <a:spAutoFit/>
          </a:bodyPr>
          <a:lstStyle/>
          <a:p>
            <a:pPr algn="l">
              <a:lnSpc>
                <a:spcPct val="117000"/>
              </a:lnSpc>
              <a:spcAft>
                <a:spcPts val="600"/>
              </a:spcAft>
              <a:defRPr sz="1400" b="1">
                <a:solidFill>
                  <a:srgbClr val="23578C"/>
                </a:solidFill>
                <a:latin typeface="Noto Sans CJK KR"/>
              </a:defRPr>
            </a:pPr>
            <a:r>
              <a:t>S07~S09</a:t>
            </a:r>
          </a:p>
        </p:txBody>
      </p:sp>
      <p:sp>
        <p:nvSpPr>
          <p:cNvPr id="18" name="TextBox 17"/>
          <p:cNvSpPr txBox="1"/>
          <p:nvPr/>
        </p:nvSpPr>
        <p:spPr>
          <a:xfrm>
            <a:off x="2715768" y="3831335"/>
            <a:ext cx="4809744" cy="576072"/>
          </a:xfrm>
          <a:prstGeom prst="rect">
            <a:avLst/>
          </a:prstGeom>
          <a:noFill/>
        </p:spPr>
        <p:txBody>
          <a:bodyPr wrap="square" lIns="13716" rIns="13716" tIns="18288" bIns="0">
            <a:spAutoFit/>
          </a:bodyPr>
          <a:lstStyle/>
          <a:p>
            <a:pPr algn="l">
              <a:lnSpc>
                <a:spcPct val="117000"/>
              </a:lnSpc>
              <a:spcAft>
                <a:spcPts val="600"/>
              </a:spcAft>
              <a:defRPr sz="1400" b="0">
                <a:solidFill>
                  <a:srgbClr val="1D2D40"/>
                </a:solidFill>
                <a:latin typeface="Noto Sans CJK KR"/>
              </a:defRPr>
            </a:pPr>
            <a:r>
              <a:t>청년 통계·채널·숏폼</a:t>
            </a:r>
          </a:p>
        </p:txBody>
      </p:sp>
      <p:sp>
        <p:nvSpPr>
          <p:cNvPr id="19" name="TextBox 18"/>
          <p:cNvSpPr txBox="1"/>
          <p:nvPr/>
        </p:nvSpPr>
        <p:spPr>
          <a:xfrm>
            <a:off x="7671816" y="3831335"/>
            <a:ext cx="3849624" cy="576072"/>
          </a:xfrm>
          <a:prstGeom prst="rect">
            <a:avLst/>
          </a:prstGeom>
          <a:noFill/>
        </p:spPr>
        <p:txBody>
          <a:bodyPr wrap="square" lIns="13716" rIns="13716" tIns="18288" bIns="0">
            <a:spAutoFit/>
          </a:bodyPr>
          <a:lstStyle/>
          <a:p>
            <a:pPr algn="l">
              <a:lnSpc>
                <a:spcPct val="117000"/>
              </a:lnSpc>
              <a:spcAft>
                <a:spcPts val="600"/>
              </a:spcAft>
              <a:defRPr sz="1400" b="0">
                <a:solidFill>
                  <a:srgbClr val="1D2D40"/>
                </a:solidFill>
                <a:latin typeface="Noto Sans CJK KR"/>
              </a:defRPr>
            </a:pPr>
            <a:r>
              <a:t>대상·분모·표본 확인 전 보류</a:t>
            </a:r>
          </a:p>
        </p:txBody>
      </p:sp>
      <p:sp>
        <p:nvSpPr>
          <p:cNvPr id="20" name="Rounded Rectangle 19"/>
          <p:cNvSpPr/>
          <p:nvPr/>
        </p:nvSpPr>
        <p:spPr>
          <a:xfrm>
            <a:off x="640080" y="4443983"/>
            <a:ext cx="10917936" cy="672084"/>
          </a:xfrm>
          <a:prstGeom prst="roundRect">
            <a:avLst>
              <a:gd name="adj" fmla="val 10000"/>
            </a:avLst>
          </a:prstGeom>
          <a:solidFill>
            <a:srgbClr val="EE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535423"/>
            <a:ext cx="1819656" cy="576072"/>
          </a:xfrm>
          <a:prstGeom prst="rect">
            <a:avLst/>
          </a:prstGeom>
          <a:noFill/>
        </p:spPr>
        <p:txBody>
          <a:bodyPr wrap="square" lIns="13716" rIns="13716" tIns="18288" bIns="0">
            <a:spAutoFit/>
          </a:bodyPr>
          <a:lstStyle/>
          <a:p>
            <a:pPr algn="l">
              <a:lnSpc>
                <a:spcPct val="117000"/>
              </a:lnSpc>
              <a:spcAft>
                <a:spcPts val="600"/>
              </a:spcAft>
              <a:defRPr sz="1400" b="1">
                <a:solidFill>
                  <a:srgbClr val="23578C"/>
                </a:solidFill>
                <a:latin typeface="Noto Sans CJK KR"/>
              </a:defRPr>
            </a:pPr>
            <a:r>
              <a:t>S10</a:t>
            </a:r>
          </a:p>
        </p:txBody>
      </p:sp>
      <p:sp>
        <p:nvSpPr>
          <p:cNvPr id="22" name="TextBox 21"/>
          <p:cNvSpPr txBox="1"/>
          <p:nvPr/>
        </p:nvSpPr>
        <p:spPr>
          <a:xfrm>
            <a:off x="2715768" y="4535423"/>
            <a:ext cx="4809744" cy="576072"/>
          </a:xfrm>
          <a:prstGeom prst="rect">
            <a:avLst/>
          </a:prstGeom>
          <a:noFill/>
        </p:spPr>
        <p:txBody>
          <a:bodyPr wrap="square" lIns="13716" rIns="13716" tIns="18288" bIns="0">
            <a:spAutoFit/>
          </a:bodyPr>
          <a:lstStyle/>
          <a:p>
            <a:pPr algn="l">
              <a:lnSpc>
                <a:spcPct val="117000"/>
              </a:lnSpc>
              <a:spcAft>
                <a:spcPts val="600"/>
              </a:spcAft>
              <a:defRPr sz="1400" b="0">
                <a:solidFill>
                  <a:srgbClr val="1D2D40"/>
                </a:solidFill>
                <a:latin typeface="Noto Sans CJK KR"/>
              </a:defRPr>
            </a:pPr>
            <a:r>
              <a:t>전자상거래법 제17조</a:t>
            </a:r>
          </a:p>
        </p:txBody>
      </p:sp>
      <p:sp>
        <p:nvSpPr>
          <p:cNvPr id="23" name="TextBox 22"/>
          <p:cNvSpPr txBox="1"/>
          <p:nvPr/>
        </p:nvSpPr>
        <p:spPr>
          <a:xfrm>
            <a:off x="7671816" y="4535423"/>
            <a:ext cx="3849624" cy="576072"/>
          </a:xfrm>
          <a:prstGeom prst="rect">
            <a:avLst/>
          </a:prstGeom>
          <a:noFill/>
        </p:spPr>
        <p:txBody>
          <a:bodyPr wrap="square" lIns="13716" rIns="13716" tIns="18288" bIns="0">
            <a:spAutoFit/>
          </a:bodyPr>
          <a:lstStyle/>
          <a:p>
            <a:pPr algn="l">
              <a:lnSpc>
                <a:spcPct val="117000"/>
              </a:lnSpc>
              <a:spcAft>
                <a:spcPts val="600"/>
              </a:spcAft>
              <a:defRPr sz="1400" b="0">
                <a:solidFill>
                  <a:srgbClr val="1D2D40"/>
                </a:solidFill>
                <a:latin typeface="Noto Sans CJK KR"/>
              </a:defRPr>
            </a:pPr>
            <a:r>
              <a:t>현행·시행령·예외 적용 재확인</a:t>
            </a:r>
          </a:p>
        </p:txBody>
      </p:sp>
      <p:sp>
        <p:nvSpPr>
          <p:cNvPr id="24" name="Rounded Rectangle 23"/>
          <p:cNvSpPr/>
          <p:nvPr/>
        </p:nvSpPr>
        <p:spPr>
          <a:xfrm>
            <a:off x="640080" y="5148072"/>
            <a:ext cx="10917936" cy="67208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5239512"/>
            <a:ext cx="1819656" cy="576072"/>
          </a:xfrm>
          <a:prstGeom prst="rect">
            <a:avLst/>
          </a:prstGeom>
          <a:noFill/>
        </p:spPr>
        <p:txBody>
          <a:bodyPr wrap="square" lIns="13716" rIns="13716" tIns="18288" bIns="0">
            <a:spAutoFit/>
          </a:bodyPr>
          <a:lstStyle/>
          <a:p>
            <a:pPr algn="l">
              <a:lnSpc>
                <a:spcPct val="117000"/>
              </a:lnSpc>
              <a:spcAft>
                <a:spcPts val="600"/>
              </a:spcAft>
              <a:defRPr sz="1400" b="1">
                <a:solidFill>
                  <a:srgbClr val="23578C"/>
                </a:solidFill>
                <a:latin typeface="Noto Sans CJK KR"/>
              </a:defRPr>
            </a:pPr>
            <a:r>
              <a:t>S11</a:t>
            </a:r>
          </a:p>
        </p:txBody>
      </p:sp>
      <p:sp>
        <p:nvSpPr>
          <p:cNvPr id="26" name="TextBox 25"/>
          <p:cNvSpPr txBox="1"/>
          <p:nvPr/>
        </p:nvSpPr>
        <p:spPr>
          <a:xfrm>
            <a:off x="2715768" y="5239512"/>
            <a:ext cx="4809744" cy="576072"/>
          </a:xfrm>
          <a:prstGeom prst="rect">
            <a:avLst/>
          </a:prstGeom>
          <a:noFill/>
        </p:spPr>
        <p:txBody>
          <a:bodyPr wrap="square" lIns="13716" rIns="13716" tIns="18288" bIns="0">
            <a:spAutoFit/>
          </a:bodyPr>
          <a:lstStyle/>
          <a:p>
            <a:pPr algn="l">
              <a:lnSpc>
                <a:spcPct val="117000"/>
              </a:lnSpc>
              <a:spcAft>
                <a:spcPts val="600"/>
              </a:spcAft>
              <a:defRPr sz="1400" b="0">
                <a:solidFill>
                  <a:srgbClr val="1D2D40"/>
                </a:solidFill>
                <a:latin typeface="Noto Sans CJK KR"/>
              </a:defRPr>
            </a:pPr>
            <a:r>
              <a:t>마이크로러닝 논문</a:t>
            </a:r>
          </a:p>
        </p:txBody>
      </p:sp>
      <p:sp>
        <p:nvSpPr>
          <p:cNvPr id="27" name="TextBox 26"/>
          <p:cNvSpPr txBox="1"/>
          <p:nvPr/>
        </p:nvSpPr>
        <p:spPr>
          <a:xfrm>
            <a:off x="7671816" y="5239512"/>
            <a:ext cx="3849624" cy="576072"/>
          </a:xfrm>
          <a:prstGeom prst="rect">
            <a:avLst/>
          </a:prstGeom>
          <a:noFill/>
        </p:spPr>
        <p:txBody>
          <a:bodyPr wrap="square" lIns="13716" rIns="13716" tIns="18288" bIns="0">
            <a:spAutoFit/>
          </a:bodyPr>
          <a:lstStyle/>
          <a:p>
            <a:pPr algn="l">
              <a:lnSpc>
                <a:spcPct val="117000"/>
              </a:lnSpc>
              <a:spcAft>
                <a:spcPts val="600"/>
              </a:spcAft>
              <a:defRPr sz="1400" b="0">
                <a:solidFill>
                  <a:srgbClr val="1D2D40"/>
                </a:solidFill>
                <a:latin typeface="Noto Sans CJK KR"/>
              </a:defRPr>
            </a:pPr>
            <a:r>
              <a:t>서지 연도·연구 범위 재확인</a:t>
            </a:r>
          </a:p>
        </p:txBody>
      </p:sp>
      <p:sp>
        <p:nvSpPr>
          <p:cNvPr id="28" name="Rectangle 27"/>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S01 채용기준·청년 준비방식</a:t>
            </a:r>
            <a:r>
              <a:rPr sz="800">
                <a:solidFill>
                  <a:srgbClr val="5E6C79"/>
                </a:solidFill>
                <a:latin typeface="Noto Sans CJK KR"/>
                <a:hlinkClick r:id="rId3"/>
              </a:rPr>
              <a:t>  |  S10 전자상거래법 제17조</a:t>
            </a:r>
            <a:r>
              <a:rPr sz="800">
                <a:solidFill>
                  <a:srgbClr val="5E6C79"/>
                </a:solidFill>
                <a:latin typeface="Noto Sans CJK KR"/>
                <a:hlinkClick r:id="rId4"/>
              </a:rPr>
              <a:t>  |  S11 마이크로러닝 논문</a:t>
            </a:r>
          </a:p>
        </p:txBody>
      </p:sp>
      <p:sp>
        <p:nvSpPr>
          <p:cNvPr id="30" name="TextBox 29"/>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A1</a:t>
            </a:r>
          </a:p>
        </p:txBody>
      </p:sp>
      <p:sp>
        <p:nvSpPr>
          <p:cNvPr id="31" name="TextBox 30"/>
          <p:cNvSpPr txBox="1"/>
          <p:nvPr/>
        </p:nvSpPr>
        <p:spPr>
          <a:xfrm>
            <a:off x="658368" y="6190488"/>
            <a:ext cx="10698480" cy="182880"/>
          </a:xfrm>
          <a:prstGeom prst="rect">
            <a:avLst/>
          </a:prstGeom>
          <a:noFill/>
        </p:spPr>
        <p:txBody>
          <a:bodyPr wrap="square" lIns="13716" rIns="13716" tIns="18288" bIns="0">
            <a:spAutoFit/>
          </a:bodyPr>
          <a:lstStyle/>
          <a:p>
            <a:pPr algn="l">
              <a:lnSpc>
                <a:spcPct val="117000"/>
              </a:lnSpc>
              <a:spcAft>
                <a:spcPts val="600"/>
              </a:spcAft>
              <a:defRPr sz="800" b="0">
                <a:solidFill>
                  <a:srgbClr val="5E6C79"/>
                </a:solidFill>
                <a:latin typeface="Noto Sans CJK KR"/>
              </a:defRPr>
            </a:pPr>
            <a:r>
              <a:t>외부 원문 미검증 수치는 본문에서 보류했습니다.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부록 · 새 공식 근거</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A2</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인증·데이터 권한·배포의 공식 근거를 보강했습니다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공식 원문 확인</a:t>
            </a:r>
          </a:p>
        </p:txBody>
      </p:sp>
      <p:sp>
        <p:nvSpPr>
          <p:cNvPr id="8" name="Rounded Rectangle 7"/>
          <p:cNvSpPr/>
          <p:nvPr/>
        </p:nvSpPr>
        <p:spPr>
          <a:xfrm>
            <a:off x="640080" y="2331720"/>
            <a:ext cx="10917936" cy="67208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423160"/>
            <a:ext cx="1819656" cy="576072"/>
          </a:xfrm>
          <a:prstGeom prst="rect">
            <a:avLst/>
          </a:prstGeom>
          <a:noFill/>
        </p:spPr>
        <p:txBody>
          <a:bodyPr wrap="square" lIns="13716" rIns="13716" tIns="18288" bIns="0">
            <a:spAutoFit/>
          </a:bodyPr>
          <a:lstStyle/>
          <a:p>
            <a:pPr algn="l">
              <a:lnSpc>
                <a:spcPct val="117000"/>
              </a:lnSpc>
              <a:spcAft>
                <a:spcPts val="600"/>
              </a:spcAft>
              <a:defRPr sz="1400" b="1">
                <a:solidFill>
                  <a:srgbClr val="23578C"/>
                </a:solidFill>
                <a:latin typeface="Noto Sans CJK KR"/>
              </a:defRPr>
            </a:pPr>
            <a:r>
              <a:t>G01</a:t>
            </a:r>
          </a:p>
        </p:txBody>
      </p:sp>
      <p:sp>
        <p:nvSpPr>
          <p:cNvPr id="10" name="TextBox 9"/>
          <p:cNvSpPr txBox="1"/>
          <p:nvPr/>
        </p:nvSpPr>
        <p:spPr>
          <a:xfrm>
            <a:off x="2715768" y="2423160"/>
            <a:ext cx="4809744" cy="576072"/>
          </a:xfrm>
          <a:prstGeom prst="rect">
            <a:avLst/>
          </a:prstGeom>
          <a:noFill/>
        </p:spPr>
        <p:txBody>
          <a:bodyPr wrap="square" lIns="13716" rIns="13716" tIns="18288" bIns="0">
            <a:spAutoFit/>
          </a:bodyPr>
          <a:lstStyle/>
          <a:p>
            <a:pPr algn="l">
              <a:lnSpc>
                <a:spcPct val="117000"/>
              </a:lnSpc>
              <a:spcAft>
                <a:spcPts val="600"/>
              </a:spcAft>
              <a:defRPr sz="1400" b="0">
                <a:solidFill>
                  <a:srgbClr val="1D2D40"/>
                </a:solidFill>
                <a:latin typeface="Noto Sans CJK KR"/>
              </a:defRPr>
            </a:pPr>
            <a:r>
              <a:t>Supabase 공식 RLS 문서</a:t>
            </a:r>
          </a:p>
        </p:txBody>
      </p:sp>
      <p:sp>
        <p:nvSpPr>
          <p:cNvPr id="11" name="TextBox 10"/>
          <p:cNvSpPr txBox="1"/>
          <p:nvPr/>
        </p:nvSpPr>
        <p:spPr>
          <a:xfrm>
            <a:off x="7671816" y="2423160"/>
            <a:ext cx="3849624" cy="576072"/>
          </a:xfrm>
          <a:prstGeom prst="rect">
            <a:avLst/>
          </a:prstGeom>
          <a:noFill/>
        </p:spPr>
        <p:txBody>
          <a:bodyPr wrap="square" lIns="13716" rIns="13716" tIns="18288" bIns="0">
            <a:spAutoFit/>
          </a:bodyPr>
          <a:lstStyle/>
          <a:p>
            <a:pPr algn="l">
              <a:lnSpc>
                <a:spcPct val="117000"/>
              </a:lnSpc>
              <a:spcAft>
                <a:spcPts val="600"/>
              </a:spcAft>
              <a:defRPr sz="1400" b="0">
                <a:solidFill>
                  <a:srgbClr val="1D2D40"/>
                </a:solidFill>
                <a:latin typeface="Noto Sans CJK KR"/>
              </a:defRPr>
            </a:pPr>
            <a:r>
              <a:t>auth.uid 기반 본인 행 접근·관리자 키 보호</a:t>
            </a:r>
          </a:p>
        </p:txBody>
      </p:sp>
      <p:sp>
        <p:nvSpPr>
          <p:cNvPr id="12" name="Rounded Rectangle 11"/>
          <p:cNvSpPr/>
          <p:nvPr/>
        </p:nvSpPr>
        <p:spPr>
          <a:xfrm>
            <a:off x="640080" y="3035808"/>
            <a:ext cx="10917936" cy="672084"/>
          </a:xfrm>
          <a:prstGeom prst="roundRect">
            <a:avLst>
              <a:gd name="adj" fmla="val 10000"/>
            </a:avLst>
          </a:prstGeom>
          <a:solidFill>
            <a:srgbClr val="EE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3127248"/>
            <a:ext cx="1819656" cy="576072"/>
          </a:xfrm>
          <a:prstGeom prst="rect">
            <a:avLst/>
          </a:prstGeom>
          <a:noFill/>
        </p:spPr>
        <p:txBody>
          <a:bodyPr wrap="square" lIns="13716" rIns="13716" tIns="18288" bIns="0">
            <a:spAutoFit/>
          </a:bodyPr>
          <a:lstStyle/>
          <a:p>
            <a:pPr algn="l">
              <a:lnSpc>
                <a:spcPct val="117000"/>
              </a:lnSpc>
              <a:spcAft>
                <a:spcPts val="600"/>
              </a:spcAft>
              <a:defRPr sz="1400" b="1">
                <a:solidFill>
                  <a:srgbClr val="23578C"/>
                </a:solidFill>
                <a:latin typeface="Noto Sans CJK KR"/>
              </a:defRPr>
            </a:pPr>
            <a:r>
              <a:t>G02</a:t>
            </a:r>
          </a:p>
        </p:txBody>
      </p:sp>
      <p:sp>
        <p:nvSpPr>
          <p:cNvPr id="14" name="TextBox 13"/>
          <p:cNvSpPr txBox="1"/>
          <p:nvPr/>
        </p:nvSpPr>
        <p:spPr>
          <a:xfrm>
            <a:off x="2715768" y="3127248"/>
            <a:ext cx="4809744" cy="576072"/>
          </a:xfrm>
          <a:prstGeom prst="rect">
            <a:avLst/>
          </a:prstGeom>
          <a:noFill/>
        </p:spPr>
        <p:txBody>
          <a:bodyPr wrap="square" lIns="13716" rIns="13716" tIns="18288" bIns="0">
            <a:spAutoFit/>
          </a:bodyPr>
          <a:lstStyle/>
          <a:p>
            <a:pPr algn="l">
              <a:lnSpc>
                <a:spcPct val="117000"/>
              </a:lnSpc>
              <a:spcAft>
                <a:spcPts val="600"/>
              </a:spcAft>
              <a:defRPr sz="1400" b="0">
                <a:solidFill>
                  <a:srgbClr val="1D2D40"/>
                </a:solidFill>
                <a:latin typeface="Noto Sans CJK KR"/>
              </a:defRPr>
            </a:pPr>
            <a:r>
              <a:t>Supabase 공식 Kakao 로그인</a:t>
            </a:r>
          </a:p>
        </p:txBody>
      </p:sp>
      <p:sp>
        <p:nvSpPr>
          <p:cNvPr id="15" name="TextBox 14"/>
          <p:cNvSpPr txBox="1"/>
          <p:nvPr/>
        </p:nvSpPr>
        <p:spPr>
          <a:xfrm>
            <a:off x="7671816" y="3127248"/>
            <a:ext cx="3849624" cy="576072"/>
          </a:xfrm>
          <a:prstGeom prst="rect">
            <a:avLst/>
          </a:prstGeom>
          <a:noFill/>
        </p:spPr>
        <p:txBody>
          <a:bodyPr wrap="square" lIns="13716" rIns="13716" tIns="18288" bIns="0">
            <a:spAutoFit/>
          </a:bodyPr>
          <a:lstStyle/>
          <a:p>
            <a:pPr algn="l">
              <a:lnSpc>
                <a:spcPct val="117000"/>
              </a:lnSpc>
              <a:spcAft>
                <a:spcPts val="600"/>
              </a:spcAft>
              <a:defRPr sz="1400" b="0">
                <a:solidFill>
                  <a:srgbClr val="1D2D40"/>
                </a:solidFill>
                <a:latin typeface="Noto Sans CJK KR"/>
              </a:defRPr>
            </a:pPr>
            <a:r>
              <a:t>Kakao OAuth와 Supabase Auth 구성</a:t>
            </a:r>
          </a:p>
        </p:txBody>
      </p:sp>
      <p:sp>
        <p:nvSpPr>
          <p:cNvPr id="16" name="Rounded Rectangle 15"/>
          <p:cNvSpPr/>
          <p:nvPr/>
        </p:nvSpPr>
        <p:spPr>
          <a:xfrm>
            <a:off x="640080" y="3739896"/>
            <a:ext cx="10917936" cy="67208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831335"/>
            <a:ext cx="1819656" cy="576072"/>
          </a:xfrm>
          <a:prstGeom prst="rect">
            <a:avLst/>
          </a:prstGeom>
          <a:noFill/>
        </p:spPr>
        <p:txBody>
          <a:bodyPr wrap="square" lIns="13716" rIns="13716" tIns="18288" bIns="0">
            <a:spAutoFit/>
          </a:bodyPr>
          <a:lstStyle/>
          <a:p>
            <a:pPr algn="l">
              <a:lnSpc>
                <a:spcPct val="117000"/>
              </a:lnSpc>
              <a:spcAft>
                <a:spcPts val="600"/>
              </a:spcAft>
              <a:defRPr sz="1400" b="1">
                <a:solidFill>
                  <a:srgbClr val="23578C"/>
                </a:solidFill>
                <a:latin typeface="Noto Sans CJK KR"/>
              </a:defRPr>
            </a:pPr>
            <a:r>
              <a:t>G03</a:t>
            </a:r>
          </a:p>
        </p:txBody>
      </p:sp>
      <p:sp>
        <p:nvSpPr>
          <p:cNvPr id="18" name="TextBox 17"/>
          <p:cNvSpPr txBox="1"/>
          <p:nvPr/>
        </p:nvSpPr>
        <p:spPr>
          <a:xfrm>
            <a:off x="2715768" y="3831335"/>
            <a:ext cx="4809744" cy="576072"/>
          </a:xfrm>
          <a:prstGeom prst="rect">
            <a:avLst/>
          </a:prstGeom>
          <a:noFill/>
        </p:spPr>
        <p:txBody>
          <a:bodyPr wrap="square" lIns="13716" rIns="13716" tIns="18288" bIns="0">
            <a:spAutoFit/>
          </a:bodyPr>
          <a:lstStyle/>
          <a:p>
            <a:pPr algn="l">
              <a:lnSpc>
                <a:spcPct val="117000"/>
              </a:lnSpc>
              <a:spcAft>
                <a:spcPts val="600"/>
              </a:spcAft>
              <a:defRPr sz="1400" b="0">
                <a:solidFill>
                  <a:srgbClr val="1D2D40"/>
                </a:solidFill>
                <a:latin typeface="Noto Sans CJK KR"/>
              </a:defRPr>
            </a:pPr>
            <a:r>
              <a:t>Google Gemini Cookbook</a:t>
            </a:r>
          </a:p>
        </p:txBody>
      </p:sp>
      <p:sp>
        <p:nvSpPr>
          <p:cNvPr id="19" name="TextBox 18"/>
          <p:cNvSpPr txBox="1"/>
          <p:nvPr/>
        </p:nvSpPr>
        <p:spPr>
          <a:xfrm>
            <a:off x="7671816" y="3831335"/>
            <a:ext cx="3849624" cy="576072"/>
          </a:xfrm>
          <a:prstGeom prst="rect">
            <a:avLst/>
          </a:prstGeom>
          <a:noFill/>
        </p:spPr>
        <p:txBody>
          <a:bodyPr wrap="square" lIns="13716" rIns="13716" tIns="18288" bIns="0">
            <a:spAutoFit/>
          </a:bodyPr>
          <a:lstStyle/>
          <a:p>
            <a:pPr algn="l">
              <a:lnSpc>
                <a:spcPct val="117000"/>
              </a:lnSpc>
              <a:spcAft>
                <a:spcPts val="600"/>
              </a:spcAft>
              <a:defRPr sz="1400" b="0">
                <a:solidFill>
                  <a:srgbClr val="1D2D40"/>
                </a:solidFill>
                <a:latin typeface="Noto Sans CJK KR"/>
              </a:defRPr>
            </a:pPr>
            <a:r>
              <a:t>API 키 기반 이용과 사이트 로그인 분리</a:t>
            </a:r>
          </a:p>
        </p:txBody>
      </p:sp>
      <p:sp>
        <p:nvSpPr>
          <p:cNvPr id="20" name="Rounded Rectangle 19"/>
          <p:cNvSpPr/>
          <p:nvPr/>
        </p:nvSpPr>
        <p:spPr>
          <a:xfrm>
            <a:off x="640080" y="4443983"/>
            <a:ext cx="10917936" cy="672084"/>
          </a:xfrm>
          <a:prstGeom prst="roundRect">
            <a:avLst>
              <a:gd name="adj" fmla="val 10000"/>
            </a:avLst>
          </a:prstGeom>
          <a:solidFill>
            <a:srgbClr val="EE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535423"/>
            <a:ext cx="1819656" cy="576072"/>
          </a:xfrm>
          <a:prstGeom prst="rect">
            <a:avLst/>
          </a:prstGeom>
          <a:noFill/>
        </p:spPr>
        <p:txBody>
          <a:bodyPr wrap="square" lIns="13716" rIns="13716" tIns="18288" bIns="0">
            <a:spAutoFit/>
          </a:bodyPr>
          <a:lstStyle/>
          <a:p>
            <a:pPr algn="l">
              <a:lnSpc>
                <a:spcPct val="117000"/>
              </a:lnSpc>
              <a:spcAft>
                <a:spcPts val="600"/>
              </a:spcAft>
              <a:defRPr sz="1400" b="1">
                <a:solidFill>
                  <a:srgbClr val="23578C"/>
                </a:solidFill>
                <a:latin typeface="Noto Sans CJK KR"/>
              </a:defRPr>
            </a:pPr>
            <a:r>
              <a:t>G04</a:t>
            </a:r>
          </a:p>
        </p:txBody>
      </p:sp>
      <p:sp>
        <p:nvSpPr>
          <p:cNvPr id="22" name="TextBox 21"/>
          <p:cNvSpPr txBox="1"/>
          <p:nvPr/>
        </p:nvSpPr>
        <p:spPr>
          <a:xfrm>
            <a:off x="2715768" y="4535423"/>
            <a:ext cx="4809744" cy="576072"/>
          </a:xfrm>
          <a:prstGeom prst="rect">
            <a:avLst/>
          </a:prstGeom>
          <a:noFill/>
        </p:spPr>
        <p:txBody>
          <a:bodyPr wrap="square" lIns="13716" rIns="13716" tIns="18288" bIns="0">
            <a:spAutoFit/>
          </a:bodyPr>
          <a:lstStyle/>
          <a:p>
            <a:pPr algn="l">
              <a:lnSpc>
                <a:spcPct val="117000"/>
              </a:lnSpc>
              <a:spcAft>
                <a:spcPts val="600"/>
              </a:spcAft>
              <a:defRPr sz="1400" b="0">
                <a:solidFill>
                  <a:srgbClr val="1D2D40"/>
                </a:solidFill>
                <a:latin typeface="Noto Sans CJK KR"/>
              </a:defRPr>
            </a:pPr>
            <a:r>
              <a:t>GitHub 공식 Pages 문서</a:t>
            </a:r>
          </a:p>
        </p:txBody>
      </p:sp>
      <p:sp>
        <p:nvSpPr>
          <p:cNvPr id="23" name="TextBox 22"/>
          <p:cNvSpPr txBox="1"/>
          <p:nvPr/>
        </p:nvSpPr>
        <p:spPr>
          <a:xfrm>
            <a:off x="7671816" y="4535423"/>
            <a:ext cx="3849624" cy="576072"/>
          </a:xfrm>
          <a:prstGeom prst="rect">
            <a:avLst/>
          </a:prstGeom>
          <a:noFill/>
        </p:spPr>
        <p:txBody>
          <a:bodyPr wrap="square" lIns="13716" rIns="13716" tIns="18288" bIns="0">
            <a:spAutoFit/>
          </a:bodyPr>
          <a:lstStyle/>
          <a:p>
            <a:pPr algn="l">
              <a:lnSpc>
                <a:spcPct val="117000"/>
              </a:lnSpc>
              <a:spcAft>
                <a:spcPts val="600"/>
              </a:spcAft>
              <a:defRPr sz="1400" b="0">
                <a:solidFill>
                  <a:srgbClr val="1D2D40"/>
                </a:solidFill>
                <a:latin typeface="Noto Sans CJK KR"/>
              </a:defRPr>
            </a:pPr>
            <a:r>
              <a:t>정적 호스팅과 별도 서버 기능 구분</a:t>
            </a:r>
          </a:p>
        </p:txBody>
      </p:sp>
      <p:sp>
        <p:nvSpPr>
          <p:cNvPr id="24" name="Rounded Rectangle 23"/>
          <p:cNvSpPr/>
          <p:nvPr/>
        </p:nvSpPr>
        <p:spPr>
          <a:xfrm>
            <a:off x="640080" y="5148072"/>
            <a:ext cx="10917936" cy="67208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5239512"/>
            <a:ext cx="1819656" cy="576072"/>
          </a:xfrm>
          <a:prstGeom prst="rect">
            <a:avLst/>
          </a:prstGeom>
          <a:noFill/>
        </p:spPr>
        <p:txBody>
          <a:bodyPr wrap="square" lIns="13716" rIns="13716" tIns="18288" bIns="0">
            <a:spAutoFit/>
          </a:bodyPr>
          <a:lstStyle/>
          <a:p>
            <a:pPr algn="l">
              <a:lnSpc>
                <a:spcPct val="117000"/>
              </a:lnSpc>
              <a:spcAft>
                <a:spcPts val="600"/>
              </a:spcAft>
              <a:defRPr sz="1400" b="1">
                <a:solidFill>
                  <a:srgbClr val="23578C"/>
                </a:solidFill>
                <a:latin typeface="Noto Sans CJK KR"/>
              </a:defRPr>
            </a:pPr>
            <a:r>
              <a:t>G05</a:t>
            </a:r>
          </a:p>
        </p:txBody>
      </p:sp>
      <p:sp>
        <p:nvSpPr>
          <p:cNvPr id="26" name="TextBox 25"/>
          <p:cNvSpPr txBox="1"/>
          <p:nvPr/>
        </p:nvSpPr>
        <p:spPr>
          <a:xfrm>
            <a:off x="2715768" y="5239512"/>
            <a:ext cx="4809744" cy="576072"/>
          </a:xfrm>
          <a:prstGeom prst="rect">
            <a:avLst/>
          </a:prstGeom>
          <a:noFill/>
        </p:spPr>
        <p:txBody>
          <a:bodyPr wrap="square" lIns="13716" rIns="13716" tIns="18288" bIns="0">
            <a:spAutoFit/>
          </a:bodyPr>
          <a:lstStyle/>
          <a:p>
            <a:pPr algn="l">
              <a:lnSpc>
                <a:spcPct val="117000"/>
              </a:lnSpc>
              <a:spcAft>
                <a:spcPts val="600"/>
              </a:spcAft>
              <a:defRPr sz="1400" b="0">
                <a:solidFill>
                  <a:srgbClr val="1D2D40"/>
                </a:solidFill>
                <a:latin typeface="Noto Sans CJK KR"/>
              </a:defRPr>
            </a:pPr>
            <a:r>
              <a:t>GoogleChrome web-vitals</a:t>
            </a:r>
          </a:p>
        </p:txBody>
      </p:sp>
      <p:sp>
        <p:nvSpPr>
          <p:cNvPr id="27" name="TextBox 26"/>
          <p:cNvSpPr txBox="1"/>
          <p:nvPr/>
        </p:nvSpPr>
        <p:spPr>
          <a:xfrm>
            <a:off x="7671816" y="5239512"/>
            <a:ext cx="3849624" cy="576072"/>
          </a:xfrm>
          <a:prstGeom prst="rect">
            <a:avLst/>
          </a:prstGeom>
          <a:noFill/>
        </p:spPr>
        <p:txBody>
          <a:bodyPr wrap="square" lIns="13716" rIns="13716" tIns="18288" bIns="0">
            <a:spAutoFit/>
          </a:bodyPr>
          <a:lstStyle/>
          <a:p>
            <a:pPr algn="l">
              <a:lnSpc>
                <a:spcPct val="117000"/>
              </a:lnSpc>
              <a:spcAft>
                <a:spcPts val="600"/>
              </a:spcAft>
              <a:defRPr sz="1400" b="0">
                <a:solidFill>
                  <a:srgbClr val="1D2D40"/>
                </a:solidFill>
                <a:latin typeface="Noto Sans CJK KR"/>
              </a:defRPr>
            </a:pPr>
            <a:r>
              <a:t>LCP·CLS 등 성능 계측 참고</a:t>
            </a:r>
          </a:p>
        </p:txBody>
      </p:sp>
      <p:sp>
        <p:nvSpPr>
          <p:cNvPr id="28" name="Rectangle 27"/>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G01 Supabase 공식 문서: Row Level Security</a:t>
            </a:r>
            <a:r>
              <a:rPr sz="800">
                <a:solidFill>
                  <a:srgbClr val="5E6C79"/>
                </a:solidFill>
                <a:latin typeface="Noto Sans CJK KR"/>
                <a:hlinkClick r:id="rId3"/>
              </a:rPr>
              <a:t>  |  G02 Supabase 공식 문서: Kakao 로그인</a:t>
            </a:r>
            <a:r>
              <a:rPr sz="800">
                <a:solidFill>
                  <a:srgbClr val="5E6C79"/>
                </a:solidFill>
                <a:latin typeface="Noto Sans CJK KR"/>
                <a:hlinkClick r:id="rId4"/>
              </a:rPr>
              <a:t>  |  G03 Google 공식 Gemini Cookbook</a:t>
            </a:r>
            <a:r>
              <a:rPr sz="800">
                <a:solidFill>
                  <a:srgbClr val="5E6C79"/>
                </a:solidFill>
                <a:latin typeface="Noto Sans CJK KR"/>
                <a:hlinkClick r:id="rId5"/>
              </a:rPr>
              <a:t>  |  G04 GitHub 공식 Pages 문서</a:t>
            </a:r>
            <a:r>
              <a:rPr sz="800">
                <a:solidFill>
                  <a:srgbClr val="5E6C79"/>
                </a:solidFill>
                <a:latin typeface="Noto Sans CJK KR"/>
                <a:hlinkClick r:id="rId6"/>
              </a:rPr>
              <a:t>  |  G05 GoogleChrome 공식 web-vitals 라이브러리 문서</a:t>
            </a:r>
          </a:p>
        </p:txBody>
      </p:sp>
      <p:sp>
        <p:nvSpPr>
          <p:cNvPr id="30" name="TextBox 29"/>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A2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부록 · 숫자 사용</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B</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분모·기간·단위를 맞추지 않으면 그래프가 오해를 만듭니다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검토 원칙</a:t>
            </a:r>
          </a:p>
        </p:txBody>
      </p:sp>
      <p:sp>
        <p:nvSpPr>
          <p:cNvPr id="8" name="Rounded Rectangle 7"/>
          <p:cNvSpPr/>
          <p:nvPr/>
        </p:nvSpPr>
        <p:spPr>
          <a:xfrm>
            <a:off x="640080" y="2359152"/>
            <a:ext cx="5367528"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96312"/>
            <a:ext cx="5001768"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설문 비교</a:t>
            </a:r>
          </a:p>
        </p:txBody>
      </p:sp>
      <p:sp>
        <p:nvSpPr>
          <p:cNvPr id="10" name="TextBox 9"/>
          <p:cNvSpPr txBox="1"/>
          <p:nvPr/>
        </p:nvSpPr>
        <p:spPr>
          <a:xfrm>
            <a:off x="822959" y="3008376"/>
            <a:ext cx="5001768"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기업 74.6% vs 청년 12.7%의 직접 차이 계산 금지</a:t>
            </a:r>
          </a:p>
        </p:txBody>
      </p:sp>
      <p:sp>
        <p:nvSpPr>
          <p:cNvPr id="11" name="Rounded Rectangle 10"/>
          <p:cNvSpPr/>
          <p:nvPr/>
        </p:nvSpPr>
        <p:spPr>
          <a:xfrm>
            <a:off x="6190488" y="2359152"/>
            <a:ext cx="5367528"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2496312"/>
            <a:ext cx="5001768"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비용 비교</a:t>
            </a:r>
          </a:p>
        </p:txBody>
      </p:sp>
      <p:sp>
        <p:nvSpPr>
          <p:cNvPr id="13" name="TextBox 12"/>
          <p:cNvSpPr txBox="1"/>
          <p:nvPr/>
        </p:nvSpPr>
        <p:spPr>
          <a:xfrm>
            <a:off x="6373368" y="3008376"/>
            <a:ext cx="5001768"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사교육 경험자와 전체 구직자, 연간과 누적 구분</a:t>
            </a:r>
          </a:p>
        </p:txBody>
      </p:sp>
      <p:sp>
        <p:nvSpPr>
          <p:cNvPr id="14" name="Rounded Rectangle 13"/>
          <p:cNvSpPr/>
          <p:nvPr/>
        </p:nvSpPr>
        <p:spPr>
          <a:xfrm>
            <a:off x="640080" y="3950208"/>
            <a:ext cx="5367528"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4087368"/>
            <a:ext cx="5001768"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시장 산정</a:t>
            </a:r>
          </a:p>
        </p:txBody>
      </p:sp>
      <p:sp>
        <p:nvSpPr>
          <p:cNvPr id="16" name="TextBox 15"/>
          <p:cNvSpPr txBox="1"/>
          <p:nvPr/>
        </p:nvSpPr>
        <p:spPr>
          <a:xfrm>
            <a:off x="822959" y="4599432"/>
            <a:ext cx="5001768"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미취업·실업·시험준비, 사람 수와 매출 규모 구분</a:t>
            </a:r>
          </a:p>
        </p:txBody>
      </p:sp>
      <p:sp>
        <p:nvSpPr>
          <p:cNvPr id="17" name="Rounded Rectangle 16"/>
          <p:cNvSpPr/>
          <p:nvPr/>
        </p:nvSpPr>
        <p:spPr>
          <a:xfrm>
            <a:off x="6190488" y="3950208"/>
            <a:ext cx="5367528"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3368" y="4087368"/>
            <a:ext cx="5001768"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성과 집계</a:t>
            </a:r>
          </a:p>
        </p:txBody>
      </p:sp>
      <p:sp>
        <p:nvSpPr>
          <p:cNvPr id="19" name="TextBox 18"/>
          <p:cNvSpPr txBox="1"/>
          <p:nvPr/>
        </p:nvSpPr>
        <p:spPr>
          <a:xfrm>
            <a:off x="6373368" y="4599432"/>
            <a:ext cx="5001768"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자기보고 체크·실제완성, 사용자와 사용자–강의 쌍 구분</a:t>
            </a:r>
          </a:p>
        </p:txBody>
      </p:sp>
      <p:sp>
        <p:nvSpPr>
          <p:cNvPr id="20" name="Rectangle 19"/>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S01 채용기준·청년 준비방식</a:t>
            </a:r>
            <a:r>
              <a:rPr sz="800">
                <a:solidFill>
                  <a:srgbClr val="5E6C79"/>
                </a:solidFill>
                <a:latin typeface="Noto Sans CJK KR"/>
                <a:hlinkClick r:id="rId3"/>
              </a:rPr>
              <a:t>  |  S05 취업 사교육비</a:t>
            </a:r>
            <a:r>
              <a:rPr sz="800">
                <a:solidFill>
                  <a:srgbClr val="5E6C79"/>
                </a:solidFill>
                <a:latin typeface="Noto Sans CJK KR"/>
                <a:hlinkClick r:id="rId4"/>
              </a:rPr>
              <a:t>  |  S06 월 취업 준비비</a:t>
            </a:r>
            <a:r>
              <a:rPr sz="800">
                <a:solidFill>
                  <a:srgbClr val="5E6C79"/>
                </a:solidFill>
                <a:latin typeface="Noto Sans CJK KR"/>
                <a:hlinkClick r:id="rId5"/>
              </a:rPr>
              <a:t>  |  S07 청년층 부가조사</a:t>
            </a:r>
          </a:p>
        </p:txBody>
      </p:sp>
      <p:sp>
        <p:nvSpPr>
          <p:cNvPr id="22" name="TextBox 21"/>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B</a:t>
            </a:r>
          </a:p>
        </p:txBody>
      </p:sp>
      <p:sp>
        <p:nvSpPr>
          <p:cNvPr id="23" name="TextBox 22"/>
          <p:cNvSpPr txBox="1"/>
          <p:nvPr/>
        </p:nvSpPr>
        <p:spPr>
          <a:xfrm>
            <a:off x="658368" y="6190488"/>
            <a:ext cx="10698480" cy="182880"/>
          </a:xfrm>
          <a:prstGeom prst="rect">
            <a:avLst/>
          </a:prstGeom>
          <a:noFill/>
        </p:spPr>
        <p:txBody>
          <a:bodyPr wrap="square" lIns="13716" rIns="13716" tIns="18288" bIns="0">
            <a:spAutoFit/>
          </a:bodyPr>
          <a:lstStyle/>
          <a:p>
            <a:pPr algn="l">
              <a:lnSpc>
                <a:spcPct val="117000"/>
              </a:lnSpc>
              <a:spcAft>
                <a:spcPts val="600"/>
              </a:spcAft>
              <a:defRPr sz="800" b="0">
                <a:solidFill>
                  <a:srgbClr val="5E6C79"/>
                </a:solidFill>
                <a:latin typeface="Noto Sans CJK KR"/>
              </a:defRPr>
            </a:pPr>
            <a:r>
              <a:t>외부 원문 미검증 수치는 본문에서 보류했습니다.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부록 · 발표 준비</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C</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발표 전에는 상태·근거·시연을 다시 고정합니다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준비 체크리스트</a:t>
            </a:r>
          </a:p>
        </p:txBody>
      </p:sp>
      <p:sp>
        <p:nvSpPr>
          <p:cNvPr id="8" name="Rounded Rectangle 7"/>
          <p:cNvSpPr/>
          <p:nvPr/>
        </p:nvSpPr>
        <p:spPr>
          <a:xfrm>
            <a:off x="640080" y="2359152"/>
            <a:ext cx="5367528"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96312"/>
            <a:ext cx="5001768"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원문 확보</a:t>
            </a:r>
          </a:p>
        </p:txBody>
      </p:sp>
      <p:sp>
        <p:nvSpPr>
          <p:cNvPr id="10" name="TextBox 9"/>
          <p:cNvSpPr txBox="1"/>
          <p:nvPr/>
        </p:nvSpPr>
        <p:spPr>
          <a:xfrm>
            <a:off x="822959" y="3008376"/>
            <a:ext cx="5001768"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evidence.md·기사 본문·법령·논문 서지 확인</a:t>
            </a:r>
          </a:p>
        </p:txBody>
      </p:sp>
      <p:sp>
        <p:nvSpPr>
          <p:cNvPr id="11" name="Rounded Rectangle 10"/>
          <p:cNvSpPr/>
          <p:nvPr/>
        </p:nvSpPr>
        <p:spPr>
          <a:xfrm>
            <a:off x="6190488" y="2359152"/>
            <a:ext cx="5367528"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2496312"/>
            <a:ext cx="5001768"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본인 작성</a:t>
            </a:r>
          </a:p>
        </p:txBody>
      </p:sp>
      <p:sp>
        <p:nvSpPr>
          <p:cNvPr id="13" name="TextBox 12"/>
          <p:cNvSpPr txBox="1"/>
          <p:nvPr/>
        </p:nvSpPr>
        <p:spPr>
          <a:xfrm>
            <a:off x="6373368" y="3008376"/>
            <a:ext cx="5001768"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실제 경험·페르소나 근거·손익 가정·느낀 점</a:t>
            </a:r>
          </a:p>
        </p:txBody>
      </p:sp>
      <p:sp>
        <p:nvSpPr>
          <p:cNvPr id="14" name="Rounded Rectangle 13"/>
          <p:cNvSpPr/>
          <p:nvPr/>
        </p:nvSpPr>
        <p:spPr>
          <a:xfrm>
            <a:off x="640080" y="3950208"/>
            <a:ext cx="5367528"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4087368"/>
            <a:ext cx="5001768"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현장 시연</a:t>
            </a:r>
          </a:p>
        </p:txBody>
      </p:sp>
      <p:sp>
        <p:nvSpPr>
          <p:cNvPr id="16" name="TextBox 15"/>
          <p:cNvSpPr txBox="1"/>
          <p:nvPr/>
        </p:nvSpPr>
        <p:spPr>
          <a:xfrm>
            <a:off x="822959" y="4599432"/>
            <a:ext cx="5001768"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로그인·서버 저장·다른 기기·녹화본 확인</a:t>
            </a:r>
          </a:p>
        </p:txBody>
      </p:sp>
      <p:sp>
        <p:nvSpPr>
          <p:cNvPr id="17" name="Rounded Rectangle 16"/>
          <p:cNvSpPr/>
          <p:nvPr/>
        </p:nvSpPr>
        <p:spPr>
          <a:xfrm>
            <a:off x="6190488" y="3950208"/>
            <a:ext cx="5367528"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3368" y="4087368"/>
            <a:ext cx="5001768"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시간 조절</a:t>
            </a:r>
          </a:p>
        </p:txBody>
      </p:sp>
      <p:sp>
        <p:nvSpPr>
          <p:cNvPr id="19" name="TextBox 18"/>
          <p:cNvSpPr txBox="1"/>
          <p:nvPr/>
        </p:nvSpPr>
        <p:spPr>
          <a:xfrm>
            <a:off x="6373368" y="4599432"/>
            <a:ext cx="5001768"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본편 40장 / 선택 9장 생략 시 31장</a:t>
            </a:r>
          </a:p>
        </p:txBody>
      </p:sp>
      <p:sp>
        <p:nvSpPr>
          <p:cNvPr id="20" name="Rectangle 19"/>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I11 테스트·빌드·검토 실행</a:t>
            </a:r>
          </a:p>
        </p:txBody>
      </p:sp>
      <p:sp>
        <p:nvSpPr>
          <p:cNvPr id="22" name="TextBox 21"/>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C</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438912"/>
            <a:ext cx="82296" cy="210312"/>
          </a:xfrm>
          <a:prstGeom prst="rect">
            <a:avLst/>
          </a:prstGeom>
          <a:solidFill>
            <a:srgbClr val="B6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02336"/>
            <a:ext cx="7315200" cy="292608"/>
          </a:xfrm>
          <a:prstGeom prst="rect">
            <a:avLst/>
          </a:prstGeom>
          <a:noFill/>
        </p:spPr>
        <p:txBody>
          <a:bodyPr wrap="square" lIns="13716" rIns="13716" tIns="18288" bIns="0">
            <a:spAutoFit/>
          </a:bodyPr>
          <a:lstStyle/>
          <a:p>
            <a:pPr algn="l">
              <a:lnSpc>
                <a:spcPct val="117000"/>
              </a:lnSpc>
              <a:spcAft>
                <a:spcPts val="600"/>
              </a:spcAft>
              <a:defRPr sz="1100" b="1">
                <a:solidFill>
                  <a:srgbClr val="5E6C79"/>
                </a:solidFill>
                <a:latin typeface="Noto Sans CJK KR"/>
              </a:defRPr>
            </a:pPr>
            <a:r>
              <a:t>한클래스   /   부록 · 확장 실험</a:t>
            </a:r>
          </a:p>
        </p:txBody>
      </p:sp>
      <p:sp>
        <p:nvSpPr>
          <p:cNvPr id="5" name="TextBox 4"/>
          <p:cNvSpPr txBox="1"/>
          <p:nvPr/>
        </p:nvSpPr>
        <p:spPr>
          <a:xfrm>
            <a:off x="9281160" y="402336"/>
            <a:ext cx="2286000" cy="292608"/>
          </a:xfrm>
          <a:prstGeom prst="rect">
            <a:avLst/>
          </a:prstGeom>
          <a:noFill/>
        </p:spPr>
        <p:txBody>
          <a:bodyPr wrap="square" lIns="13716" rIns="13716" tIns="18288" bIns="0">
            <a:spAutoFit/>
          </a:bodyPr>
          <a:lstStyle/>
          <a:p>
            <a:pPr algn="r">
              <a:lnSpc>
                <a:spcPct val="117000"/>
              </a:lnSpc>
              <a:spcAft>
                <a:spcPts val="600"/>
              </a:spcAft>
              <a:defRPr sz="1000" b="0">
                <a:solidFill>
                  <a:srgbClr val="5E6C79"/>
                </a:solidFill>
                <a:latin typeface="Noto Sans CJK KR"/>
              </a:defRPr>
            </a:pPr>
            <a:r>
              <a:t>원고 대응 · D</a:t>
            </a:r>
          </a:p>
        </p:txBody>
      </p:sp>
      <p:sp>
        <p:nvSpPr>
          <p:cNvPr id="6" name="TextBox 5"/>
          <p:cNvSpPr txBox="1"/>
          <p:nvPr/>
        </p:nvSpPr>
        <p:spPr>
          <a:xfrm>
            <a:off x="621792" y="932688"/>
            <a:ext cx="10927080" cy="1051560"/>
          </a:xfrm>
          <a:prstGeom prst="rect">
            <a:avLst/>
          </a:prstGeom>
          <a:noFill/>
        </p:spPr>
        <p:txBody>
          <a:bodyPr wrap="square" lIns="13716" rIns="13716" tIns="18288" bIns="0">
            <a:spAutoFit/>
          </a:bodyPr>
          <a:lstStyle/>
          <a:p>
            <a:pPr algn="l">
              <a:lnSpc>
                <a:spcPct val="117000"/>
              </a:lnSpc>
              <a:spcAft>
                <a:spcPts val="600"/>
              </a:spcAft>
              <a:defRPr sz="3000" b="1">
                <a:solidFill>
                  <a:srgbClr val="1D2D40"/>
                </a:solidFill>
                <a:latin typeface="Noto Sans CJK KR"/>
              </a:defRPr>
            </a:pPr>
            <a:r>
              <a:t>감성형과 정보형 메인은 다음 실험으로 비교할 수 있습니다</a:t>
            </a:r>
          </a:p>
        </p:txBody>
      </p:sp>
      <p:sp>
        <p:nvSpPr>
          <p:cNvPr id="7" name="TextBox 6"/>
          <p:cNvSpPr txBox="1"/>
          <p:nvPr/>
        </p:nvSpPr>
        <p:spPr>
          <a:xfrm>
            <a:off x="658368" y="1856231"/>
            <a:ext cx="10607040" cy="320040"/>
          </a:xfrm>
          <a:prstGeom prst="rect">
            <a:avLst/>
          </a:prstGeom>
          <a:noFill/>
        </p:spPr>
        <p:txBody>
          <a:bodyPr wrap="square" lIns="13716" rIns="13716" tIns="18288" bIns="0">
            <a:spAutoFit/>
          </a:bodyPr>
          <a:lstStyle/>
          <a:p>
            <a:pPr algn="l">
              <a:lnSpc>
                <a:spcPct val="117000"/>
              </a:lnSpc>
              <a:spcAft>
                <a:spcPts val="600"/>
              </a:spcAft>
              <a:defRPr sz="1100" b="1">
                <a:solidFill>
                  <a:srgbClr val="B63E2A"/>
                </a:solidFill>
                <a:latin typeface="Noto Sans CJK KR"/>
              </a:defRPr>
            </a:pPr>
            <a:r>
              <a:t>별도 기획 시안</a:t>
            </a:r>
          </a:p>
        </p:txBody>
      </p:sp>
      <p:sp>
        <p:nvSpPr>
          <p:cNvPr id="8" name="Rounded Rectangle 7"/>
          <p:cNvSpPr/>
          <p:nvPr/>
        </p:nvSpPr>
        <p:spPr>
          <a:xfrm>
            <a:off x="640080" y="2359152"/>
            <a:ext cx="5367528"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96312"/>
            <a:ext cx="5001768"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A 감성 몰입형</a:t>
            </a:r>
          </a:p>
        </p:txBody>
      </p:sp>
      <p:sp>
        <p:nvSpPr>
          <p:cNvPr id="10" name="TextBox 9"/>
          <p:cNvSpPr txBox="1"/>
          <p:nvPr/>
        </p:nvSpPr>
        <p:spPr>
          <a:xfrm>
            <a:off x="822959" y="3008376"/>
            <a:ext cx="5001768"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큰 이미지·메시지 → 강의 탐색</a:t>
            </a:r>
          </a:p>
        </p:txBody>
      </p:sp>
      <p:sp>
        <p:nvSpPr>
          <p:cNvPr id="11" name="Rounded Rectangle 10"/>
          <p:cNvSpPr/>
          <p:nvPr/>
        </p:nvSpPr>
        <p:spPr>
          <a:xfrm>
            <a:off x="6190488" y="2359152"/>
            <a:ext cx="5367528"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2496312"/>
            <a:ext cx="5001768"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B 정보 탐색형</a:t>
            </a:r>
          </a:p>
        </p:txBody>
      </p:sp>
      <p:sp>
        <p:nvSpPr>
          <p:cNvPr id="13" name="TextBox 12"/>
          <p:cNvSpPr txBox="1"/>
          <p:nvPr/>
        </p:nvSpPr>
        <p:spPr>
          <a:xfrm>
            <a:off x="6373368" y="3008376"/>
            <a:ext cx="5001768"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검색·분야·가격·결과물을 먼저</a:t>
            </a:r>
          </a:p>
        </p:txBody>
      </p:sp>
      <p:sp>
        <p:nvSpPr>
          <p:cNvPr id="14" name="Rounded Rectangle 13"/>
          <p:cNvSpPr/>
          <p:nvPr/>
        </p:nvSpPr>
        <p:spPr>
          <a:xfrm>
            <a:off x="640080" y="3950208"/>
            <a:ext cx="5367528"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4087368"/>
            <a:ext cx="5001768"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주 지표 후보</a:t>
            </a:r>
          </a:p>
        </p:txBody>
      </p:sp>
      <p:sp>
        <p:nvSpPr>
          <p:cNvPr id="16" name="TextBox 15"/>
          <p:cNvSpPr txBox="1"/>
          <p:nvPr/>
        </p:nvSpPr>
        <p:spPr>
          <a:xfrm>
            <a:off x="822959" y="4599432"/>
            <a:ext cx="5001768"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홈 노출 후 상세 탐색 전환율</a:t>
            </a:r>
          </a:p>
        </p:txBody>
      </p:sp>
      <p:sp>
        <p:nvSpPr>
          <p:cNvPr id="17" name="Rounded Rectangle 16"/>
          <p:cNvSpPr/>
          <p:nvPr/>
        </p:nvSpPr>
        <p:spPr>
          <a:xfrm>
            <a:off x="6190488" y="3950208"/>
            <a:ext cx="5367528" cy="1435608"/>
          </a:xfrm>
          <a:prstGeom prst="roundRect">
            <a:avLst>
              <a:gd name="adj" fmla="val 10000"/>
            </a:avLst>
          </a:prstGeom>
          <a:solidFill>
            <a:srgbClr val="FFFFFF"/>
          </a:solidFill>
          <a:ln w="12700">
            <a:solidFill>
              <a:srgbClr val="DE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3368" y="4087368"/>
            <a:ext cx="5001768" cy="393192"/>
          </a:xfrm>
          <a:prstGeom prst="rect">
            <a:avLst/>
          </a:prstGeom>
          <a:noFill/>
        </p:spPr>
        <p:txBody>
          <a:bodyPr wrap="square" lIns="13716" rIns="13716" tIns="18288" bIns="0">
            <a:spAutoFit/>
          </a:bodyPr>
          <a:lstStyle/>
          <a:p>
            <a:pPr algn="l">
              <a:lnSpc>
                <a:spcPct val="117000"/>
              </a:lnSpc>
              <a:spcAft>
                <a:spcPts val="600"/>
              </a:spcAft>
              <a:defRPr sz="1800" b="1">
                <a:solidFill>
                  <a:srgbClr val="23578C"/>
                </a:solidFill>
                <a:latin typeface="Noto Sans CJK KR"/>
              </a:defRPr>
            </a:pPr>
            <a:r>
              <a:t>해석 한계</a:t>
            </a:r>
          </a:p>
        </p:txBody>
      </p:sp>
      <p:sp>
        <p:nvSpPr>
          <p:cNvPr id="19" name="TextBox 18"/>
          <p:cNvSpPr txBox="1"/>
          <p:nvPr/>
        </p:nvSpPr>
        <p:spPr>
          <a:xfrm>
            <a:off x="6373368" y="4599432"/>
            <a:ext cx="5001768" cy="676656"/>
          </a:xfrm>
          <a:prstGeom prst="rect">
            <a:avLst/>
          </a:prstGeom>
          <a:noFill/>
        </p:spPr>
        <p:txBody>
          <a:bodyPr wrap="square" lIns="13716" rIns="13716" tIns="18288" bIns="0">
            <a:spAutoFit/>
          </a:bodyPr>
          <a:lstStyle/>
          <a:p>
            <a:pPr algn="l">
              <a:lnSpc>
                <a:spcPct val="117000"/>
              </a:lnSpc>
              <a:spcAft>
                <a:spcPts val="600"/>
              </a:spcAft>
              <a:defRPr sz="1600" b="0">
                <a:solidFill>
                  <a:srgbClr val="1D2D40"/>
                </a:solidFill>
                <a:latin typeface="Noto Sans CJK KR"/>
              </a:defRPr>
            </a:pPr>
            <a:r>
              <a:t>구성 전략 묶음 비교, 개별 이미지 효과와 구분</a:t>
            </a:r>
          </a:p>
        </p:txBody>
      </p:sp>
      <p:sp>
        <p:nvSpPr>
          <p:cNvPr id="20" name="Rectangle 19"/>
          <p:cNvSpPr/>
          <p:nvPr/>
        </p:nvSpPr>
        <p:spPr>
          <a:xfrm>
            <a:off x="640080" y="6419088"/>
            <a:ext cx="10917936" cy="10972"/>
          </a:xfrm>
          <a:prstGeom prst="rect">
            <a:avLst/>
          </a:prstGeom>
          <a:solidFill>
            <a:srgbClr val="DE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483096"/>
            <a:ext cx="10287000" cy="246888"/>
          </a:xfrm>
          <a:prstGeom prst="rect">
            <a:avLst/>
          </a:prstGeom>
          <a:noFill/>
        </p:spPr>
        <p:txBody>
          <a:bodyPr wrap="none" lIns="0" rIns="0">
            <a:spAutoFit/>
          </a:bodyPr>
          <a:lstStyle/>
          <a:p>
            <a:r>
              <a:rPr sz="800">
                <a:solidFill>
                  <a:srgbClr val="5E6C79"/>
                </a:solidFill>
                <a:latin typeface="Noto Sans CJK KR"/>
                <a:hlinkClick r:id="rId2"/>
              </a:rPr>
              <a:t>자료: P01 감성형·정보형 A/B 기획 시안</a:t>
            </a:r>
          </a:p>
        </p:txBody>
      </p:sp>
      <p:sp>
        <p:nvSpPr>
          <p:cNvPr id="22" name="TextBox 21"/>
          <p:cNvSpPr txBox="1"/>
          <p:nvPr/>
        </p:nvSpPr>
        <p:spPr>
          <a:xfrm>
            <a:off x="10972800" y="6473952"/>
            <a:ext cx="548640" cy="228600"/>
          </a:xfrm>
          <a:prstGeom prst="rect">
            <a:avLst/>
          </a:prstGeom>
          <a:noFill/>
        </p:spPr>
        <p:txBody>
          <a:bodyPr wrap="square" lIns="13716" rIns="13716" tIns="18288" bIns="0">
            <a:spAutoFit/>
          </a:bodyPr>
          <a:lstStyle/>
          <a:p>
            <a:pPr algn="r">
              <a:lnSpc>
                <a:spcPct val="117000"/>
              </a:lnSpc>
              <a:spcAft>
                <a:spcPts val="600"/>
              </a:spcAft>
              <a:defRPr sz="900" b="1">
                <a:solidFill>
                  <a:srgbClr val="5E6C79"/>
                </a:solidFill>
                <a:latin typeface="Noto Sans CJK KR"/>
              </a:defRPr>
            </a:pPr>
            <a:r>
              <a:t>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한클래스 — 지금 필요한 실무, 한 강씩.</dc:title>
  <dc:subject>40장 본편 + 5장 부록 · 페이지별 근거·수정 검토 반영</dc:subject>
  <dc:creator>한클래스 기획 검토</dc:creator>
  <cp:keywords>한클래스,실무교육,마케팅,발표,근거검토</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